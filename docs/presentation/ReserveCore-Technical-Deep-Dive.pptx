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 exists" id="{5de18c99-280d-08a4-0d97-738844c4efd6}">
          <p14:sldIdLst>
            <p14:sldId id="256"/>
            <p14:sldId id="257"/>
          </p14:sldIdLst>
        </p14:section>
        <p14:section name="How it works" id="{bea621ba-10f3-08ca-cddc-1136d5bf7c90}">
          <p14:sldIdLst>
            <p14:sldId id="258"/>
            <p14:sldId id="259"/>
            <p14:sldId id="260"/>
          </p14:sldIdLst>
        </p14:section>
        <p14:section name="Five failure scenarios" id="{493a7a4c-21c3-c2ab-f467-fd62a62c1271}">
          <p14:sldIdLst>
            <p14:sldId id="261"/>
            <p14:sldId id="262"/>
            <p14:sldId id="263"/>
            <p14:sldId id="264"/>
            <p14:sldId id="265"/>
          </p14:sldIdLst>
        </p14:section>
        <p14:section name="Proof and operations" id="{e9051870-6b79-879f-7f8f-f587d2a9b636}">
          <p14:sldIdLst>
            <p14:sldId id="266"/>
            <p14:sldId id="267"/>
          </p14:sldIdLst>
        </p14:section>
        <p14:section name="Senior review" id="{f459acfc-9070-431a-91e0-03d656663fee}">
          <p14:sldIdLst>
            <p14:sldId id="268"/>
            <p14:sldId id="269"/>
            <p14:sldId id="270"/>
            <p14:sldId id="271"/>
          </p14:sldIdLst>
        </p14:section>
        <p14:section name="Operations" id="{07be9c8c-6e2b-2d95-46cf-1246930ad02e}">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8ECF2"/>
                </a:solidFill>
                <a:latin typeface="+mn-lt"/>
              </a:defRPr>
            </a:pPr>
            <a:r>
              <a:rPr sz="1400" b="0" i="0" u="none" strike="noStrike">
                <a:solidFill>
                  <a:srgbClr val="E8ECF2"/>
                </a:solidFill>
                <a:latin typeface="+mn-lt"/>
              </a:rPr>
              <a:t>Where database time goes at 1,000 clients (%)</a:t>
            </a:r>
          </a:p>
        </c:rich>
      </c:tx>
      <c:layout/>
      <c:overlay val="0"/>
    </c:title>
    <c:autoTitleDeleted val="0"/>
    <c:plotArea>
      <c:layout/>
      <c:barChart>
        <c:barDir val="bar"/>
        <c:grouping val="clustered"/>
        <c:varyColors val="0"/>
        <c:ser>
          <c:idx val="0"/>
          <c:order val="0"/>
          <c:tx>
            <c:strRef>
              <c:f>Sheet1!$B$1</c:f>
              <c:strCache>
                <c:ptCount val="1"/>
                <c:pt idx="0">
                  <c:v>Share of active database session time</c:v>
                </c:pt>
              </c:strCache>
            </c:strRef>
          </c:tx>
          <c:spPr>
            <a:solidFill>
              <a:srgbClr val="6CA8FF"/>
            </a:solidFill>
            <a:effectLst/>
          </c:spPr>
          <c:invertIfNegative val="0"/>
          <c:dLbls>
            <c:numFmt formatCode="0&quot;%&quot;" sourceLinked="0"/>
            <c:txPr>
              <a:bodyPr/>
              <a:lstStyle/>
              <a:p>
                <a:pPr>
                  <a:defRPr b="0" i="0" strike="noStrike" sz="1200" u="none">
                    <a:solidFill>
                      <a:srgbClr val="E8ECF2"/>
                    </a:solidFill>
                    <a:latin typeface="+mn-lt"/>
                  </a:defRPr>
                </a:pPr>
              </a:p>
            </c:txPr>
            <c:showLegendKey val="0"/>
            <c:showVal val="1"/>
            <c:showCatName val="0"/>
            <c:showSerName val="0"/>
            <c:showPercent val="0"/>
            <c:showBubbleSize val="0"/>
            <c:showLeaderLines val="0"/>
          </c:dLbls>
          <c:cat>
            <c:multiLvlStrRef>
              <c:f>Sheet1!$A$2:$A$7</c:f>
              <c:multiLvlStrCache>
                <c:ptCount val="6"/>
                <c:lvl>
                  <c:pt idx="0">
                    <c:v>Queued for the row (transactionid)</c:v>
                  </c:pt>
                  <c:pt idx="1">
                    <c:v>Queued for the row (tuple)</c:v>
                  </c:pt>
                  <c:pt idx="2">
                    <c:v>Lock holder waiting for the app</c:v>
                  </c:pt>
                  <c:pt idx="3">
                    <c:v>WAL write and flush</c:v>
                  </c:pt>
                  <c:pt idx="4">
                    <c:v>Running on CPU</c:v>
                  </c:pt>
                  <c:pt idx="5">
                    <c:v>Other</c:v>
                  </c:pt>
                </c:lvl>
              </c:multiLvlStrCache>
            </c:multiLvlStrRef>
          </c:cat>
          <c:val>
            <c:numRef>
              <c:f>Sheet1!$B$2:$B$7</c:f>
              <c:numCache>
                <c:formatCode>General</c:formatCode>
                <c:ptCount val="6"/>
                <c:pt idx="0">
                  <c:v>49</c:v>
                </c:pt>
                <c:pt idx="1">
                  <c:v>24</c:v>
                </c:pt>
                <c:pt idx="2">
                  <c:v>13</c:v>
                </c:pt>
                <c:pt idx="3">
                  <c:v>6</c:v>
                </c:pt>
                <c:pt idx="4">
                  <c:v>3</c:v>
                </c:pt>
                <c:pt idx="5">
                  <c:v>5</c:v>
                </c:pt>
              </c:numCache>
            </c:numRef>
          </c:val>
        </c:ser>
        <c:dLbls>
          <c:numFmt formatCode="0&quot;%&quot;" sourceLinked="0"/>
          <c:txPr>
            <a:bodyPr/>
            <a:lstStyle/>
            <a:p>
              <a:pPr>
                <a:defRPr b="0" i="0" strike="noStrike" sz="1200" u="none">
                  <a:solidFill>
                    <a:srgbClr val="E8ECF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5BDC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ReserveCore is a backend service that online stores call during checkout. It owns one thing: the stock count. In the next few minutes I will show the model, the API, five real failure scenarios and how each is handled, and the proof that it works, all from recorded runs. The image is a frame from the launch video: 1,000 checkout requests for 20 units, exactly 20 reserved, 980 refused, none oversold.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sells 20 pairs of a limited sneaker. At 10:00:00 the drop opens and about 1,000 checkout sessions start within a second, spread across two app servers. The naive failure is overselling: two shoppers both see one left and both pay. But there are three more ways this goes wrong in production: retried requests, crashes mid-change, and several servers acting at once. ReserveCore keeps all four promises, and it does it with the database, not with in-memory 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SKU is one row with three working numbers. Available can be reserved now, held is set aside for an ongoing checkout, sold is confirmed. Their sum always equals the initial stock, and PostgreSQL itself rejects any write that breaks that. A reservation is a small state machine with one way in and three ways out. The ledger means any number on the dashboard can be explained line by line, including which request changed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client contract for one checkout. The storefront authenticates with a merchant API key, and every write carries an Idempotency-Key, here checkout-81723, which comes back in the retry scenario. The response gives the hold and its expiry. Then exactly one of three things happens: confirm, cancel, or expiry. Errors are machine-readable: a stable code such as INSUFFICIENT_STOCK, RESERVATION_EXPIRED or IDEMPOTENCY_KEY_REUSED, plus the request id that also appears in the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Swagger UI served by a running instance. Three endpoints manage SKUs and their history; four manage reservations. The spec is generated from the code, committed to the repository, and a test compares the two on every build, so the documentation cannot silently go stale. Every call needs a merchant API key, stored only as a SHA-256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bug: check, then act. Both transactions read 1, both write, and stock goes negative. ReserveCore makes the check and the deduction one statement. When two requests hit the same row, the second waits for the first's lock; after the first commits, PostgreSQL re-evaluates the WHERE clause on the new row version, so available &gt;= 1 is now false and zero rows match. That becomes a clean 409. I tested the naive version as a deliberate bug: requests got past the check and only the CHECK constraint stopped them, as 500 errors. So the constraint is the safety net, and the conditional UPDATE is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shopper taps Buy as the train enters a tunnel. The reservation commits, the response is lost, the app retries. Every write carries an Idempotency-Key, and the first statement of the business transaction inserts it. If the key exists with the same SHA-256 request hash, we return the stored response byte for byte. Two copies arriving at once serialize on the primary key: the second waits, then replays. In the demo, 50 simultaneous copies gave 50 identical 201s and one reservation. A different body under the same key is a 409. A 500 is never recorded, because the whole transaction rolled back, so the retry simply runs. Business refusals like out of stock are recorded, so a replay reports what originally happened. Records are kept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subtle one. The timestamps are an illustrative example. The confirm arrived before the deadline but had to wait 15 ms for a lock held by another request. A SELECT FOR UPDATE computes its output before it waits, and now() is the transaction's start time, so either would let a late confirm through. ReserveCore checks expiry in the UPDATE that runs once the lock is held, using clock_timestamp(), so the waiting time counts and the confirm is refused. The worker and a confirm can never both win: both need the row lock and both require status ACTIVE. The boundary test fired confirms and four workers together, right at the expiry, seven times: the results split both ways, and no hold ever ended both confirmed and expired.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calls cancel for an abandoned cart, so every server runs an expiration pass once a second. The key clause is SKIP LOCKED: two servers running this at the same moment receive disjoint batches instead of blocking or both expiring the same row. A row a confirm is holding is skipped and retried on the next pass. Each batch is one transaction; if a server dies mid-batch, it rolls back and any instance picks the rows up again. In the test, four concurrent workers drained 200 due holds; every hold expired once, with the work split roughly 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harshest demo. Thirty shoppers hold pairs with five-second holds. Both servers get SIGKILL, so nothing is running, and the holds expire with no worker alive. On restart, within 92 milliseconds of the servers reporting ready, all thirty were back on the shelf, each released once, with one EXPIRED row per reservation in the ledger. The demo also checks that the kill happened before the first hold expired, so the reclamation really happened after the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code can have bugs, so the last line of defense is in the schema. A write that unbalances stock or makes it negative is rejected. A second release of the same reservation violates a partial unique index, which is exactly what stopped the double resolutions when I removed locks on purpose. Composite foreign keys that include the merchant id make cross-store links impossible. And authentication never stores a usable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measured, nothing estimated. The tests run against a real PostgreSQL container, and races are released together with latches rather than timed with sleeps. To check that the tests can actually fail, I introduced eleven deliberate bugs, one at a time: removing the row lock, the transaction, the stock condition, the idempotency replay, SKIP LOCKED, the merchant filter, the expiry check and more. The suite caught every one; one needed a stricter assertion first. The demo runs every scenario against two live instances, and the audit is a SQL script that reconciles stock, reservations and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then reviewed my own code the way a senior reviewer would, in order of impact. The reservation held the hot row lock for four database round trips; lock waits had no limit, so one stuck transaction could block every request for that product; expired holds still read as ACTIVE; the worker wrote ledger rows one at a time while holding locks; and the metrics could not tell an out-of-stock from a duplicate-key conflict. Each fix has a test that fails without it. One idea, a lock-free availability check before the update, was tried, measured and removed, and I will show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behaviour changes. First, bounded waits: every API transaction starts with SET LOCAL lock_timeout of two seconds, scoped to that transaction only. If a request cannot get a row lock in time, PostgreSQL raises error 55P03, the transaction rolls back, nothing is recorded for idempotency, and the client gets 503 SERVICE_BUSY with Retry-After one second, so retrying with the same key is safe. The test holds a real row lock from a second connection, so the request genuinely waits; no sleeps. Second, overdue holds: reading one now shows EXPIRED with reclaimPending true, and the first confirm or cancel that finds it overdue releases the units immediately instead of waiting for the worker. The ledger row records which request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engineering slide. I rewrote reserve, confirm and cancel so each writes stock, reservation and ledger in one SQL statement, which removes two round trips from the time the hot row is locked. Then I measured it properly: two images differing in one file, the load client inside Docker, interleaved rounds, 144 runs. Result: no difference beyond the run-to-run noise of about twenty percent. The lock-free precheck was worse, because PostgreSQL does not lock a row that fails the WHERE clause, so it only added a round trip; I removed it. Sampling the database during load explains the result: 73 percent of session time is queued on the row lock, 13 percent is the lock holder waiting for the application, and disk flushes take only 60 microseconds. So the next speed-up is a server-only transaction for the idempotency record, which I proposed rather than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finding from earlier: under bursts of about a thousand new connections, a few requests lost their connection. I treated it like a bug: first a command that reproduces it, which failed two of six runs. The first hypothesis, a too-small Tomcat accept queue, was falsified: a queue of 1,024 still lost requests. Then I removed Docker Desktop port forwarding from the path by running the client inside the Docker network: zero losses in six runs and in all 144 benchmark runs. The lost requests never reached the application, so nothing changed and retries are safe. The most likely cause is Docker Desktop networking on a laptop, not the service; I say most likely because six clean runs is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operations there are structured logs, Prometheus metrics including outcomes by error code, worker lag and the age of the last successful expiration pass, and a readiness check that includes the database. Writes give up after two seconds on a lock with a clear 503. I drilled a database outage: requests fail within five seconds, metrics keep answering, and both instances recover without a restart. The limits are written down: one hot product is capped by its row lock, many-product load is not benchmarked yet, there is no admin API, actuator endpoints must stay internal, and the burst connection drops trace to Docker Desktop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ReserveCore moves correctness into the database. One conditional UPDATE stops overselling, a stored idempotency key stops duplicates, row locks plus database time settle the races, and SKIP LOCKED makes cleanup safe on every server. Then it proves all of that by actually breaking things.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32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E13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rtlCol="0"/>
          <a:lstStyle>
            <a:lvl1pPr algn="l" indent="0" marL="0">
              <a:buNone/>
              <a:defRPr lang="en-US" sz="3200" b="1" dirty="0">
                <a:solidFill>
                  <a:schemeClr val="bg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CENARIO">
    <p:bg>
      <p:bgPr>
        <a:solidFill>
          <a:srgbClr val="0E132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rtlCol="0"/>
          <a:lstStyle>
            <a:lvl1pPr algn="l" indent="0" marL="0">
              <a:buNone/>
              <a:defRPr lang="en-US" sz="1200" b="1" spc="300" kern="0"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548640" y="658368"/>
            <a:ext cx="11091672" cy="685800"/>
          </a:xfrm>
          <a:prstGeom prst="rect">
            <a:avLst/>
          </a:prstGeom>
          <a:noFill/>
          <a:ln/>
        </p:spPr>
        <p:txBody>
          <a:bodyPr wrap="square" rtlCol="0"/>
          <a:lstStyle>
            <a:lvl1pPr algn="l" indent="0" marL="0">
              <a:buNone/>
              <a:defRPr lang="en-US" sz="3200" b="1" dirty="0">
                <a:solidFill>
                  <a:schemeClr val="bg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F2F4F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600200"/>
            <a:ext cx="5394960" cy="274320"/>
          </a:xfrm>
          <a:prstGeom prst="rect">
            <a:avLst/>
          </a:prstGeom>
          <a:noFill/>
          <a:ln/>
        </p:spPr>
        <p:txBody>
          <a:bodyPr wrap="square" lIns="0" tIns="0" rIns="0" bIns="0" rtlCol="0" anchor="t"/>
          <a:lstStyle/>
          <a:p>
            <a:pPr indent="0" marL="0">
              <a:buNone/>
            </a:pPr>
            <a:r>
              <a:rPr lang="en-US" sz="1100" b="1" spc="300" kern="0" dirty="0">
                <a:solidFill>
                  <a:schemeClr val="accent3"/>
                </a:solidFill>
              </a:rPr>
              <a:t>TECHNICAL DEEP DIVE</a:t>
            </a:r>
            <a:endParaRPr lang="en-US" sz="1100" dirty="0"/>
          </a:p>
        </p:txBody>
      </p:sp>
      <p:sp>
        <p:nvSpPr>
          <p:cNvPr id="3" name="Title"/>
          <p:cNvSpPr txBox="1"/>
          <p:nvPr/>
        </p:nvSpPr>
        <p:spPr>
          <a:xfrm>
            <a:off x="548640" y="1965960"/>
            <a:ext cx="5394960" cy="914400"/>
          </a:xfrm>
          <a:prstGeom prst="rect">
            <a:avLst/>
          </a:prstGeom>
          <a:noFill/>
          <a:ln/>
        </p:spPr>
        <p:txBody>
          <a:bodyPr wrap="square" lIns="0" tIns="0" rIns="0" bIns="0" rtlCol="0" anchor="t"/>
          <a:lstStyle/>
          <a:p>
            <a:pPr indent="0" marL="0">
              <a:buNone/>
            </a:pPr>
            <a:r>
              <a:rPr lang="en-US" sz="5400" b="1" dirty="0">
                <a:solidFill>
                  <a:schemeClr val="bg2"/>
                </a:solidFill>
              </a:rPr>
              <a:t>ReserveCore</a:t>
            </a:r>
            <a:endParaRPr lang="en-US" sz="5400" dirty="0"/>
          </a:p>
        </p:txBody>
      </p:sp>
      <p:sp>
        <p:nvSpPr>
          <p:cNvPr id="4" name="Subtitle"/>
          <p:cNvSpPr txBox="1"/>
          <p:nvPr/>
        </p:nvSpPr>
        <p:spPr>
          <a:xfrm>
            <a:off x="548640" y="3017520"/>
            <a:ext cx="5394960" cy="1371600"/>
          </a:xfrm>
          <a:prstGeom prst="rect">
            <a:avLst/>
          </a:prstGeom>
          <a:noFill/>
          <a:ln/>
        </p:spPr>
        <p:txBody>
          <a:bodyPr wrap="square" lIns="0" tIns="0" rIns="0" bIns="0" rtlCol="0" anchor="t"/>
          <a:lstStyle/>
          <a:p>
            <a:pPr indent="0" marL="0">
              <a:lnSpc>
                <a:spcPct val="115000"/>
              </a:lnSpc>
              <a:buNone/>
            </a:pPr>
            <a:r>
              <a:rPr lang="en-US" sz="2000" dirty="0">
                <a:solidFill>
                  <a:schemeClr val="accent5"/>
                </a:solidFill>
              </a:rPr>
              <a:t>Holding limited stock during checkout without overselling, double-applying a request or losing one in a crash.</a:t>
            </a:r>
            <a:endParaRPr lang="en-US" sz="2000" dirty="0"/>
          </a:p>
        </p:txBody>
      </p:sp>
      <p:sp>
        <p:nvSpPr>
          <p:cNvPr id="5" name="Stack"/>
          <p:cNvSpPr txBox="1"/>
          <p:nvPr/>
        </p:nvSpPr>
        <p:spPr>
          <a:xfrm>
            <a:off x="548640" y="4572000"/>
            <a:ext cx="5394960" cy="320040"/>
          </a:xfrm>
          <a:prstGeom prst="rect">
            <a:avLst/>
          </a:prstGeom>
          <a:noFill/>
          <a:ln/>
        </p:spPr>
        <p:txBody>
          <a:bodyPr wrap="square" lIns="0" tIns="0" rIns="0" bIns="0" rtlCol="0" anchor="t"/>
          <a:lstStyle/>
          <a:p>
            <a:pPr indent="0" marL="0">
              <a:buNone/>
            </a:pPr>
            <a:r>
              <a:rPr lang="en-US" sz="1200" dirty="0">
                <a:solidFill>
                  <a:schemeClr val="accent6"/>
                </a:solidFill>
                <a:latin typeface="JetBrains Mono" pitchFamily="34" charset="0"/>
                <a:ea typeface="JetBrains Mono" pitchFamily="34" charset="-122"/>
                <a:cs typeface="JetBrains Mono" pitchFamily="34" charset="-120"/>
              </a:rPr>
              <a:t>Spring Boot 4 · Java 25 · PostgreSQL 18</a:t>
            </a:r>
            <a:endParaRPr lang="en-US" sz="1200" dirty="0"/>
          </a:p>
        </p:txBody>
      </p:sp>
      <p:pic>
        <p:nvPicPr>
          <p:cNvPr id="6" name="Launch video frame" descr="Launch video frame: 20 reserved, 980 told no with 409, 0 oversold, over a grid of 1,000 request dots">    </p:cNvPr>
          <p:cNvPicPr>
            <a:picLocks noChangeAspect="1"/>
          </p:cNvPicPr>
          <p:nvPr/>
        </p:nvPicPr>
        <p:blipFill>
          <a:blip r:embed="rId1"/>
          <a:stretch>
            <a:fillRect/>
          </a:stretch>
        </p:blipFill>
        <p:spPr>
          <a:xfrm>
            <a:off x="6263640" y="1600200"/>
            <a:ext cx="5376672" cy="3026664"/>
          </a:xfrm>
          <a:prstGeom prst="rect">
            <a:avLst/>
          </a:prstGeom>
        </p:spPr>
      </p:pic>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One drop: 20 pairs, 1,000 checkouts in one second</a:t>
            </a:r>
            <a:endParaRPr lang="en-US" sz="3200" dirty="0"/>
          </a:p>
        </p:txBody>
      </p:sp>
      <p:sp>
        <p:nvSpPr>
          <p:cNvPr id="3" name="Intro"/>
          <p:cNvSpPr txBox="1"/>
          <p:nvPr/>
        </p:nvSpPr>
        <p:spPr>
          <a:xfrm>
            <a:off x="548640" y="1371600"/>
            <a:ext cx="11091672" cy="822960"/>
          </a:xfrm>
          <a:prstGeom prst="rect">
            <a:avLst/>
          </a:prstGeom>
          <a:noFill/>
          <a:ln/>
        </p:spPr>
        <p:txBody>
          <a:bodyPr wrap="square" lIns="0" tIns="0" rIns="0" bIns="0" rtlCol="0" anchor="t"/>
          <a:lstStyle/>
          <a:p>
            <a:pPr indent="0" marL="0">
              <a:lnSpc>
                <a:spcPct val="115000"/>
              </a:lnSpc>
              <a:buNone/>
            </a:pPr>
            <a:r>
              <a:rPr lang="en-US" sz="1700" dirty="0">
                <a:solidFill>
                  <a:schemeClr val="accent5"/>
                </a:solidFill>
              </a:rPr>
              <a:t>ReserveCore is the HTTP service a storefront calls during checkout. It does not take payments. It owns the stock count, and it has to keep four promises under load.</a:t>
            </a:r>
            <a:endParaRPr lang="en-US" sz="1700" dirty="0"/>
          </a:p>
        </p:txBody>
      </p:sp>
      <p:sp>
        <p:nvSpPr>
          <p:cNvPr id="4" name="Promise 1"/>
          <p:cNvSpPr/>
          <p:nvPr/>
        </p:nvSpPr>
        <p:spPr>
          <a:xfrm>
            <a:off x="548640" y="2423160"/>
            <a:ext cx="2606040" cy="2377440"/>
          </a:xfrm>
          <a:prstGeom prst="roundRect">
            <a:avLst>
              <a:gd name="adj" fmla="val 4615"/>
            </a:avLst>
          </a:prstGeom>
          <a:solidFill>
            <a:schemeClr val="tx2"/>
          </a:solidFill>
          <a:ln w="15875">
            <a:solidFill>
              <a:srgbClr val="2A3449"/>
            </a:solidFill>
            <a:prstDash val="solid"/>
          </a:ln>
        </p:spPr>
      </p:sp>
      <p:sp>
        <p:nvSpPr>
          <p:cNvPr id="5" name="Promise 1 title"/>
          <p:cNvSpPr txBox="1"/>
          <p:nvPr/>
        </p:nvSpPr>
        <p:spPr>
          <a:xfrm>
            <a:off x="777240" y="2651760"/>
            <a:ext cx="2148840" cy="685800"/>
          </a:xfrm>
          <a:prstGeom prst="rect">
            <a:avLst/>
          </a:prstGeom>
          <a:noFill/>
          <a:ln/>
        </p:spPr>
        <p:txBody>
          <a:bodyPr wrap="square" lIns="0" tIns="0" rIns="0" bIns="0" rtlCol="0" anchor="t"/>
          <a:lstStyle/>
          <a:p>
            <a:pPr indent="0" marL="0">
              <a:buNone/>
            </a:pPr>
            <a:r>
              <a:rPr lang="en-US" sz="1800" b="1" dirty="0">
                <a:solidFill>
                  <a:schemeClr val="accent1"/>
                </a:solidFill>
              </a:rPr>
              <a:t>Never oversell</a:t>
            </a:r>
            <a:endParaRPr lang="en-US" sz="1800" dirty="0"/>
          </a:p>
        </p:txBody>
      </p:sp>
      <p:sp>
        <p:nvSpPr>
          <p:cNvPr id="6" name="Promise 1 body"/>
          <p:cNvSpPr txBox="1"/>
          <p:nvPr/>
        </p:nvSpPr>
        <p:spPr>
          <a:xfrm>
            <a:off x="777240" y="3383280"/>
            <a:ext cx="2148840" cy="128016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At most 20 pairs leave the shelf, however many requests race for them.</a:t>
            </a:r>
            <a:endParaRPr lang="en-US" sz="1500" dirty="0"/>
          </a:p>
        </p:txBody>
      </p:sp>
      <p:sp>
        <p:nvSpPr>
          <p:cNvPr id="7" name="Promise 2"/>
          <p:cNvSpPr/>
          <p:nvPr/>
        </p:nvSpPr>
        <p:spPr>
          <a:xfrm>
            <a:off x="3376879" y="2423160"/>
            <a:ext cx="2606040" cy="2377440"/>
          </a:xfrm>
          <a:prstGeom prst="roundRect">
            <a:avLst>
              <a:gd name="adj" fmla="val 4615"/>
            </a:avLst>
          </a:prstGeom>
          <a:solidFill>
            <a:schemeClr val="tx2"/>
          </a:solidFill>
          <a:ln w="15875">
            <a:solidFill>
              <a:srgbClr val="2A3449"/>
            </a:solidFill>
            <a:prstDash val="solid"/>
          </a:ln>
        </p:spPr>
      </p:sp>
      <p:sp>
        <p:nvSpPr>
          <p:cNvPr id="8" name="Promise 2 title"/>
          <p:cNvSpPr txBox="1"/>
          <p:nvPr/>
        </p:nvSpPr>
        <p:spPr>
          <a:xfrm>
            <a:off x="3605479" y="2651760"/>
            <a:ext cx="2148840" cy="685800"/>
          </a:xfrm>
          <a:prstGeom prst="rect">
            <a:avLst/>
          </a:prstGeom>
          <a:noFill/>
          <a:ln/>
        </p:spPr>
        <p:txBody>
          <a:bodyPr wrap="square" lIns="0" tIns="0" rIns="0" bIns="0" rtlCol="0" anchor="t"/>
          <a:lstStyle/>
          <a:p>
            <a:pPr indent="0" marL="0">
              <a:buNone/>
            </a:pPr>
            <a:r>
              <a:rPr lang="en-US" sz="1800" b="1" dirty="0">
                <a:solidFill>
                  <a:schemeClr val="accent3"/>
                </a:solidFill>
              </a:rPr>
              <a:t>Apply each request once</a:t>
            </a:r>
            <a:endParaRPr lang="en-US" sz="1800" dirty="0"/>
          </a:p>
        </p:txBody>
      </p:sp>
      <p:sp>
        <p:nvSpPr>
          <p:cNvPr id="9" name="Promise 2 body"/>
          <p:cNvSpPr txBox="1"/>
          <p:nvPr/>
        </p:nvSpPr>
        <p:spPr>
          <a:xfrm>
            <a:off x="3605479" y="3383280"/>
            <a:ext cx="2148840" cy="128016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A retried or duplicated request never reserves a second pair.</a:t>
            </a:r>
            <a:endParaRPr lang="en-US" sz="1500" dirty="0"/>
          </a:p>
        </p:txBody>
      </p:sp>
      <p:sp>
        <p:nvSpPr>
          <p:cNvPr id="10" name="Promise 3"/>
          <p:cNvSpPr/>
          <p:nvPr/>
        </p:nvSpPr>
        <p:spPr>
          <a:xfrm>
            <a:off x="6205118" y="2423160"/>
            <a:ext cx="2606040" cy="2377440"/>
          </a:xfrm>
          <a:prstGeom prst="roundRect">
            <a:avLst>
              <a:gd name="adj" fmla="val 4615"/>
            </a:avLst>
          </a:prstGeom>
          <a:solidFill>
            <a:schemeClr val="tx2"/>
          </a:solidFill>
          <a:ln w="15875">
            <a:solidFill>
              <a:srgbClr val="2A3449"/>
            </a:solidFill>
            <a:prstDash val="solid"/>
          </a:ln>
        </p:spPr>
      </p:sp>
      <p:sp>
        <p:nvSpPr>
          <p:cNvPr id="11" name="Promise 3 title"/>
          <p:cNvSpPr txBox="1"/>
          <p:nvPr/>
        </p:nvSpPr>
        <p:spPr>
          <a:xfrm>
            <a:off x="6433718" y="2651760"/>
            <a:ext cx="2148840" cy="685800"/>
          </a:xfrm>
          <a:prstGeom prst="rect">
            <a:avLst/>
          </a:prstGeom>
          <a:noFill/>
          <a:ln/>
        </p:spPr>
        <p:txBody>
          <a:bodyPr wrap="square" lIns="0" tIns="0" rIns="0" bIns="0" rtlCol="0" anchor="t"/>
          <a:lstStyle/>
          <a:p>
            <a:pPr indent="0" marL="0">
              <a:buNone/>
            </a:pPr>
            <a:r>
              <a:rPr lang="en-US" sz="1800" b="1" dirty="0">
                <a:solidFill>
                  <a:schemeClr val="accent2"/>
                </a:solidFill>
              </a:rPr>
              <a:t>Never half-apply</a:t>
            </a:r>
            <a:endParaRPr lang="en-US" sz="1800" dirty="0"/>
          </a:p>
        </p:txBody>
      </p:sp>
      <p:sp>
        <p:nvSpPr>
          <p:cNvPr id="12" name="Promise 3 body"/>
          <p:cNvSpPr txBox="1"/>
          <p:nvPr/>
        </p:nvSpPr>
        <p:spPr>
          <a:xfrm>
            <a:off x="6433718" y="3383280"/>
            <a:ext cx="2148840" cy="128016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A crash at any moment leaves stock exactly as before or exactly as after.</a:t>
            </a:r>
            <a:endParaRPr lang="en-US" sz="1500" dirty="0"/>
          </a:p>
        </p:txBody>
      </p:sp>
      <p:sp>
        <p:nvSpPr>
          <p:cNvPr id="13" name="Promise 4"/>
          <p:cNvSpPr/>
          <p:nvPr/>
        </p:nvSpPr>
        <p:spPr>
          <a:xfrm>
            <a:off x="9033358" y="2423160"/>
            <a:ext cx="2606040" cy="2377440"/>
          </a:xfrm>
          <a:prstGeom prst="roundRect">
            <a:avLst>
              <a:gd name="adj" fmla="val 4615"/>
            </a:avLst>
          </a:prstGeom>
          <a:solidFill>
            <a:schemeClr val="tx2"/>
          </a:solidFill>
          <a:ln w="15875">
            <a:solidFill>
              <a:srgbClr val="2A3449"/>
            </a:solidFill>
            <a:prstDash val="solid"/>
          </a:ln>
        </p:spPr>
      </p:sp>
      <p:sp>
        <p:nvSpPr>
          <p:cNvPr id="14" name="Promise 4 title"/>
          <p:cNvSpPr txBox="1"/>
          <p:nvPr/>
        </p:nvSpPr>
        <p:spPr>
          <a:xfrm>
            <a:off x="9261958" y="2651760"/>
            <a:ext cx="2148840" cy="685800"/>
          </a:xfrm>
          <a:prstGeom prst="rect">
            <a:avLst/>
          </a:prstGeom>
          <a:noFill/>
          <a:ln/>
        </p:spPr>
        <p:txBody>
          <a:bodyPr wrap="square" lIns="0" tIns="0" rIns="0" bIns="0" rtlCol="0" anchor="t"/>
          <a:lstStyle/>
          <a:p>
            <a:pPr indent="0" marL="0">
              <a:buNone/>
            </a:pPr>
            <a:r>
              <a:rPr lang="en-US" sz="1800" b="1" dirty="0">
                <a:solidFill>
                  <a:schemeClr val="bg2"/>
                </a:solidFill>
              </a:rPr>
              <a:t>Safe on many servers</a:t>
            </a:r>
            <a:endParaRPr lang="en-US" sz="1800" dirty="0"/>
          </a:p>
        </p:txBody>
      </p:sp>
      <p:sp>
        <p:nvSpPr>
          <p:cNvPr id="15" name="Promise 4 body"/>
          <p:cNvSpPr txBox="1"/>
          <p:nvPr/>
        </p:nvSpPr>
        <p:spPr>
          <a:xfrm>
            <a:off x="9261958" y="3383280"/>
            <a:ext cx="2148840" cy="128016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Any number of app instances share one PostgreSQL database.</a:t>
            </a:r>
            <a:endParaRPr lang="en-US" sz="1500" dirty="0"/>
          </a:p>
        </p:txBody>
      </p:sp>
      <p:sp>
        <p:nvSpPr>
          <p:cNvPr id="17"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the service makes sure a limited item is never sold twice, even when everyone clicks Buy at the same moment.</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Three numbers per SKU, four reservation states</a:t>
            </a:r>
            <a:endParaRPr lang="en-US" sz="3200" dirty="0"/>
          </a:p>
        </p:txBody>
      </p:sp>
      <p:sp>
        <p:nvSpPr>
          <p:cNvPr id="3" name="Invariant"/>
          <p:cNvSpPr/>
          <p:nvPr/>
        </p:nvSpPr>
        <p:spPr>
          <a:xfrm>
            <a:off x="548640" y="1371600"/>
            <a:ext cx="11091672" cy="1143000"/>
          </a:xfrm>
          <a:prstGeom prst="roundRect">
            <a:avLst>
              <a:gd name="adj" fmla="val 9600"/>
            </a:avLst>
          </a:prstGeom>
          <a:solidFill>
            <a:schemeClr val="tx2"/>
          </a:solidFill>
          <a:ln w="15875">
            <a:solidFill>
              <a:srgbClr val="2A3449"/>
            </a:solidFill>
            <a:prstDash val="solid"/>
          </a:ln>
        </p:spPr>
      </p:sp>
      <p:sp>
        <p:nvSpPr>
          <p:cNvPr id="4" name="Invariant formula"/>
          <p:cNvSpPr txBox="1"/>
          <p:nvPr/>
        </p:nvSpPr>
        <p:spPr>
          <a:xfrm>
            <a:off x="822960" y="1536192"/>
            <a:ext cx="10515600" cy="457200"/>
          </a:xfrm>
          <a:prstGeom prst="rect">
            <a:avLst/>
          </a:prstGeom>
          <a:noFill/>
          <a:ln/>
        </p:spPr>
        <p:txBody>
          <a:bodyPr wrap="square" lIns="0" tIns="0" rIns="0" bIns="0" rtlCol="0" anchor="t"/>
          <a:lstStyle/>
          <a:p>
            <a:pPr indent="0" marL="0">
              <a:lnSpc>
                <a:spcPct val="125000"/>
              </a:lnSpc>
              <a:buNone/>
            </a:pPr>
            <a:r>
              <a:rPr lang="en-US" sz="2200" dirty="0">
                <a:solidFill>
                  <a:schemeClr val="bg2"/>
                </a:solidFill>
                <a:latin typeface="JetBrains Mono" pitchFamily="34" charset="0"/>
                <a:ea typeface="JetBrains Mono" pitchFamily="34" charset="-122"/>
                <a:cs typeface="JetBrains Mono" pitchFamily="34" charset="-120"/>
              </a:rPr>
              <a:t>initial = </a:t>
            </a:r>
            <a:pPr indent="0" marL="0">
              <a:lnSpc>
                <a:spcPct val="125000"/>
              </a:lnSpc>
              <a:buNone/>
            </a:pPr>
            <a:r>
              <a:rPr lang="en-US" sz="2200" dirty="0">
                <a:solidFill>
                  <a:schemeClr val="accent1"/>
                </a:solidFill>
                <a:latin typeface="JetBrains Mono" pitchFamily="34" charset="0"/>
                <a:ea typeface="JetBrains Mono" pitchFamily="34" charset="-122"/>
                <a:cs typeface="JetBrains Mono" pitchFamily="34" charset="-120"/>
              </a:rPr>
              <a:t>available</a:t>
            </a:r>
            <a:pPr indent="0" marL="0">
              <a:lnSpc>
                <a:spcPct val="125000"/>
              </a:lnSpc>
              <a:buNone/>
            </a:pPr>
            <a:r>
              <a:rPr lang="en-US" sz="2200" dirty="0">
                <a:solidFill>
                  <a:schemeClr val="bg2"/>
                </a:solidFill>
                <a:latin typeface="JetBrains Mono" pitchFamily="34" charset="0"/>
                <a:ea typeface="JetBrains Mono" pitchFamily="34" charset="-122"/>
                <a:cs typeface="JetBrains Mono" pitchFamily="34" charset="-120"/>
              </a:rPr>
              <a:t> + </a:t>
            </a:r>
            <a:pPr indent="0" marL="0">
              <a:lnSpc>
                <a:spcPct val="125000"/>
              </a:lnSpc>
              <a:buNone/>
            </a:pPr>
            <a:r>
              <a:rPr lang="en-US" sz="2200" dirty="0">
                <a:solidFill>
                  <a:schemeClr val="accent2"/>
                </a:solidFill>
                <a:latin typeface="JetBrains Mono" pitchFamily="34" charset="0"/>
                <a:ea typeface="JetBrains Mono" pitchFamily="34" charset="-122"/>
                <a:cs typeface="JetBrains Mono" pitchFamily="34" charset="-120"/>
              </a:rPr>
              <a:t>held</a:t>
            </a:r>
            <a:pPr indent="0" marL="0">
              <a:lnSpc>
                <a:spcPct val="125000"/>
              </a:lnSpc>
              <a:buNone/>
            </a:pPr>
            <a:r>
              <a:rPr lang="en-US" sz="2200" dirty="0">
                <a:solidFill>
                  <a:schemeClr val="bg2"/>
                </a:solidFill>
                <a:latin typeface="JetBrains Mono" pitchFamily="34" charset="0"/>
                <a:ea typeface="JetBrains Mono" pitchFamily="34" charset="-122"/>
                <a:cs typeface="JetBrains Mono" pitchFamily="34" charset="-120"/>
              </a:rPr>
              <a:t> + </a:t>
            </a:r>
            <a:pPr indent="0" marL="0">
              <a:lnSpc>
                <a:spcPct val="125000"/>
              </a:lnSpc>
              <a:buNone/>
            </a:pPr>
            <a:r>
              <a:rPr lang="en-US" sz="2200" dirty="0">
                <a:solidFill>
                  <a:schemeClr val="accent3"/>
                </a:solidFill>
                <a:latin typeface="JetBrains Mono" pitchFamily="34" charset="0"/>
                <a:ea typeface="JetBrains Mono" pitchFamily="34" charset="-122"/>
                <a:cs typeface="JetBrains Mono" pitchFamily="34" charset="-120"/>
              </a:rPr>
              <a:t>sold</a:t>
            </a:r>
            <a:endParaRPr lang="en-US" sz="2200" dirty="0"/>
          </a:p>
        </p:txBody>
      </p:sp>
      <p:sp>
        <p:nvSpPr>
          <p:cNvPr id="5" name="Invariant note"/>
          <p:cNvSpPr txBox="1"/>
          <p:nvPr/>
        </p:nvSpPr>
        <p:spPr>
          <a:xfrm>
            <a:off x="822960" y="2057400"/>
            <a:ext cx="10515600" cy="320040"/>
          </a:xfrm>
          <a:prstGeom prst="rect">
            <a:avLst/>
          </a:prstGeom>
          <a:noFill/>
          <a:ln/>
        </p:spPr>
        <p:txBody>
          <a:bodyPr wrap="square" lIns="0" tIns="0" rIns="0" bIns="0" rtlCol="0" anchor="t"/>
          <a:lstStyle/>
          <a:p>
            <a:pPr indent="0" marL="0">
              <a:buNone/>
            </a:pPr>
            <a:r>
              <a:rPr lang="en-US" sz="1300" dirty="0">
                <a:solidFill>
                  <a:schemeClr val="accent6"/>
                </a:solidFill>
              </a:rPr>
              <a:t>Enforced on every write by a CHECK constraint; each quantity is also kept at 0 or more.</a:t>
            </a:r>
            <a:endParaRPr lang="en-US" sz="1300" dirty="0"/>
          </a:p>
        </p:txBody>
      </p:sp>
      <p:graphicFrame>
        <p:nvGraphicFramePr>
          <p:cNvPr id="4" name="Transitions"/>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1554480"/>
                <a:gridCol w="3749040"/>
                <a:gridCol w="2011680"/>
                <a:gridCol w="3776472"/>
              </a:tblGrid>
              <a:tr h="0">
                <a:tc>
                  <a:txBody>
                    <a:bodyPr/>
                    <a:lstStyle/>
                    <a:p>
                      <a:pPr indent="0" marL="0">
                        <a:buNone/>
                      </a:pPr>
                      <a:r>
                        <a:rPr lang="en-US" sz="1600" b="1" dirty="0">
                          <a:solidFill>
                            <a:schemeClr val="bg2"/>
                          </a:solidFill>
                        </a:rPr>
                        <a:t>From</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2"/>
                          </a:solidFill>
                        </a:rPr>
                        <a:t>Event</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2"/>
                          </a:solidFill>
                        </a:rPr>
                        <a:t>To</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2"/>
                          </a:solidFill>
                        </a:rPr>
                        <a:t>Stock change</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r>
              <a:tr h="0">
                <a:tc>
                  <a:txBody>
                    <a:bodyPr/>
                    <a:lstStyle/>
                    <a:p>
                      <a:pPr indent="0" marL="0">
                        <a:buNone/>
                      </a:pPr>
                      <a:r>
                        <a:rPr lang="en-US" sz="1600" dirty="0">
                          <a:solidFill>
                            <a:schemeClr val="bg2"/>
                          </a:solidFill>
                        </a:rPr>
                        <a:t>new</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reserve, enough available</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ACTIVE</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available − q, held + q</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600" dirty="0">
                          <a:solidFill>
                            <a:schemeClr val="bg2"/>
                          </a:solidFill>
                        </a:rPr>
                        <a:t>ACTIVE</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confirm, before expires_at</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CONFIRMED</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held − q, sold + q</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600" dirty="0">
                          <a:solidFill>
                            <a:schemeClr val="bg2"/>
                          </a:solidFill>
                        </a:rPr>
                        <a:t>ACTIVE</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cancel, before expires_at</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CANCELLED</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held − q, available + q</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600" dirty="0">
                          <a:solidFill>
                            <a:schemeClr val="bg2"/>
                          </a:solidFill>
                        </a:rPr>
                        <a:t>ACTIVE</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worker, at or after expires_at</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EXPIRED</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600" dirty="0">
                          <a:solidFill>
                            <a:schemeClr val="bg2"/>
                          </a:solidFill>
                        </a:rPr>
                        <a:t>held − q, available + q</a:t>
                      </a:r>
                      <a:endParaRPr lang="en-US" sz="16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bl>
          </a:graphicData>
        </a:graphic>
      </p:graphicFrame>
      <p:sp>
        <p:nvSpPr>
          <p:cNvPr id="7" name="Ledger"/>
          <p:cNvSpPr txBox="1"/>
          <p:nvPr/>
        </p:nvSpPr>
        <p:spPr>
          <a:xfrm>
            <a:off x="548640" y="5029200"/>
            <a:ext cx="11091672" cy="731520"/>
          </a:xfrm>
          <a:prstGeom prst="rect">
            <a:avLst/>
          </a:prstGeom>
          <a:noFill/>
          <a:ln/>
        </p:spPr>
        <p:txBody>
          <a:bodyPr wrap="square" lIns="0" tIns="0" rIns="0" bIns="0" rtlCol="0" anchor="t"/>
          <a:lstStyle/>
          <a:p>
            <a:pPr indent="0" marL="0">
              <a:lnSpc>
                <a:spcPct val="115000"/>
              </a:lnSpc>
              <a:buNone/>
            </a:pPr>
            <a:r>
              <a:rPr lang="en-US" sz="1600" dirty="0">
                <a:solidFill>
                  <a:schemeClr val="accent5"/>
                </a:solidFill>
              </a:rPr>
              <a:t>CONFIRMED, CANCELLED and EXPIRED are final. Every transition also appends a row to the movement ledger with the quantities after it and the request id that caused it.</a:t>
            </a:r>
            <a:endParaRPr lang="en-US" sz="1600" dirty="0"/>
          </a:p>
        </p:txBody>
      </p:sp>
      <p:sp>
        <p:nvSpPr>
          <p:cNvPr id="9"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every unit is free to reserve, set aside for a checkout, or sold, and the three always add up to the total.</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One checkout through the API</a:t>
            </a:r>
            <a:endParaRPr lang="en-US" sz="3200" dirty="0"/>
          </a:p>
        </p:txBody>
      </p:sp>
      <p:sp>
        <p:nvSpPr>
          <p:cNvPr id="3" name="Request card"/>
          <p:cNvSpPr/>
          <p:nvPr/>
        </p:nvSpPr>
        <p:spPr>
          <a:xfrm>
            <a:off x="548640" y="1371600"/>
            <a:ext cx="5431536" cy="2514600"/>
          </a:xfrm>
          <a:prstGeom prst="roundRect">
            <a:avLst>
              <a:gd name="adj" fmla="val 4364"/>
            </a:avLst>
          </a:prstGeom>
          <a:solidFill>
            <a:schemeClr val="tx2"/>
          </a:solidFill>
          <a:ln w="15875">
            <a:solidFill>
              <a:srgbClr val="2A3449"/>
            </a:solidFill>
            <a:prstDash val="solid"/>
          </a:ln>
        </p:spPr>
      </p:sp>
      <p:sp>
        <p:nvSpPr>
          <p:cNvPr id="4" name="Request label"/>
          <p:cNvSpPr txBox="1"/>
          <p:nvPr/>
        </p:nvSpPr>
        <p:spPr>
          <a:xfrm>
            <a:off x="822960" y="1554480"/>
            <a:ext cx="4846320" cy="274320"/>
          </a:xfrm>
          <a:prstGeom prst="rect">
            <a:avLst/>
          </a:prstGeom>
          <a:noFill/>
          <a:ln/>
        </p:spPr>
        <p:txBody>
          <a:bodyPr wrap="square" lIns="0" tIns="0" rIns="0" bIns="0" rtlCol="0" anchor="t"/>
          <a:lstStyle/>
          <a:p>
            <a:pPr indent="0" marL="0">
              <a:buNone/>
            </a:pPr>
            <a:r>
              <a:rPr lang="en-US" sz="1100" b="1" spc="300" kern="0" dirty="0">
                <a:solidFill>
                  <a:schemeClr val="accent3"/>
                </a:solidFill>
              </a:rPr>
              <a:t>REQUEST</a:t>
            </a:r>
            <a:endParaRPr lang="en-US" sz="1100" dirty="0"/>
          </a:p>
        </p:txBody>
      </p:sp>
      <p:sp>
        <p:nvSpPr>
          <p:cNvPr id="5" name="Request"/>
          <p:cNvSpPr txBox="1"/>
          <p:nvPr/>
        </p:nvSpPr>
        <p:spPr>
          <a:xfrm>
            <a:off x="822960" y="1920240"/>
            <a:ext cx="4937760" cy="1828800"/>
          </a:xfrm>
          <a:prstGeom prst="rect">
            <a:avLst/>
          </a:prstGeom>
          <a:noFill/>
          <a:ln/>
        </p:spPr>
        <p:txBody>
          <a:bodyPr wrap="square" lIns="0" tIns="0" rIns="0" bIns="0" rtlCol="0" anchor="t"/>
          <a:lstStyle/>
          <a:p>
            <a:pPr indent="0" marL="0">
              <a:lnSpc>
                <a:spcPct val="125000"/>
              </a:lnSpc>
              <a:buNone/>
            </a:pPr>
            <a:r>
              <a:rPr lang="en-US" sz="1400" dirty="0">
                <a:solidFill>
                  <a:schemeClr val="accent3"/>
                </a:solidFill>
                <a:latin typeface="JetBrains Mono" pitchFamily="34" charset="0"/>
                <a:ea typeface="JetBrains Mono" pitchFamily="34" charset="-122"/>
                <a:cs typeface="JetBrains Mono" pitchFamily="34" charset="-120"/>
              </a:rPr>
              <a:t>POST</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/v1/reservations</a:t>
            </a:r>
            <a:endParaRPr lang="en-US" sz="1400" dirty="0"/>
          </a:p>
          <a:p>
            <a:pPr indent="0" marL="0">
              <a:lnSpc>
                <a:spcPct val="125000"/>
              </a:lnSpc>
              <a:buNone/>
            </a:pPr>
            <a:r>
              <a:rPr lang="en-US" sz="1400" dirty="0">
                <a:solidFill>
                  <a:schemeClr val="accent6"/>
                </a:solidFill>
                <a:latin typeface="JetBrains Mono" pitchFamily="34" charset="0"/>
                <a:ea typeface="JetBrains Mono" pitchFamily="34" charset="-122"/>
                <a:cs typeface="JetBrains Mono" pitchFamily="34" charset="-120"/>
              </a:rPr>
              <a:t>Authorization: </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Bearer rcsk_devalice_…</a:t>
            </a:r>
            <a:endParaRPr lang="en-US" sz="1400" dirty="0"/>
          </a:p>
          <a:p>
            <a:pPr indent="0" marL="0">
              <a:lnSpc>
                <a:spcPct val="125000"/>
              </a:lnSpc>
              <a:buNone/>
            </a:pPr>
            <a:r>
              <a:rPr lang="en-US" sz="1400" dirty="0">
                <a:solidFill>
                  <a:schemeClr val="accent6"/>
                </a:solidFill>
                <a:latin typeface="JetBrains Mono" pitchFamily="34" charset="0"/>
                <a:ea typeface="JetBrains Mono" pitchFamily="34" charset="-122"/>
                <a:cs typeface="JetBrains Mono" pitchFamily="34" charset="-120"/>
              </a:rPr>
              <a:t>Idempotency-Key: </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checkout-81723</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{"sku": "SNKR-10", "quantity": 1,</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"holdSeconds": 600}</a:t>
            </a:r>
            <a:endParaRPr lang="en-US" sz="1400" dirty="0"/>
          </a:p>
        </p:txBody>
      </p:sp>
      <p:sp>
        <p:nvSpPr>
          <p:cNvPr id="6" name="Response card"/>
          <p:cNvSpPr/>
          <p:nvPr/>
        </p:nvSpPr>
        <p:spPr>
          <a:xfrm>
            <a:off x="6208776" y="1371600"/>
            <a:ext cx="5431536" cy="2514600"/>
          </a:xfrm>
          <a:prstGeom prst="roundRect">
            <a:avLst>
              <a:gd name="adj" fmla="val 4364"/>
            </a:avLst>
          </a:prstGeom>
          <a:solidFill>
            <a:schemeClr val="tx2"/>
          </a:solidFill>
          <a:ln w="15875">
            <a:solidFill>
              <a:srgbClr val="2A3449"/>
            </a:solidFill>
            <a:prstDash val="solid"/>
          </a:ln>
        </p:spPr>
      </p:sp>
      <p:sp>
        <p:nvSpPr>
          <p:cNvPr id="7" name="Response label"/>
          <p:cNvSpPr txBox="1"/>
          <p:nvPr/>
        </p:nvSpPr>
        <p:spPr>
          <a:xfrm>
            <a:off x="6483096" y="1554480"/>
            <a:ext cx="48463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RESPONSE</a:t>
            </a:r>
            <a:endParaRPr lang="en-US" sz="1100" dirty="0"/>
          </a:p>
        </p:txBody>
      </p:sp>
      <p:sp>
        <p:nvSpPr>
          <p:cNvPr id="8" name="Response"/>
          <p:cNvSpPr txBox="1"/>
          <p:nvPr/>
        </p:nvSpPr>
        <p:spPr>
          <a:xfrm>
            <a:off x="6483096" y="1920240"/>
            <a:ext cx="4937760" cy="1828800"/>
          </a:xfrm>
          <a:prstGeom prst="rect">
            <a:avLst/>
          </a:prstGeom>
          <a:noFill/>
          <a:ln/>
        </p:spPr>
        <p:txBody>
          <a:bodyPr wrap="square" lIns="0" tIns="0" rIns="0" bIns="0" rtlCol="0" anchor="t"/>
          <a:lstStyle/>
          <a:p>
            <a:pPr indent="0" marL="0">
              <a:lnSpc>
                <a:spcPct val="125000"/>
              </a:lnSpc>
              <a:buNone/>
            </a:pPr>
            <a:r>
              <a:rPr lang="en-US" sz="1400" dirty="0">
                <a:solidFill>
                  <a:schemeClr val="accent1"/>
                </a:solidFill>
                <a:latin typeface="JetBrains Mono" pitchFamily="34" charset="0"/>
                <a:ea typeface="JetBrains Mono" pitchFamily="34" charset="-122"/>
                <a:cs typeface="JetBrains Mono" pitchFamily="34" charset="-120"/>
              </a:rPr>
              <a:t>HTTP/1.1 201 Created</a:t>
            </a:r>
            <a:endParaRPr lang="en-US" sz="1400" dirty="0"/>
          </a:p>
          <a:p>
            <a:pPr indent="0" marL="0">
              <a:lnSpc>
                <a:spcPct val="125000"/>
              </a:lnSpc>
              <a:buNone/>
            </a:pPr>
            <a:r>
              <a:rPr lang="en-US" sz="1400" dirty="0">
                <a:solidFill>
                  <a:schemeClr val="accent6"/>
                </a:solidFill>
                <a:latin typeface="JetBrains Mono" pitchFamily="34" charset="0"/>
                <a:ea typeface="JetBrains Mono" pitchFamily="34" charset="-122"/>
                <a:cs typeface="JetBrains Mono" pitchFamily="34" charset="-120"/>
              </a:rPr>
              <a:t>Location: </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/v1/reservations/01a12e0c-…</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{"id": "01a12e0c-…",</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"status": "ACTIVE",</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"expiresAt": "2026-10-12T10:10:00Z"}</a:t>
            </a:r>
            <a:endParaRPr lang="en-US" sz="1400" dirty="0"/>
          </a:p>
        </p:txBody>
      </p:sp>
      <p:sp>
        <p:nvSpPr>
          <p:cNvPr id="9" name="Next calls"/>
          <p:cNvSpPr txBox="1"/>
          <p:nvPr/>
        </p:nvSpPr>
        <p:spPr>
          <a:xfrm>
            <a:off x="548640" y="4114800"/>
            <a:ext cx="11091672" cy="731520"/>
          </a:xfrm>
          <a:prstGeom prst="rect">
            <a:avLst/>
          </a:prstGeom>
          <a:noFill/>
          <a:ln/>
        </p:spPr>
        <p:txBody>
          <a:bodyPr wrap="square" lIns="0" tIns="0" rIns="0" bIns="0" rtlCol="0" anchor="t"/>
          <a:lstStyle/>
          <a:p>
            <a:pPr indent="0" marL="0">
              <a:lnSpc>
                <a:spcPct val="115000"/>
              </a:lnSpc>
              <a:buNone/>
            </a:pPr>
            <a:r>
              <a:rPr lang="en-US" sz="1600" dirty="0">
                <a:solidFill>
                  <a:schemeClr val="accent5"/>
                </a:solidFill>
              </a:rPr>
              <a:t>After payment the storefront calls </a:t>
            </a:r>
            <a:pPr indent="0" marL="0">
              <a:lnSpc>
                <a:spcPct val="115000"/>
              </a:lnSpc>
              <a:buNone/>
            </a:pPr>
            <a:r>
              <a:rPr lang="en-US" sz="1600" b="1" dirty="0">
                <a:solidFill>
                  <a:schemeClr val="bg2"/>
                </a:solidFill>
              </a:rPr>
              <a:t>POST …/confirm</a:t>
            </a:r>
            <a:pPr indent="0" marL="0">
              <a:lnSpc>
                <a:spcPct val="115000"/>
              </a:lnSpc>
              <a:buNone/>
            </a:pPr>
            <a:r>
              <a:rPr lang="en-US" sz="1600" dirty="0">
                <a:solidFill>
                  <a:schemeClr val="accent5"/>
                </a:solidFill>
              </a:rPr>
              <a:t>; on abandon, </a:t>
            </a:r>
            <a:pPr indent="0" marL="0">
              <a:lnSpc>
                <a:spcPct val="115000"/>
              </a:lnSpc>
              <a:buNone/>
            </a:pPr>
            <a:r>
              <a:rPr lang="en-US" sz="1600" b="1" dirty="0">
                <a:solidFill>
                  <a:schemeClr val="bg2"/>
                </a:solidFill>
              </a:rPr>
              <a:t>POST …/cancel</a:t>
            </a:r>
            <a:pPr indent="0" marL="0">
              <a:lnSpc>
                <a:spcPct val="115000"/>
              </a:lnSpc>
              <a:buNone/>
            </a:pPr>
            <a:r>
              <a:rPr lang="en-US" sz="1600" dirty="0">
                <a:solidFill>
                  <a:schemeClr val="accent5"/>
                </a:solidFill>
              </a:rPr>
              <a:t>; otherwise the hold expires. Every error has one shape, RFC 9457 problem details with a stable code:</a:t>
            </a:r>
            <a:endParaRPr lang="en-US" sz="1600" dirty="0"/>
          </a:p>
        </p:txBody>
      </p:sp>
      <p:sp>
        <p:nvSpPr>
          <p:cNvPr id="10" name="Error example"/>
          <p:cNvSpPr txBox="1"/>
          <p:nvPr/>
        </p:nvSpPr>
        <p:spPr>
          <a:xfrm>
            <a:off x="548640" y="4983480"/>
            <a:ext cx="11091672" cy="365760"/>
          </a:xfrm>
          <a:prstGeom prst="rect">
            <a:avLst/>
          </a:prstGeom>
          <a:noFill/>
          <a:ln/>
        </p:spPr>
        <p:txBody>
          <a:bodyPr wrap="square" lIns="0" tIns="0" rIns="0" bIns="0" rtlCol="0" anchor="t"/>
          <a:lstStyle/>
          <a:p>
            <a:pPr indent="0" marL="0">
              <a:lnSpc>
                <a:spcPct val="125000"/>
              </a:lnSpc>
              <a:buNone/>
            </a:pPr>
            <a:r>
              <a:rPr lang="en-US" sz="1300" dirty="0">
                <a:solidFill>
                  <a:schemeClr val="accent2"/>
                </a:solidFill>
                <a:latin typeface="JetBrains Mono" pitchFamily="34" charset="0"/>
                <a:ea typeface="JetBrains Mono" pitchFamily="34" charset="-122"/>
                <a:cs typeface="JetBrains Mono" pitchFamily="34" charset="-120"/>
              </a:rPr>
              <a:t>409 {"code": "INSUFFICIENT_STOCK", "detail": "Requested 1 of SKU SNKR-10 but only 0 available.", …}</a:t>
            </a:r>
            <a:endParaRPr lang="en-US" sz="1300" dirty="0"/>
          </a:p>
        </p:txBody>
      </p:sp>
      <p:sp>
        <p:nvSpPr>
          <p:cNvPr id="12"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the shop asks for a hold, then confirms after payment or cancels; every error says exactly what went wrong.</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Seven endpoints, documented and drift-checked</a:t>
            </a:r>
            <a:endParaRPr lang="en-US" sz="3200" dirty="0"/>
          </a:p>
        </p:txBody>
      </p:sp>
      <p:pic>
        <p:nvPicPr>
          <p:cNvPr id="3" name="Swagger UI" descr="The running Swagger UI listing the ReserveCore API: three SKU endpoints and four reservation endpoints">    </p:cNvPr>
          <p:cNvPicPr>
            <a:picLocks noChangeAspect="1"/>
          </p:cNvPicPr>
          <p:nvPr/>
        </p:nvPicPr>
        <p:blipFill>
          <a:blip r:embed="rId1"/>
          <a:stretch>
            <a:fillRect/>
          </a:stretch>
        </p:blipFill>
        <p:spPr>
          <a:xfrm>
            <a:off x="548640" y="1371600"/>
            <a:ext cx="6949440" cy="3909060"/>
          </a:xfrm>
          <a:prstGeom prst="rect">
            <a:avLst/>
          </a:prstGeom>
        </p:spPr>
      </p:pic>
      <p:sp>
        <p:nvSpPr>
          <p:cNvPr id="4" name="SKUs heading"/>
          <p:cNvSpPr txBox="1"/>
          <p:nvPr/>
        </p:nvSpPr>
        <p:spPr>
          <a:xfrm>
            <a:off x="7818120" y="1417320"/>
            <a:ext cx="3822192" cy="365760"/>
          </a:xfrm>
          <a:prstGeom prst="rect">
            <a:avLst/>
          </a:prstGeom>
          <a:noFill/>
          <a:ln/>
        </p:spPr>
        <p:txBody>
          <a:bodyPr wrap="square" lIns="0" tIns="0" rIns="0" bIns="0" rtlCol="0" anchor="t"/>
          <a:lstStyle/>
          <a:p>
            <a:pPr indent="0" marL="0">
              <a:buNone/>
            </a:pPr>
            <a:r>
              <a:rPr lang="en-US" sz="1800" b="1" dirty="0">
                <a:solidFill>
                  <a:schemeClr val="bg2"/>
                </a:solidFill>
              </a:rPr>
              <a:t>SKUs</a:t>
            </a:r>
            <a:endParaRPr lang="en-US" sz="1800" dirty="0"/>
          </a:p>
        </p:txBody>
      </p:sp>
      <p:sp>
        <p:nvSpPr>
          <p:cNvPr id="5" name="SKUs detail"/>
          <p:cNvSpPr txBox="1"/>
          <p:nvPr/>
        </p:nvSpPr>
        <p:spPr>
          <a:xfrm>
            <a:off x="7818120" y="1828800"/>
            <a:ext cx="3822192" cy="8229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create, read availability, paged movement history</a:t>
            </a:r>
            <a:endParaRPr lang="en-US" sz="1400" dirty="0"/>
          </a:p>
        </p:txBody>
      </p:sp>
      <p:sp>
        <p:nvSpPr>
          <p:cNvPr id="6" name="Reservations heading"/>
          <p:cNvSpPr txBox="1"/>
          <p:nvPr/>
        </p:nvSpPr>
        <p:spPr>
          <a:xfrm>
            <a:off x="7818120" y="2743200"/>
            <a:ext cx="3822192" cy="365760"/>
          </a:xfrm>
          <a:prstGeom prst="rect">
            <a:avLst/>
          </a:prstGeom>
          <a:noFill/>
          <a:ln/>
        </p:spPr>
        <p:txBody>
          <a:bodyPr wrap="square" lIns="0" tIns="0" rIns="0" bIns="0" rtlCol="0" anchor="t"/>
          <a:lstStyle/>
          <a:p>
            <a:pPr indent="0" marL="0">
              <a:buNone/>
            </a:pPr>
            <a:r>
              <a:rPr lang="en-US" sz="1800" b="1" dirty="0">
                <a:solidFill>
                  <a:schemeClr val="bg2"/>
                </a:solidFill>
              </a:rPr>
              <a:t>Reservations</a:t>
            </a:r>
            <a:endParaRPr lang="en-US" sz="1800" dirty="0"/>
          </a:p>
        </p:txBody>
      </p:sp>
      <p:sp>
        <p:nvSpPr>
          <p:cNvPr id="7" name="Reservations detail"/>
          <p:cNvSpPr txBox="1"/>
          <p:nvPr/>
        </p:nvSpPr>
        <p:spPr>
          <a:xfrm>
            <a:off x="7818120" y="3154680"/>
            <a:ext cx="3822192" cy="8229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reserve, read, confirm, cancel; writes need an Idempotency-Key</a:t>
            </a:r>
            <a:endParaRPr lang="en-US" sz="1400" dirty="0"/>
          </a:p>
        </p:txBody>
      </p:sp>
      <p:sp>
        <p:nvSpPr>
          <p:cNvPr id="8" name="Drift check heading"/>
          <p:cNvSpPr txBox="1"/>
          <p:nvPr/>
        </p:nvSpPr>
        <p:spPr>
          <a:xfrm>
            <a:off x="7818120" y="4069080"/>
            <a:ext cx="3822192" cy="365760"/>
          </a:xfrm>
          <a:prstGeom prst="rect">
            <a:avLst/>
          </a:prstGeom>
          <a:noFill/>
          <a:ln/>
        </p:spPr>
        <p:txBody>
          <a:bodyPr wrap="square" lIns="0" tIns="0" rIns="0" bIns="0" rtlCol="0" anchor="t"/>
          <a:lstStyle/>
          <a:p>
            <a:pPr indent="0" marL="0">
              <a:buNone/>
            </a:pPr>
            <a:r>
              <a:rPr lang="en-US" sz="1800" b="1" dirty="0">
                <a:solidFill>
                  <a:schemeClr val="bg2"/>
                </a:solidFill>
              </a:rPr>
              <a:t>Drift check</a:t>
            </a:r>
            <a:endParaRPr lang="en-US" sz="1800" dirty="0"/>
          </a:p>
        </p:txBody>
      </p:sp>
      <p:sp>
        <p:nvSpPr>
          <p:cNvPr id="9" name="Drift check detail"/>
          <p:cNvSpPr txBox="1"/>
          <p:nvPr/>
        </p:nvSpPr>
        <p:spPr>
          <a:xfrm>
            <a:off x="7818120" y="4480560"/>
            <a:ext cx="3822192" cy="8229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the OpenAPI spec is committed, and a test fails the build when the code no longer matches it</a:t>
            </a:r>
            <a:endParaRPr lang="en-US" sz="1400" dirty="0"/>
          </a:p>
        </p:txBody>
      </p:sp>
      <p:sp>
        <p:nvSpPr>
          <p:cNvPr id="11"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seven web addresses do everything, and the build fails if the documentation drifts from the code.</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SCENARIO 1 OF 5</a:t>
            </a:r>
            <a:endParaRPr lang="en-US" sz="1200" dirty="0"/>
          </a:p>
        </p:txBody>
      </p:sp>
      <p:sp>
        <p:nvSpPr>
          <p:cNvPr id="3" name="Text 0"/>
          <p:cNvSpPr/>
          <p:nvPr>
            <p:ph idx="101"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n-US" sz="3200" b="1" dirty="0">
                <a:solidFill>
                  <a:schemeClr val="bg2"/>
                </a:solidFill>
              </a:rPr>
              <a:t>Two shoppers, one last pair</a:t>
            </a:r>
            <a:endParaRPr lang="en-US" sz="3200" dirty="0"/>
          </a:p>
        </p:txBody>
      </p:sp>
      <p:sp>
        <p:nvSpPr>
          <p:cNvPr id="5" name="Naive card"/>
          <p:cNvSpPr/>
          <p:nvPr/>
        </p:nvSpPr>
        <p:spPr>
          <a:xfrm>
            <a:off x="548640" y="1600200"/>
            <a:ext cx="5431536" cy="2606040"/>
          </a:xfrm>
          <a:prstGeom prst="roundRect">
            <a:avLst>
              <a:gd name="adj" fmla="val 4211"/>
            </a:avLst>
          </a:prstGeom>
          <a:solidFill>
            <a:schemeClr val="tx2"/>
          </a:solidFill>
          <a:ln w="15875">
            <a:solidFill>
              <a:srgbClr val="2A3449"/>
            </a:solidFill>
            <a:prstDash val="solid"/>
          </a:ln>
        </p:spPr>
      </p:sp>
      <p:sp>
        <p:nvSpPr>
          <p:cNvPr id="6" name="Naive heading"/>
          <p:cNvSpPr txBox="1"/>
          <p:nvPr/>
        </p:nvSpPr>
        <p:spPr>
          <a:xfrm>
            <a:off x="822960" y="1783080"/>
            <a:ext cx="4937760" cy="365760"/>
          </a:xfrm>
          <a:prstGeom prst="rect">
            <a:avLst/>
          </a:prstGeom>
          <a:noFill/>
          <a:ln/>
        </p:spPr>
        <p:txBody>
          <a:bodyPr wrap="square" lIns="0" tIns="0" rIns="0" bIns="0" rtlCol="0" anchor="t"/>
          <a:lstStyle/>
          <a:p>
            <a:pPr indent="0" marL="0">
              <a:buNone/>
            </a:pPr>
            <a:r>
              <a:rPr lang="en-US" sz="1800" b="1" dirty="0">
                <a:solidFill>
                  <a:schemeClr val="accent4"/>
                </a:solidFill>
              </a:rPr>
              <a:t>Read, then write (naive)</a:t>
            </a:r>
            <a:endParaRPr lang="en-US" sz="1800" dirty="0"/>
          </a:p>
        </p:txBody>
      </p:sp>
      <p:sp>
        <p:nvSpPr>
          <p:cNvPr id="7" name="Naive timeline"/>
          <p:cNvSpPr txBox="1"/>
          <p:nvPr/>
        </p:nvSpPr>
        <p:spPr>
          <a:xfrm>
            <a:off x="822960" y="2286000"/>
            <a:ext cx="4937760" cy="173736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T1  SELECT available  → 1</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T2  SELECT available  → 1</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T1  UPDATE available = 0</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T2  UPDATE available = </a:t>
            </a:r>
            <a:pPr indent="0" marL="0">
              <a:lnSpc>
                <a:spcPct val="125000"/>
              </a:lnSpc>
              <a:buNone/>
            </a:pPr>
            <a:r>
              <a:rPr lang="en-US" sz="1400" dirty="0">
                <a:solidFill>
                  <a:schemeClr val="accent4"/>
                </a:solidFill>
                <a:latin typeface="JetBrains Mono" pitchFamily="34" charset="0"/>
                <a:ea typeface="JetBrains Mono" pitchFamily="34" charset="-122"/>
                <a:cs typeface="JetBrains Mono" pitchFamily="34" charset="-120"/>
              </a:rPr>
              <a:t>−1</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oversold</a:t>
            </a:r>
            <a:endParaRPr lang="en-US" sz="1400" dirty="0"/>
          </a:p>
        </p:txBody>
      </p:sp>
      <p:sp>
        <p:nvSpPr>
          <p:cNvPr id="8" name="Conditional card"/>
          <p:cNvSpPr/>
          <p:nvPr/>
        </p:nvSpPr>
        <p:spPr>
          <a:xfrm>
            <a:off x="6208776" y="1600200"/>
            <a:ext cx="5431536" cy="2606040"/>
          </a:xfrm>
          <a:prstGeom prst="roundRect">
            <a:avLst>
              <a:gd name="adj" fmla="val 4211"/>
            </a:avLst>
          </a:prstGeom>
          <a:solidFill>
            <a:schemeClr val="tx2"/>
          </a:solidFill>
          <a:ln w="15875">
            <a:solidFill>
              <a:srgbClr val="2A3449"/>
            </a:solidFill>
            <a:prstDash val="solid"/>
          </a:ln>
        </p:spPr>
      </p:sp>
      <p:sp>
        <p:nvSpPr>
          <p:cNvPr id="9" name="Conditional heading"/>
          <p:cNvSpPr txBox="1"/>
          <p:nvPr/>
        </p:nvSpPr>
        <p:spPr>
          <a:xfrm>
            <a:off x="6483096" y="178308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One conditional UPDATE</a:t>
            </a:r>
            <a:endParaRPr lang="en-US" sz="1800" dirty="0"/>
          </a:p>
        </p:txBody>
      </p:sp>
      <p:sp>
        <p:nvSpPr>
          <p:cNvPr id="10" name="Conditional SQL"/>
          <p:cNvSpPr txBox="1"/>
          <p:nvPr/>
        </p:nvSpPr>
        <p:spPr>
          <a:xfrm>
            <a:off x="6483096" y="2286000"/>
            <a:ext cx="4937760" cy="182880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UPDATE inventory</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SET available = available - :q,</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held = held + :q</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WHERE sku = :sku AND </a:t>
            </a:r>
            <a:pPr indent="0" marL="0">
              <a:lnSpc>
                <a:spcPct val="125000"/>
              </a:lnSpc>
              <a:buNone/>
            </a:pPr>
            <a:r>
              <a:rPr lang="en-US" sz="1400" dirty="0">
                <a:solidFill>
                  <a:schemeClr val="accent1"/>
                </a:solidFill>
                <a:latin typeface="JetBrains Mono" pitchFamily="34" charset="0"/>
                <a:ea typeface="JetBrains Mono" pitchFamily="34" charset="-122"/>
                <a:cs typeface="JetBrains Mono" pitchFamily="34" charset="-120"/>
              </a:rPr>
              <a:t>available &gt;= :q</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RETURNING available, held, sold;</a:t>
            </a:r>
            <a:endParaRPr lang="en-US" sz="1400" dirty="0"/>
          </a:p>
        </p:txBody>
      </p:sp>
      <p:sp>
        <p:nvSpPr>
          <p:cNvPr id="11"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the database checks and takes the last unit in one step, so two buyers can never both get it.</a:t>
            </a:r>
            <a:endParaRPr lang="en-US" sz="1300" dirty="0"/>
          </a:p>
        </p:txBody>
      </p:sp>
      <p:sp>
        <p:nvSpPr>
          <p:cNvPr id="12" name="Explanation"/>
          <p:cNvSpPr txBox="1"/>
          <p:nvPr/>
        </p:nvSpPr>
        <p:spPr>
          <a:xfrm>
            <a:off x="548640" y="4434840"/>
            <a:ext cx="11091672" cy="822960"/>
          </a:xfrm>
          <a:prstGeom prst="rect">
            <a:avLst/>
          </a:prstGeom>
          <a:noFill/>
          <a:ln/>
        </p:spPr>
        <p:txBody>
          <a:bodyPr wrap="square" lIns="0" tIns="0" rIns="0" bIns="0" rtlCol="0" anchor="t"/>
          <a:lstStyle/>
          <a:p>
            <a:pPr indent="0" marL="0">
              <a:lnSpc>
                <a:spcPct val="115000"/>
              </a:lnSpc>
              <a:buNone/>
            </a:pPr>
            <a:r>
              <a:rPr lang="en-US" sz="1600" dirty="0">
                <a:solidFill>
                  <a:schemeClr val="accent5"/>
                </a:solidFill>
              </a:rPr>
              <a:t>T2 waits on T1's row lock. PostgreSQL then re-checks the WHERE clause against the committed row, matches nothing, and T2 gets 409 INSUFFICIENT_STOCK. No application locks, so it holds across every server.</a:t>
            </a:r>
            <a:endParaRPr lang="en-US" sz="16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SCENARIO 2 OF 5</a:t>
            </a:r>
            <a:endParaRPr lang="en-US" sz="1200" dirty="0"/>
          </a:p>
        </p:txBody>
      </p:sp>
      <p:sp>
        <p:nvSpPr>
          <p:cNvPr id="3" name="Text 0"/>
          <p:cNvSpPr/>
          <p:nvPr>
            <p:ph idx="101"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n-US" sz="3200" b="1" dirty="0">
                <a:solidFill>
                  <a:schemeClr val="bg2"/>
                </a:solidFill>
              </a:rPr>
              <a:t>The shopper in a tunnel</a:t>
            </a:r>
            <a:endParaRPr lang="en-US" sz="3200" dirty="0"/>
          </a:p>
        </p:txBody>
      </p:sp>
      <p:sp>
        <p:nvSpPr>
          <p:cNvPr id="5" name="Insert card"/>
          <p:cNvSpPr/>
          <p:nvPr/>
        </p:nvSpPr>
        <p:spPr>
          <a:xfrm>
            <a:off x="548640" y="1600200"/>
            <a:ext cx="4754880" cy="2697480"/>
          </a:xfrm>
          <a:prstGeom prst="roundRect">
            <a:avLst>
              <a:gd name="adj" fmla="val 4068"/>
            </a:avLst>
          </a:prstGeom>
          <a:solidFill>
            <a:schemeClr val="tx2"/>
          </a:solidFill>
          <a:ln w="15875">
            <a:solidFill>
              <a:srgbClr val="2A3449"/>
            </a:solidFill>
            <a:prstDash val="solid"/>
          </a:ln>
        </p:spPr>
      </p:sp>
      <p:sp>
        <p:nvSpPr>
          <p:cNvPr id="6" name="Insert caption"/>
          <p:cNvSpPr txBox="1"/>
          <p:nvPr/>
        </p:nvSpPr>
        <p:spPr>
          <a:xfrm>
            <a:off x="822960" y="1783080"/>
            <a:ext cx="4297680" cy="320040"/>
          </a:xfrm>
          <a:prstGeom prst="rect">
            <a:avLst/>
          </a:prstGeom>
          <a:noFill/>
          <a:ln/>
        </p:spPr>
        <p:txBody>
          <a:bodyPr wrap="square" lIns="0" tIns="0" rIns="0" bIns="0" rtlCol="0" anchor="t"/>
          <a:lstStyle/>
          <a:p>
            <a:pPr indent="0" marL="0">
              <a:buNone/>
            </a:pPr>
            <a:r>
              <a:rPr lang="en-US" sz="1300" dirty="0">
                <a:solidFill>
                  <a:schemeClr val="accent6"/>
                </a:solidFill>
              </a:rPr>
              <a:t>First statement of the same transaction</a:t>
            </a:r>
            <a:endParaRPr lang="en-US" sz="1300" dirty="0"/>
          </a:p>
        </p:txBody>
      </p:sp>
      <p:sp>
        <p:nvSpPr>
          <p:cNvPr id="7" name="Insert SQL"/>
          <p:cNvSpPr txBox="1"/>
          <p:nvPr/>
        </p:nvSpPr>
        <p:spPr>
          <a:xfrm>
            <a:off x="822960" y="2194560"/>
            <a:ext cx="4297680" cy="192024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INSERT INTO idempotency_record</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(merchant_id, operation,</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idempotency_key, request_hash)</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VALUES (…)</a:t>
            </a:r>
            <a:endParaRPr lang="en-US" sz="1400" dirty="0"/>
          </a:p>
          <a:p>
            <a:pPr indent="0" marL="0">
              <a:lnSpc>
                <a:spcPct val="125000"/>
              </a:lnSpc>
              <a:buNone/>
            </a:pPr>
            <a:r>
              <a:rPr lang="en-US" sz="1400" dirty="0">
                <a:solidFill>
                  <a:schemeClr val="accent3"/>
                </a:solidFill>
                <a:latin typeface="JetBrains Mono" pitchFamily="34" charset="0"/>
                <a:ea typeface="JetBrains Mono" pitchFamily="34" charset="-122"/>
                <a:cs typeface="JetBrains Mono" pitchFamily="34" charset="-120"/>
              </a:rPr>
              <a:t>ON CONFLICT DO NOTHING;</a:t>
            </a:r>
            <a:endParaRPr lang="en-US" sz="1400" dirty="0"/>
          </a:p>
        </p:txBody>
      </p:sp>
      <p:sp>
        <p:nvSpPr>
          <p:cNvPr id="8"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if the same request arrives twice, the second gets the first answer instead of a second reservation.</a:t>
            </a:r>
            <a:endParaRPr lang="en-US" sz="1300" dirty="0"/>
          </a:p>
        </p:txBody>
      </p:sp>
      <p:graphicFrame>
        <p:nvGraphicFramePr>
          <p:cNvPr id="8" name="Retry cases"/>
          <p:cNvGraphicFramePr>
            <a:graphicFrameLocks noGrp="1"/>
          </p:cNvGraphicFramePr>
          <p:nvPr>
            <p:extLst>
              <p:ext uri="{D42A27DB-BD31-4B8C-83A1-F6EECF244321}">
                <p14:modId xmlns:p14="http://schemas.microsoft.com/office/powerpoint/2010/main" val="1579011935"/>
              </p:ext>
            </p:extLst>
          </p:nvPr>
        </p:nvGraphicFramePr>
        <p:xfrm>
          <a:off x="5532120" y="1600200"/>
          <a:ext cx="6108192" cy="914400"/>
        </p:xfrm>
        <a:graphic>
          <a:graphicData uri="http://schemas.openxmlformats.org/drawingml/2006/table">
            <a:tbl>
              <a:tblPr/>
              <a:tblGrid>
                <a:gridCol w="2423160"/>
                <a:gridCol w="3685032"/>
              </a:tblGrid>
              <a:tr h="0">
                <a:tc>
                  <a:txBody>
                    <a:bodyPr/>
                    <a:lstStyle/>
                    <a:p>
                      <a:pPr indent="0" marL="0">
                        <a:buNone/>
                      </a:pPr>
                      <a:r>
                        <a:rPr lang="en-US" sz="1400" b="1" dirty="0">
                          <a:solidFill>
                            <a:schemeClr val="bg2"/>
                          </a:solidFill>
                        </a:rPr>
                        <a:t>Situation</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Result</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bg2"/>
                          </a:solidFill>
                        </a:rPr>
                        <a:t>Retry after the response was lost</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Stored response replayed, header Idempotent-Replayed: true</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50 copies at the same moment</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Copies wait on the key, then replay: 1 reservation</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Same key, different body</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409 IDEMPOTENCY_KEY_REUSED</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First attempt failed with 500</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Record rolled back too; the retry runs fresh</a:t>
                      </a:r>
                      <a:endParaRPr lang="en-US" sz="1400" dirty="0"/>
                    </a:p>
                  </a:txBody>
                  <a:tcPr marL="101600" marR="1016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SCENARIO 3 OF 5</a:t>
            </a:r>
            <a:endParaRPr lang="en-US" sz="1200" dirty="0"/>
          </a:p>
        </p:txBody>
      </p:sp>
      <p:sp>
        <p:nvSpPr>
          <p:cNvPr id="3" name="Text 0"/>
          <p:cNvSpPr/>
          <p:nvPr>
            <p:ph idx="101"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n-US" sz="3200" b="1" dirty="0">
                <a:solidFill>
                  <a:schemeClr val="bg2"/>
                </a:solidFill>
              </a:rPr>
              <a:t>Paying at the last millisecond</a:t>
            </a:r>
            <a:endParaRPr lang="en-US" sz="3200" dirty="0"/>
          </a:p>
        </p:txBody>
      </p:sp>
      <p:sp>
        <p:nvSpPr>
          <p:cNvPr id="5" name="Example"/>
          <p:cNvSpPr txBox="1"/>
          <p:nvPr/>
        </p:nvSpPr>
        <p:spPr>
          <a:xfrm>
            <a:off x="548640" y="1508760"/>
            <a:ext cx="11091672" cy="457200"/>
          </a:xfrm>
          <a:prstGeom prst="rect">
            <a:avLst/>
          </a:prstGeom>
          <a:noFill/>
          <a:ln/>
        </p:spPr>
        <p:txBody>
          <a:bodyPr wrap="square" lIns="0" tIns="0" rIns="0" bIns="0" rtlCol="0" anchor="t"/>
          <a:lstStyle/>
          <a:p>
            <a:pPr indent="0" marL="0">
              <a:buNone/>
            </a:pPr>
            <a:r>
              <a:rPr lang="en-US" sz="1600" dirty="0">
                <a:solidFill>
                  <a:schemeClr val="accent5"/>
                </a:solidFill>
              </a:rPr>
              <a:t>Example: the hold expires at 10:10:00.000. Payment finishes at 10:09:59.990, then the confirm waits 15 ms for a row lock.</a:t>
            </a:r>
            <a:endParaRPr lang="en-US" sz="1600" dirty="0"/>
          </a:p>
        </p:txBody>
      </p:sp>
      <p:sp>
        <p:nvSpPr>
          <p:cNvPr id="6" name="Confirm SQL card"/>
          <p:cNvSpPr/>
          <p:nvPr/>
        </p:nvSpPr>
        <p:spPr>
          <a:xfrm>
            <a:off x="548640" y="2103120"/>
            <a:ext cx="11091672" cy="1280160"/>
          </a:xfrm>
          <a:prstGeom prst="roundRect">
            <a:avLst>
              <a:gd name="adj" fmla="val 8571"/>
            </a:avLst>
          </a:prstGeom>
          <a:solidFill>
            <a:schemeClr val="tx2"/>
          </a:solidFill>
          <a:ln w="15875">
            <a:solidFill>
              <a:srgbClr val="2A3449"/>
            </a:solidFill>
            <a:prstDash val="solid"/>
          </a:ln>
        </p:spPr>
      </p:sp>
      <p:sp>
        <p:nvSpPr>
          <p:cNvPr id="7" name="Confirm SQL"/>
          <p:cNvSpPr txBox="1"/>
          <p:nvPr/>
        </p:nvSpPr>
        <p:spPr>
          <a:xfrm>
            <a:off x="822960" y="2286000"/>
            <a:ext cx="10607040" cy="100584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SELECT … FROM reservation WHERE id = :id FOR UPDATE;  </a:t>
            </a:r>
            <a:pPr indent="0" marL="0">
              <a:lnSpc>
                <a:spcPct val="125000"/>
              </a:lnSpc>
              <a:buNone/>
            </a:pPr>
            <a:r>
              <a:rPr lang="en-US" sz="1400" dirty="0">
                <a:solidFill>
                  <a:schemeClr val="accent6"/>
                </a:solidFill>
                <a:latin typeface="JetBrains Mono" pitchFamily="34" charset="0"/>
                <a:ea typeface="JetBrains Mono" pitchFamily="34" charset="-122"/>
                <a:cs typeface="JetBrains Mono" pitchFamily="34" charset="-120"/>
              </a:rPr>
              <a:t>-- wait for the lock</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UPDATE reservation SET status = 'CONFIRMED', resolved_at = clock_timestamp()</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WHERE id = :id AND </a:t>
            </a:r>
            <a:pPr indent="0" marL="0">
              <a:lnSpc>
                <a:spcPct val="125000"/>
              </a:lnSpc>
              <a:buNone/>
            </a:pPr>
            <a:r>
              <a:rPr lang="en-US" sz="1400" dirty="0">
                <a:solidFill>
                  <a:schemeClr val="accent1"/>
                </a:solidFill>
                <a:latin typeface="JetBrains Mono" pitchFamily="34" charset="0"/>
                <a:ea typeface="JetBrains Mono" pitchFamily="34" charset="-122"/>
                <a:cs typeface="JetBrains Mono" pitchFamily="34" charset="-120"/>
              </a:rPr>
              <a:t>clock_timestamp() &lt; expires_at</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a:t>
            </a:r>
            <a:pPr indent="0" marL="0">
              <a:lnSpc>
                <a:spcPct val="125000"/>
              </a:lnSpc>
              <a:buNone/>
            </a:pPr>
            <a:r>
              <a:rPr lang="en-US" sz="1400" dirty="0">
                <a:solidFill>
                  <a:schemeClr val="accent6"/>
                </a:solidFill>
                <a:latin typeface="JetBrains Mono" pitchFamily="34" charset="0"/>
                <a:ea typeface="JetBrains Mono" pitchFamily="34" charset="-122"/>
                <a:cs typeface="JetBrains Mono" pitchFamily="34" charset="-120"/>
              </a:rPr>
              <a:t>-- time read after the lock</a:t>
            </a:r>
            <a:endParaRPr lang="en-US" sz="1400" dirty="0"/>
          </a:p>
        </p:txBody>
      </p:sp>
      <p:sp>
        <p:nvSpPr>
          <p:cNvPr id="8" name="now card"/>
          <p:cNvSpPr/>
          <p:nvPr/>
        </p:nvSpPr>
        <p:spPr>
          <a:xfrm>
            <a:off x="548640" y="3611880"/>
            <a:ext cx="5431536" cy="1371600"/>
          </a:xfrm>
          <a:prstGeom prst="roundRect">
            <a:avLst>
              <a:gd name="adj" fmla="val 8000"/>
            </a:avLst>
          </a:prstGeom>
          <a:solidFill>
            <a:srgbClr val="0E1320"/>
          </a:solidFill>
          <a:ln w="19050">
            <a:solidFill>
              <a:schemeClr val="accent4"/>
            </a:solidFill>
            <a:prstDash val="solid"/>
          </a:ln>
        </p:spPr>
      </p:sp>
      <p:sp>
        <p:nvSpPr>
          <p:cNvPr id="9" name="now heading"/>
          <p:cNvSpPr txBox="1"/>
          <p:nvPr/>
        </p:nvSpPr>
        <p:spPr>
          <a:xfrm>
            <a:off x="777240" y="3749040"/>
            <a:ext cx="4983480" cy="365760"/>
          </a:xfrm>
          <a:prstGeom prst="rect">
            <a:avLst/>
          </a:prstGeom>
          <a:noFill/>
          <a:ln/>
        </p:spPr>
        <p:txBody>
          <a:bodyPr wrap="square" lIns="0" tIns="0" rIns="0" bIns="0" rtlCol="0" anchor="t"/>
          <a:lstStyle/>
          <a:p>
            <a:pPr indent="0" marL="0">
              <a:buNone/>
            </a:pPr>
            <a:r>
              <a:rPr lang="en-US" sz="1700" b="1" dirty="0">
                <a:solidFill>
                  <a:schemeClr val="accent4"/>
                </a:solidFill>
              </a:rPr>
              <a:t>now(): rejected design</a:t>
            </a:r>
            <a:endParaRPr lang="en-US" sz="1700" dirty="0"/>
          </a:p>
        </p:txBody>
      </p:sp>
      <p:sp>
        <p:nvSpPr>
          <p:cNvPr id="10" name="now detail"/>
          <p:cNvSpPr txBox="1"/>
          <p:nvPr/>
        </p:nvSpPr>
        <p:spPr>
          <a:xfrm>
            <a:off x="777240" y="4160520"/>
            <a:ext cx="4983480" cy="594360"/>
          </a:xfrm>
          <a:prstGeom prst="rect">
            <a:avLst/>
          </a:prstGeom>
          <a:noFill/>
          <a:ln/>
        </p:spPr>
        <p:txBody>
          <a:bodyPr wrap="square" lIns="0" tIns="0" rIns="0" bIns="0" rtlCol="0" anchor="t"/>
          <a:lstStyle/>
          <a:p>
            <a:pPr indent="0" marL="0">
              <a:buNone/>
            </a:pPr>
            <a:r>
              <a:rPr lang="en-US" sz="1400" dirty="0">
                <a:solidFill>
                  <a:schemeClr val="accent5"/>
                </a:solidFill>
              </a:rPr>
              <a:t>Returns the transaction's start time, so the late confirm would be accepted.</a:t>
            </a:r>
            <a:endParaRPr lang="en-US" sz="1400" dirty="0"/>
          </a:p>
        </p:txBody>
      </p:sp>
      <p:sp>
        <p:nvSpPr>
          <p:cNvPr id="11" name="clock card"/>
          <p:cNvSpPr/>
          <p:nvPr/>
        </p:nvSpPr>
        <p:spPr>
          <a:xfrm>
            <a:off x="6208776" y="3611880"/>
            <a:ext cx="5431536" cy="1371600"/>
          </a:xfrm>
          <a:prstGeom prst="roundRect">
            <a:avLst>
              <a:gd name="adj" fmla="val 8000"/>
            </a:avLst>
          </a:prstGeom>
          <a:solidFill>
            <a:srgbClr val="0E1320"/>
          </a:solidFill>
          <a:ln w="19050">
            <a:solidFill>
              <a:schemeClr val="accent1"/>
            </a:solidFill>
            <a:prstDash val="solid"/>
          </a:ln>
        </p:spPr>
      </p:sp>
      <p:sp>
        <p:nvSpPr>
          <p:cNvPr id="12" name="clock heading"/>
          <p:cNvSpPr txBox="1"/>
          <p:nvPr/>
        </p:nvSpPr>
        <p:spPr>
          <a:xfrm>
            <a:off x="6437376" y="3749040"/>
            <a:ext cx="4983480" cy="365760"/>
          </a:xfrm>
          <a:prstGeom prst="rect">
            <a:avLst/>
          </a:prstGeom>
          <a:noFill/>
          <a:ln/>
        </p:spPr>
        <p:txBody>
          <a:bodyPr wrap="square" lIns="0" tIns="0" rIns="0" bIns="0" rtlCol="0" anchor="t"/>
          <a:lstStyle/>
          <a:p>
            <a:pPr indent="0" marL="0">
              <a:buNone/>
            </a:pPr>
            <a:r>
              <a:rPr lang="en-US" sz="1700" b="1" dirty="0">
                <a:solidFill>
                  <a:schemeClr val="accent1"/>
                </a:solidFill>
              </a:rPr>
              <a:t>clock_timestamp(): used</a:t>
            </a:r>
            <a:endParaRPr lang="en-US" sz="1700" dirty="0"/>
          </a:p>
        </p:txBody>
      </p:sp>
      <p:sp>
        <p:nvSpPr>
          <p:cNvPr id="13" name="clock detail"/>
          <p:cNvSpPr txBox="1"/>
          <p:nvPr/>
        </p:nvSpPr>
        <p:spPr>
          <a:xfrm>
            <a:off x="6437376" y="4160520"/>
            <a:ext cx="4983480" cy="731520"/>
          </a:xfrm>
          <a:prstGeom prst="rect">
            <a:avLst/>
          </a:prstGeom>
          <a:noFill/>
          <a:ln/>
        </p:spPr>
        <p:txBody>
          <a:bodyPr wrap="square" lIns="0" tIns="0" rIns="0" bIns="0" rtlCol="0" anchor="t"/>
          <a:lstStyle/>
          <a:p>
            <a:pPr indent="0" marL="0">
              <a:buNone/>
            </a:pPr>
            <a:r>
              <a:rPr lang="en-US" sz="1400" dirty="0">
                <a:solidFill>
                  <a:schemeClr val="accent5"/>
                </a:solidFill>
              </a:rPr>
              <a:t>Read after the lock, so the 15 ms count: 409 RESERVATION_EXPIRED, and the overdue hold is released on the spot.</a:t>
            </a:r>
            <a:endParaRPr lang="en-US" sz="1400" dirty="0"/>
          </a:p>
        </p:txBody>
      </p:sp>
      <p:sp>
        <p:nvSpPr>
          <p:cNvPr id="14" name="Boundary test"/>
          <p:cNvSpPr txBox="1"/>
          <p:nvPr/>
        </p:nvSpPr>
        <p:spPr>
          <a:xfrm>
            <a:off x="548640" y="5212080"/>
            <a:ext cx="11091672" cy="548640"/>
          </a:xfrm>
          <a:prstGeom prst="rect">
            <a:avLst/>
          </a:prstGeom>
          <a:noFill/>
          <a:ln/>
        </p:spPr>
        <p:txBody>
          <a:bodyPr wrap="square" lIns="0" tIns="0" rIns="0" bIns="0" rtlCol="0" anchor="t"/>
          <a:lstStyle/>
          <a:p>
            <a:pPr indent="0" marL="0">
              <a:buNone/>
            </a:pPr>
            <a:r>
              <a:rPr lang="en-US" sz="1400" dirty="0">
                <a:solidFill>
                  <a:schemeClr val="accent6"/>
                </a:solidFill>
              </a:rPr>
              <a:t>Boundary test, 7 runs: 30 holds expiring 30 ms ahead, confirms and workers released together. Every hold ended CONFIRMED or EXPIRED, never both.</a:t>
            </a:r>
            <a:endParaRPr lang="en-US" sz="1400" dirty="0"/>
          </a:p>
        </p:txBody>
      </p:sp>
      <p:sp>
        <p:nvSpPr>
          <p:cNvPr id="15"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the deadline is judged by the database clock at the moment of the change, and a late request releases the hold.</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SCENARIO 4 OF 5</a:t>
            </a:r>
            <a:endParaRPr lang="en-US" sz="1200" dirty="0"/>
          </a:p>
        </p:txBody>
      </p:sp>
      <p:sp>
        <p:nvSpPr>
          <p:cNvPr id="3" name="Text 0"/>
          <p:cNvSpPr/>
          <p:nvPr>
            <p:ph idx="101"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n-US" sz="3200" b="1" dirty="0">
                <a:solidFill>
                  <a:schemeClr val="bg2"/>
                </a:solidFill>
              </a:rPr>
              <a:t>Abandoned carts, many workers</a:t>
            </a:r>
            <a:endParaRPr lang="en-US" sz="3200" dirty="0"/>
          </a:p>
        </p:txBody>
      </p:sp>
      <p:sp>
        <p:nvSpPr>
          <p:cNvPr id="5"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a cleanup job on every server puts abandoned holds back on the shelf, and two jobs never grab the same hold.</a:t>
            </a:r>
            <a:endParaRPr lang="en-US" sz="1300" dirty="0"/>
          </a:p>
        </p:txBody>
      </p:sp>
      <p:sp>
        <p:nvSpPr>
          <p:cNvPr id="6" name="Worker SQL card"/>
          <p:cNvSpPr/>
          <p:nvPr/>
        </p:nvSpPr>
        <p:spPr>
          <a:xfrm>
            <a:off x="548640" y="1600200"/>
            <a:ext cx="5760720" cy="3429000"/>
          </a:xfrm>
          <a:prstGeom prst="roundRect">
            <a:avLst>
              <a:gd name="adj" fmla="val 3200"/>
            </a:avLst>
          </a:prstGeom>
          <a:solidFill>
            <a:schemeClr val="tx2"/>
          </a:solidFill>
          <a:ln w="15875">
            <a:solidFill>
              <a:srgbClr val="2A3449"/>
            </a:solidFill>
            <a:prstDash val="solid"/>
          </a:ln>
        </p:spPr>
      </p:sp>
      <p:sp>
        <p:nvSpPr>
          <p:cNvPr id="7" name="Worker SQL"/>
          <p:cNvSpPr txBox="1"/>
          <p:nvPr/>
        </p:nvSpPr>
        <p:spPr>
          <a:xfrm>
            <a:off x="822960" y="1810512"/>
            <a:ext cx="5303520" cy="310896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WITH due AS (</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SELECT id FROM reservation</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WHERE status = 'ACTIVE'</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AND expires_at &lt;= now()</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ORDER BY expires_at LIMIT 100</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  </a:t>
            </a:r>
            <a:pPr indent="0" marL="0">
              <a:lnSpc>
                <a:spcPct val="125000"/>
              </a:lnSpc>
              <a:buNone/>
            </a:pPr>
            <a:r>
              <a:rPr lang="en-US" sz="1400" dirty="0">
                <a:solidFill>
                  <a:schemeClr val="accent2"/>
                </a:solidFill>
                <a:latin typeface="JetBrains Mono" pitchFamily="34" charset="0"/>
                <a:ea typeface="JetBrains Mono" pitchFamily="34" charset="-122"/>
                <a:cs typeface="JetBrains Mono" pitchFamily="34" charset="-120"/>
              </a:rPr>
              <a:t>FOR UPDATE SKIP LOCKED</a:t>
            </a:r>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UPDATE reservation r</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SET status = 'EXPIRED', resolved_at = now()</a:t>
            </a:r>
            <a:endParaRPr lang="en-US" sz="1400" dirty="0"/>
          </a:p>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FROM due WHERE r.id = due.id;</a:t>
            </a:r>
            <a:endParaRPr lang="en-US" sz="1400" dirty="0"/>
          </a:p>
        </p:txBody>
      </p:sp>
      <p:sp>
        <p:nvSpPr>
          <p:cNvPr id="8" name="Worker facts"/>
          <p:cNvSpPr txBox="1"/>
          <p:nvPr/>
        </p:nvSpPr>
        <p:spPr>
          <a:xfrm>
            <a:off x="6583680" y="1600200"/>
            <a:ext cx="5056632"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5"/>
                </a:solidFill>
              </a:rPr>
              <a:t>Runs every second on every instance</a:t>
            </a:r>
            <a:endParaRPr lang="en-US" sz="1600" dirty="0"/>
          </a:p>
          <a:p>
            <a:pPr marL="342900" indent="-342900">
              <a:spcAft>
                <a:spcPts val="800"/>
              </a:spcAft>
              <a:buSzPct val="100000"/>
              <a:buChar char="•"/>
            </a:pPr>
            <a:r>
              <a:rPr lang="en-US" sz="1600" dirty="0">
                <a:solidFill>
                  <a:schemeClr val="accent5"/>
                </a:solidFill>
              </a:rPr>
              <a:t>Each batch of up to 100 is one transaction</a:t>
            </a:r>
            <a:endParaRPr lang="en-US" sz="1600" dirty="0"/>
          </a:p>
          <a:p>
            <a:pPr marL="342900" indent="-342900">
              <a:spcAft>
                <a:spcPts val="800"/>
              </a:spcAft>
              <a:buSzPct val="100000"/>
              <a:buChar char="•"/>
            </a:pPr>
            <a:r>
              <a:rPr lang="en-US" sz="1600" dirty="0">
                <a:solidFill>
                  <a:schemeClr val="accent5"/>
                </a:solidFill>
              </a:rPr>
              <a:t>Stock goes back in ascending row id, so two workers never deadlock</a:t>
            </a:r>
            <a:endParaRPr lang="en-US" sz="1600" dirty="0"/>
          </a:p>
          <a:p>
            <a:pPr marL="342900" indent="-342900">
              <a:spcAft>
                <a:spcPts val="800"/>
              </a:spcAft>
              <a:buSzPct val="100000"/>
              <a:buChar char="•"/>
            </a:pPr>
            <a:r>
              <a:rPr lang="en-US" sz="1600" dirty="0">
                <a:solidFill>
                  <a:schemeClr val="accent5"/>
                </a:solidFill>
              </a:rPr>
              <a:t>No leases and no in-memory timers</a:t>
            </a:r>
            <a:endParaRPr lang="en-US" sz="1600" dirty="0"/>
          </a:p>
        </p:txBody>
      </p:sp>
      <p:sp>
        <p:nvSpPr>
          <p:cNvPr id="9" name="Worker result card"/>
          <p:cNvSpPr/>
          <p:nvPr/>
        </p:nvSpPr>
        <p:spPr>
          <a:xfrm>
            <a:off x="6583680" y="4023360"/>
            <a:ext cx="5056632" cy="1005840"/>
          </a:xfrm>
          <a:prstGeom prst="roundRect">
            <a:avLst>
              <a:gd name="adj" fmla="val 10909"/>
            </a:avLst>
          </a:prstGeom>
          <a:solidFill>
            <a:schemeClr val="tx2"/>
          </a:solidFill>
          <a:ln w="19050">
            <a:solidFill>
              <a:schemeClr val="accent2"/>
            </a:solidFill>
            <a:prstDash val="solid"/>
          </a:ln>
        </p:spPr>
      </p:sp>
      <p:sp>
        <p:nvSpPr>
          <p:cNvPr id="10" name="Worker result"/>
          <p:cNvSpPr txBox="1"/>
          <p:nvPr/>
        </p:nvSpPr>
        <p:spPr>
          <a:xfrm>
            <a:off x="6812280" y="4187952"/>
            <a:ext cx="4617720" cy="731520"/>
          </a:xfrm>
          <a:prstGeom prst="rect">
            <a:avLst/>
          </a:prstGeom>
          <a:noFill/>
          <a:ln/>
        </p:spPr>
        <p:txBody>
          <a:bodyPr wrap="square" lIns="0" tIns="0" rIns="0" bIns="0" rtlCol="0" anchor="t"/>
          <a:lstStyle/>
          <a:p>
            <a:pPr indent="0" marL="0">
              <a:buNone/>
            </a:pPr>
            <a:r>
              <a:rPr lang="en-US" sz="1500" dirty="0">
                <a:solidFill>
                  <a:schemeClr val="bg2"/>
                </a:solidFill>
              </a:rPr>
              <a:t>4 workers, 200 due holds: each expired exactly once, split 60 / 40 / 50 / 50.</a:t>
            </a:r>
            <a:endParaRPr lang="en-US" sz="15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1672" cy="320040"/>
          </a:xfrm>
          <a:prstGeom prst="rect">
            <a:avLst/>
          </a:prstGeom>
          <a:noFill/>
          <a:ln/>
        </p:spPr>
        <p:txBody>
          <a:bodyPr wrap="square" lIns="0" tIns="0" rIns="0" bIns="0" rtlCol="0"/>
          <a:lstStyle/>
          <a:p>
            <a:pPr algn="l" indent="0" marL="0">
              <a:buNone/>
            </a:pPr>
            <a:r>
              <a:rPr lang="en-US" sz="1200" b="1" spc="300" kern="0" dirty="0">
                <a:solidFill>
                  <a:schemeClr val="accent3"/>
                </a:solidFill>
              </a:rPr>
              <a:t>SCENARIO 5 OF 5</a:t>
            </a:r>
            <a:endParaRPr lang="en-US" sz="1200" dirty="0"/>
          </a:p>
        </p:txBody>
      </p:sp>
      <p:sp>
        <p:nvSpPr>
          <p:cNvPr id="3" name="Text 0"/>
          <p:cNvSpPr/>
          <p:nvPr>
            <p:ph idx="101" type="title" hasCustomPrompt="1"/>
          </p:nvPr>
        </p:nvSpPr>
        <p:spPr>
          <a:xfrm>
            <a:off x="548640" y="658368"/>
            <a:ext cx="11091672" cy="685800"/>
          </a:xfrm>
          <a:prstGeom prst="rect">
            <a:avLst/>
          </a:prstGeom>
          <a:noFill/>
          <a:ln/>
        </p:spPr>
        <p:txBody>
          <a:bodyPr wrap="square" lIns="0" tIns="0" rIns="0" bIns="0" rtlCol="0" anchor="t"/>
          <a:lstStyle/>
          <a:p>
            <a:pPr algn="l" indent="0" marL="0">
              <a:buNone/>
            </a:pPr>
            <a:r>
              <a:rPr lang="en-US" sz="3200" b="1" dirty="0">
                <a:solidFill>
                  <a:schemeClr val="bg2"/>
                </a:solidFill>
              </a:rPr>
              <a:t>Pull the plug on every server</a:t>
            </a:r>
            <a:endParaRPr lang="en-US" sz="3200" dirty="0"/>
          </a:p>
        </p:txBody>
      </p:sp>
      <p:sp>
        <p:nvSpPr>
          <p:cNvPr id="5"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even if every server is killed at the worst moment, nothing is lost and nothing is counted twice.</a:t>
            </a:r>
            <a:endParaRPr lang="en-US" sz="1300" dirty="0"/>
          </a:p>
        </p:txBody>
      </p:sp>
      <p:sp>
        <p:nvSpPr>
          <p:cNvPr id="6" name="Stat 1"/>
          <p:cNvSpPr/>
          <p:nvPr/>
        </p:nvSpPr>
        <p:spPr>
          <a:xfrm>
            <a:off x="548640" y="1645920"/>
            <a:ext cx="2606040" cy="1783080"/>
          </a:xfrm>
          <a:prstGeom prst="roundRect">
            <a:avLst>
              <a:gd name="adj" fmla="val 6154"/>
            </a:avLst>
          </a:prstGeom>
          <a:solidFill>
            <a:schemeClr val="tx2"/>
          </a:solidFill>
          <a:ln w="15875">
            <a:solidFill>
              <a:srgbClr val="2A3449"/>
            </a:solidFill>
            <a:prstDash val="solid"/>
          </a:ln>
        </p:spPr>
      </p:sp>
      <p:sp>
        <p:nvSpPr>
          <p:cNvPr id="7" name="Stat 1 value"/>
          <p:cNvSpPr txBox="1"/>
          <p:nvPr/>
        </p:nvSpPr>
        <p:spPr>
          <a:xfrm>
            <a:off x="777240" y="1810512"/>
            <a:ext cx="2194560" cy="731520"/>
          </a:xfrm>
          <a:prstGeom prst="rect">
            <a:avLst/>
          </a:prstGeom>
          <a:noFill/>
          <a:ln/>
        </p:spPr>
        <p:txBody>
          <a:bodyPr wrap="square" lIns="0" tIns="0" rIns="0" bIns="0" rtlCol="0" anchor="t"/>
          <a:lstStyle/>
          <a:p>
            <a:pPr indent="0" marL="0">
              <a:buNone/>
            </a:pPr>
            <a:r>
              <a:rPr lang="en-US" sz="3600" b="1" dirty="0">
                <a:solidFill>
                  <a:schemeClr val="accent2"/>
                </a:solidFill>
              </a:rPr>
              <a:t>30</a:t>
            </a:r>
            <a:endParaRPr lang="en-US" sz="3600" dirty="0"/>
          </a:p>
        </p:txBody>
      </p:sp>
      <p:sp>
        <p:nvSpPr>
          <p:cNvPr id="8" name="Stat 1 label"/>
          <p:cNvSpPr txBox="1"/>
          <p:nvPr/>
        </p:nvSpPr>
        <p:spPr>
          <a:xfrm>
            <a:off x="777240" y="260604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holds active</a:t>
            </a:r>
            <a:endParaRPr lang="en-US" sz="1400" dirty="0"/>
          </a:p>
        </p:txBody>
      </p:sp>
      <p:sp>
        <p:nvSpPr>
          <p:cNvPr id="9" name="Stat 2"/>
          <p:cNvSpPr/>
          <p:nvPr/>
        </p:nvSpPr>
        <p:spPr>
          <a:xfrm>
            <a:off x="3376879" y="1645920"/>
            <a:ext cx="2606040" cy="1783080"/>
          </a:xfrm>
          <a:prstGeom prst="roundRect">
            <a:avLst>
              <a:gd name="adj" fmla="val 6154"/>
            </a:avLst>
          </a:prstGeom>
          <a:solidFill>
            <a:schemeClr val="tx2"/>
          </a:solidFill>
          <a:ln w="15875">
            <a:solidFill>
              <a:srgbClr val="2A3449"/>
            </a:solidFill>
            <a:prstDash val="solid"/>
          </a:ln>
        </p:spPr>
      </p:sp>
      <p:sp>
        <p:nvSpPr>
          <p:cNvPr id="10" name="Stat 2 value"/>
          <p:cNvSpPr txBox="1"/>
          <p:nvPr/>
        </p:nvSpPr>
        <p:spPr>
          <a:xfrm>
            <a:off x="3605479" y="1810512"/>
            <a:ext cx="2194560" cy="731520"/>
          </a:xfrm>
          <a:prstGeom prst="rect">
            <a:avLst/>
          </a:prstGeom>
          <a:noFill/>
          <a:ln/>
        </p:spPr>
        <p:txBody>
          <a:bodyPr wrap="square" lIns="0" tIns="0" rIns="0" bIns="0" rtlCol="0" anchor="t"/>
          <a:lstStyle/>
          <a:p>
            <a:pPr indent="0" marL="0">
              <a:buNone/>
            </a:pPr>
            <a:r>
              <a:rPr lang="en-US" sz="3600" b="1" dirty="0">
                <a:solidFill>
                  <a:schemeClr val="accent4"/>
                </a:solidFill>
              </a:rPr>
              <a:t>2 / 2</a:t>
            </a:r>
            <a:endParaRPr lang="en-US" sz="3600" dirty="0"/>
          </a:p>
        </p:txBody>
      </p:sp>
      <p:sp>
        <p:nvSpPr>
          <p:cNvPr id="11" name="Stat 2 label"/>
          <p:cNvSpPr txBox="1"/>
          <p:nvPr/>
        </p:nvSpPr>
        <p:spPr>
          <a:xfrm>
            <a:off x="3605479" y="260604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instances killed with SIGKILL</a:t>
            </a:r>
            <a:endParaRPr lang="en-US" sz="1400" dirty="0"/>
          </a:p>
        </p:txBody>
      </p:sp>
      <p:sp>
        <p:nvSpPr>
          <p:cNvPr id="12" name="Stat 3"/>
          <p:cNvSpPr/>
          <p:nvPr/>
        </p:nvSpPr>
        <p:spPr>
          <a:xfrm>
            <a:off x="6205118" y="1645920"/>
            <a:ext cx="2606040" cy="1783080"/>
          </a:xfrm>
          <a:prstGeom prst="roundRect">
            <a:avLst>
              <a:gd name="adj" fmla="val 6154"/>
            </a:avLst>
          </a:prstGeom>
          <a:solidFill>
            <a:schemeClr val="tx2"/>
          </a:solidFill>
          <a:ln w="15875">
            <a:solidFill>
              <a:srgbClr val="2A3449"/>
            </a:solidFill>
            <a:prstDash val="solid"/>
          </a:ln>
        </p:spPr>
      </p:sp>
      <p:sp>
        <p:nvSpPr>
          <p:cNvPr id="13" name="Stat 3 value"/>
          <p:cNvSpPr txBox="1"/>
          <p:nvPr/>
        </p:nvSpPr>
        <p:spPr>
          <a:xfrm>
            <a:off x="6433718" y="1810512"/>
            <a:ext cx="2194560" cy="731520"/>
          </a:xfrm>
          <a:prstGeom prst="rect">
            <a:avLst/>
          </a:prstGeom>
          <a:noFill/>
          <a:ln/>
        </p:spPr>
        <p:txBody>
          <a:bodyPr wrap="square" lIns="0" tIns="0" rIns="0" bIns="0" rtlCol="0" anchor="t"/>
          <a:lstStyle/>
          <a:p>
            <a:pPr indent="0" marL="0">
              <a:buNone/>
            </a:pPr>
            <a:r>
              <a:rPr lang="en-US" sz="3600" b="1" dirty="0">
                <a:solidFill>
                  <a:schemeClr val="accent3"/>
                </a:solidFill>
              </a:rPr>
              <a:t>30 / 30</a:t>
            </a:r>
            <a:endParaRPr lang="en-US" sz="3600" dirty="0"/>
          </a:p>
        </p:txBody>
      </p:sp>
      <p:sp>
        <p:nvSpPr>
          <p:cNvPr id="14" name="Stat 3 label"/>
          <p:cNvSpPr txBox="1"/>
          <p:nvPr/>
        </p:nvSpPr>
        <p:spPr>
          <a:xfrm>
            <a:off x="6433718" y="260604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released, each exactly once</a:t>
            </a:r>
            <a:endParaRPr lang="en-US" sz="1400" dirty="0"/>
          </a:p>
        </p:txBody>
      </p:sp>
      <p:sp>
        <p:nvSpPr>
          <p:cNvPr id="15" name="Stat 4"/>
          <p:cNvSpPr/>
          <p:nvPr/>
        </p:nvSpPr>
        <p:spPr>
          <a:xfrm>
            <a:off x="9033358" y="1645920"/>
            <a:ext cx="2606040" cy="1783080"/>
          </a:xfrm>
          <a:prstGeom prst="roundRect">
            <a:avLst>
              <a:gd name="adj" fmla="val 6154"/>
            </a:avLst>
          </a:prstGeom>
          <a:solidFill>
            <a:schemeClr val="tx2"/>
          </a:solidFill>
          <a:ln w="15875">
            <a:solidFill>
              <a:srgbClr val="2A3449"/>
            </a:solidFill>
            <a:prstDash val="solid"/>
          </a:ln>
        </p:spPr>
      </p:sp>
      <p:sp>
        <p:nvSpPr>
          <p:cNvPr id="16" name="Stat 4 value"/>
          <p:cNvSpPr txBox="1"/>
          <p:nvPr/>
        </p:nvSpPr>
        <p:spPr>
          <a:xfrm>
            <a:off x="9261958" y="1810512"/>
            <a:ext cx="2194560" cy="731520"/>
          </a:xfrm>
          <a:prstGeom prst="rect">
            <a:avLst/>
          </a:prstGeom>
          <a:noFill/>
          <a:ln/>
        </p:spPr>
        <p:txBody>
          <a:bodyPr wrap="square" lIns="0" tIns="0" rIns="0" bIns="0" rtlCol="0" anchor="t"/>
          <a:lstStyle/>
          <a:p>
            <a:pPr indent="0" marL="0">
              <a:buNone/>
            </a:pPr>
            <a:r>
              <a:rPr lang="en-US" sz="3600" b="1" dirty="0">
                <a:solidFill>
                  <a:schemeClr val="accent1"/>
                </a:solidFill>
              </a:rPr>
              <a:t>92 ms</a:t>
            </a:r>
            <a:endParaRPr lang="en-US" sz="3600" dirty="0"/>
          </a:p>
        </p:txBody>
      </p:sp>
      <p:sp>
        <p:nvSpPr>
          <p:cNvPr id="17" name="Stat 4 label"/>
          <p:cNvSpPr txBox="1"/>
          <p:nvPr/>
        </p:nvSpPr>
        <p:spPr>
          <a:xfrm>
            <a:off x="9261958" y="260604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after the restarted servers were ready</a:t>
            </a:r>
            <a:endParaRPr lang="en-US" sz="1400" dirty="0"/>
          </a:p>
        </p:txBody>
      </p:sp>
      <p:sp>
        <p:nvSpPr>
          <p:cNvPr id="18" name="What happened"/>
          <p:cNvSpPr txBox="1"/>
          <p:nvPr/>
        </p:nvSpPr>
        <p:spPr>
          <a:xfrm>
            <a:off x="548640" y="3703320"/>
            <a:ext cx="11091672" cy="685800"/>
          </a:xfrm>
          <a:prstGeom prst="rect">
            <a:avLst/>
          </a:prstGeom>
          <a:noFill/>
          <a:ln/>
        </p:spPr>
        <p:txBody>
          <a:bodyPr wrap="square" lIns="0" tIns="0" rIns="0" bIns="0" rtlCol="0" anchor="t"/>
          <a:lstStyle/>
          <a:p>
            <a:pPr indent="0" marL="0">
              <a:lnSpc>
                <a:spcPct val="115000"/>
              </a:lnSpc>
              <a:buNone/>
            </a:pPr>
            <a:r>
              <a:rPr lang="en-US" sz="1600" dirty="0">
                <a:solidFill>
                  <a:schemeClr val="accent5"/>
                </a:solidFill>
              </a:rPr>
              <a:t>The holds expired while nothing was running. On restart the first worker passes reclaimed all 30, with exactly one EXPIRED ledger row each.</a:t>
            </a:r>
            <a:endParaRPr lang="en-US" sz="1600" dirty="0"/>
          </a:p>
        </p:txBody>
      </p:sp>
      <p:sp>
        <p:nvSpPr>
          <p:cNvPr id="19" name="Why it is safe"/>
          <p:cNvSpPr txBox="1"/>
          <p:nvPr/>
        </p:nvSpPr>
        <p:spPr>
          <a:xfrm>
            <a:off x="548640" y="4526280"/>
            <a:ext cx="11091672" cy="822960"/>
          </a:xfrm>
          <a:prstGeom prst="rect">
            <a:avLst/>
          </a:prstGeom>
          <a:noFill/>
          <a:ln/>
        </p:spPr>
        <p:txBody>
          <a:bodyPr wrap="square" lIns="0" tIns="0" rIns="0" bIns="0" rtlCol="0" anchor="t"/>
          <a:lstStyle/>
          <a:p>
            <a:pPr indent="0" marL="0">
              <a:lnSpc>
                <a:spcPct val="115000"/>
              </a:lnSpc>
              <a:buNone/>
            </a:pPr>
            <a:r>
              <a:rPr lang="en-US" sz="1600" dirty="0">
                <a:solidFill>
                  <a:schemeClr val="accent5"/>
                </a:solidFill>
              </a:rPr>
              <a:t>Why it is safe: every operation is one transaction, so a kill leaves it fully committed or never started, and one lock order everywhere, idempotency record then reservation then inventory, rules out deadlocks.</a:t>
            </a:r>
            <a:endParaRPr lang="en-US" sz="16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Rules PostgreSQL enforces, whatever the code does</a:t>
            </a:r>
            <a:endParaRPr lang="en-US" sz="3200" dirty="0"/>
          </a:p>
        </p:txBody>
      </p:sp>
      <p:sp>
        <p:nvSpPr>
          <p:cNvPr id="3" name="Rule 1"/>
          <p:cNvSpPr/>
          <p:nvPr/>
        </p:nvSpPr>
        <p:spPr>
          <a:xfrm>
            <a:off x="548640" y="1371600"/>
            <a:ext cx="3547872" cy="3017520"/>
          </a:xfrm>
          <a:prstGeom prst="roundRect">
            <a:avLst>
              <a:gd name="adj" fmla="val 3636"/>
            </a:avLst>
          </a:prstGeom>
          <a:solidFill>
            <a:schemeClr val="tx2"/>
          </a:solidFill>
          <a:ln w="15875">
            <a:solidFill>
              <a:srgbClr val="2A3449"/>
            </a:solidFill>
            <a:prstDash val="solid"/>
          </a:ln>
        </p:spPr>
      </p:sp>
      <p:sp>
        <p:nvSpPr>
          <p:cNvPr id="4" name="Rule 1 title"/>
          <p:cNvSpPr txBox="1"/>
          <p:nvPr/>
        </p:nvSpPr>
        <p:spPr>
          <a:xfrm>
            <a:off x="777240" y="155448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Stock always balances</a:t>
            </a:r>
            <a:endParaRPr lang="en-US" sz="1800" dirty="0"/>
          </a:p>
        </p:txBody>
      </p:sp>
      <p:sp>
        <p:nvSpPr>
          <p:cNvPr id="5" name="Rule 1 SQL"/>
          <p:cNvSpPr txBox="1"/>
          <p:nvPr/>
        </p:nvSpPr>
        <p:spPr>
          <a:xfrm>
            <a:off x="777240" y="2057400"/>
            <a:ext cx="3154680" cy="1280160"/>
          </a:xfrm>
          <a:prstGeom prst="rect">
            <a:avLst/>
          </a:prstGeom>
          <a:noFill/>
          <a:ln/>
        </p:spPr>
        <p:txBody>
          <a:bodyPr wrap="square" lIns="0" tIns="0" rIns="0" bIns="0" rtlCol="0" anchor="t"/>
          <a:lstStyle/>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CHECK (initial_quantity =</a:t>
            </a:r>
            <a:endParaRPr lang="en-US" sz="1300" dirty="0"/>
          </a:p>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  available + held + sold)</a:t>
            </a:r>
            <a:endParaRPr lang="en-US" sz="1300" dirty="0"/>
          </a:p>
        </p:txBody>
      </p:sp>
      <p:sp>
        <p:nvSpPr>
          <p:cNvPr id="6" name="Rule 1 note"/>
          <p:cNvSpPr txBox="1"/>
          <p:nvPr/>
        </p:nvSpPr>
        <p:spPr>
          <a:xfrm>
            <a:off x="777240" y="3429000"/>
            <a:ext cx="3108960" cy="8229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and every quantity stays at 0 or more</a:t>
            </a:r>
            <a:endParaRPr lang="en-US" sz="1400" dirty="0"/>
          </a:p>
        </p:txBody>
      </p:sp>
      <p:sp>
        <p:nvSpPr>
          <p:cNvPr id="7" name="Rule 2"/>
          <p:cNvSpPr/>
          <p:nvPr/>
        </p:nvSpPr>
        <p:spPr>
          <a:xfrm>
            <a:off x="4320540" y="1371600"/>
            <a:ext cx="3547872" cy="3017520"/>
          </a:xfrm>
          <a:prstGeom prst="roundRect">
            <a:avLst>
              <a:gd name="adj" fmla="val 3636"/>
            </a:avLst>
          </a:prstGeom>
          <a:solidFill>
            <a:schemeClr val="tx2"/>
          </a:solidFill>
          <a:ln w="15875">
            <a:solidFill>
              <a:srgbClr val="2A3449"/>
            </a:solidFill>
            <a:prstDash val="solid"/>
          </a:ln>
        </p:spPr>
      </p:sp>
      <p:sp>
        <p:nvSpPr>
          <p:cNvPr id="8" name="Rule 2 title"/>
          <p:cNvSpPr txBox="1"/>
          <p:nvPr/>
        </p:nvSpPr>
        <p:spPr>
          <a:xfrm>
            <a:off x="4549140" y="1554480"/>
            <a:ext cx="3108960" cy="365760"/>
          </a:xfrm>
          <a:prstGeom prst="rect">
            <a:avLst/>
          </a:prstGeom>
          <a:noFill/>
          <a:ln/>
        </p:spPr>
        <p:txBody>
          <a:bodyPr wrap="square" lIns="0" tIns="0" rIns="0" bIns="0" rtlCol="0" anchor="t"/>
          <a:lstStyle/>
          <a:p>
            <a:pPr indent="0" marL="0">
              <a:buNone/>
            </a:pPr>
            <a:r>
              <a:rPr lang="en-US" sz="1800" b="1" dirty="0">
                <a:solidFill>
                  <a:schemeClr val="accent3"/>
                </a:solidFill>
              </a:rPr>
              <a:t>Released at most once</a:t>
            </a:r>
            <a:endParaRPr lang="en-US" sz="1800" dirty="0"/>
          </a:p>
        </p:txBody>
      </p:sp>
      <p:sp>
        <p:nvSpPr>
          <p:cNvPr id="9" name="Rule 2 SQL"/>
          <p:cNvSpPr txBox="1"/>
          <p:nvPr/>
        </p:nvSpPr>
        <p:spPr>
          <a:xfrm>
            <a:off x="4549140" y="2057400"/>
            <a:ext cx="3154680" cy="1280160"/>
          </a:xfrm>
          <a:prstGeom prst="rect">
            <a:avLst/>
          </a:prstGeom>
          <a:noFill/>
          <a:ln/>
        </p:spPr>
        <p:txBody>
          <a:bodyPr wrap="square" lIns="0" tIns="0" rIns="0" bIns="0" rtlCol="0" anchor="t"/>
          <a:lstStyle/>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UNIQUE (reservation_id)</a:t>
            </a:r>
            <a:endParaRPr lang="en-US" sz="1300" dirty="0"/>
          </a:p>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WHERE kind IN ('CONFIRMED',</a:t>
            </a:r>
            <a:endParaRPr lang="en-US" sz="1300" dirty="0"/>
          </a:p>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  'CANCELLED', 'EXPIRED')</a:t>
            </a:r>
            <a:endParaRPr lang="en-US" sz="1300" dirty="0"/>
          </a:p>
        </p:txBody>
      </p:sp>
      <p:sp>
        <p:nvSpPr>
          <p:cNvPr id="10" name="Rule 2 note"/>
          <p:cNvSpPr txBox="1"/>
          <p:nvPr/>
        </p:nvSpPr>
        <p:spPr>
          <a:xfrm>
            <a:off x="4549140" y="3429000"/>
            <a:ext cx="3108960" cy="8229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one resolution row per reservation in the ledger</a:t>
            </a:r>
            <a:endParaRPr lang="en-US" sz="1400" dirty="0"/>
          </a:p>
        </p:txBody>
      </p:sp>
      <p:sp>
        <p:nvSpPr>
          <p:cNvPr id="11" name="Rule 3"/>
          <p:cNvSpPr/>
          <p:nvPr/>
        </p:nvSpPr>
        <p:spPr>
          <a:xfrm>
            <a:off x="8092440" y="1371600"/>
            <a:ext cx="3547872" cy="3017520"/>
          </a:xfrm>
          <a:prstGeom prst="roundRect">
            <a:avLst>
              <a:gd name="adj" fmla="val 3636"/>
            </a:avLst>
          </a:prstGeom>
          <a:solidFill>
            <a:schemeClr val="tx2"/>
          </a:solidFill>
          <a:ln w="15875">
            <a:solidFill>
              <a:srgbClr val="2A3449"/>
            </a:solidFill>
            <a:prstDash val="solid"/>
          </a:ln>
        </p:spPr>
      </p:sp>
      <p:sp>
        <p:nvSpPr>
          <p:cNvPr id="12" name="Rule 3 title"/>
          <p:cNvSpPr txBox="1"/>
          <p:nvPr/>
        </p:nvSpPr>
        <p:spPr>
          <a:xfrm>
            <a:off x="8321040" y="1554480"/>
            <a:ext cx="3108960" cy="365760"/>
          </a:xfrm>
          <a:prstGeom prst="rect">
            <a:avLst/>
          </a:prstGeom>
          <a:noFill/>
          <a:ln/>
        </p:spPr>
        <p:txBody>
          <a:bodyPr wrap="square" lIns="0" tIns="0" rIns="0" bIns="0" rtlCol="0" anchor="t"/>
          <a:lstStyle/>
          <a:p>
            <a:pPr indent="0" marL="0">
              <a:buNone/>
            </a:pPr>
            <a:r>
              <a:rPr lang="en-US" sz="1800" b="1" dirty="0">
                <a:solidFill>
                  <a:schemeClr val="accent2"/>
                </a:solidFill>
              </a:rPr>
              <a:t>Stores stay apart</a:t>
            </a:r>
            <a:endParaRPr lang="en-US" sz="1800" dirty="0"/>
          </a:p>
        </p:txBody>
      </p:sp>
      <p:sp>
        <p:nvSpPr>
          <p:cNvPr id="13" name="Rule 3 SQL"/>
          <p:cNvSpPr txBox="1"/>
          <p:nvPr/>
        </p:nvSpPr>
        <p:spPr>
          <a:xfrm>
            <a:off x="8321040" y="2057400"/>
            <a:ext cx="3154680" cy="1280160"/>
          </a:xfrm>
          <a:prstGeom prst="rect">
            <a:avLst/>
          </a:prstGeom>
          <a:noFill/>
          <a:ln/>
        </p:spPr>
        <p:txBody>
          <a:bodyPr wrap="square" lIns="0" tIns="0" rIns="0" bIns="0" rtlCol="0" anchor="t"/>
          <a:lstStyle/>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FOREIGN KEY (merchant_id,</a:t>
            </a:r>
            <a:endParaRPr lang="en-US" sz="1300" dirty="0"/>
          </a:p>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  inventory_id) REFERENCES</a:t>
            </a:r>
            <a:endParaRPr lang="en-US" sz="1300" dirty="0"/>
          </a:p>
          <a:p>
            <a:pPr indent="0" marL="0">
              <a:lnSpc>
                <a:spcPct val="125000"/>
              </a:lnSpc>
              <a:buNone/>
            </a:pPr>
            <a:r>
              <a:rPr lang="en-US" sz="1300" dirty="0">
                <a:solidFill>
                  <a:schemeClr val="bg2"/>
                </a:solidFill>
                <a:latin typeface="JetBrains Mono" pitchFamily="34" charset="0"/>
                <a:ea typeface="JetBrains Mono" pitchFamily="34" charset="-122"/>
                <a:cs typeface="JetBrains Mono" pitchFamily="34" charset="-120"/>
              </a:rPr>
              <a:t>  inventory (merchant_id, id)</a:t>
            </a:r>
            <a:endParaRPr lang="en-US" sz="1300" dirty="0"/>
          </a:p>
        </p:txBody>
      </p:sp>
      <p:sp>
        <p:nvSpPr>
          <p:cNvPr id="14" name="Rule 3 note"/>
          <p:cNvSpPr txBox="1"/>
          <p:nvPr/>
        </p:nvSpPr>
        <p:spPr>
          <a:xfrm>
            <a:off x="8321040" y="3429000"/>
            <a:ext cx="3108960" cy="82296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a reservation cannot point at another store's SKU</a:t>
            </a:r>
            <a:endParaRPr lang="en-US" sz="1400" dirty="0"/>
          </a:p>
        </p:txBody>
      </p:sp>
      <p:sp>
        <p:nvSpPr>
          <p:cNvPr id="15" name="Keys and isolation"/>
          <p:cNvSpPr txBox="1"/>
          <p:nvPr/>
        </p:nvSpPr>
        <p:spPr>
          <a:xfrm>
            <a:off x="548640" y="4663440"/>
            <a:ext cx="11091672" cy="822960"/>
          </a:xfrm>
          <a:prstGeom prst="rect">
            <a:avLst/>
          </a:prstGeom>
          <a:noFill/>
          <a:ln/>
        </p:spPr>
        <p:txBody>
          <a:bodyPr wrap="square" lIns="0" tIns="0" rIns="0" bIns="0" rtlCol="0" anchor="t"/>
          <a:lstStyle/>
          <a:p>
            <a:pPr indent="0" marL="0">
              <a:lnSpc>
                <a:spcPct val="115000"/>
              </a:lnSpc>
              <a:buNone/>
            </a:pPr>
            <a:r>
              <a:rPr lang="en-US" sz="1500" dirty="0">
                <a:solidFill>
                  <a:schemeClr val="accent5"/>
                </a:solidFill>
              </a:rPr>
              <a:t>API keys look like rcsk_&lt;prefix&gt;_&lt;secret&gt;; only a SHA-256 hash is stored and compared in constant time. Another store's resources answer 404, so the API does not even reveal that they exist.</a:t>
            </a:r>
            <a:endParaRPr lang="en-US" sz="1500" dirty="0"/>
          </a:p>
        </p:txBody>
      </p:sp>
      <p:sp>
        <p:nvSpPr>
          <p:cNvPr id="17"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the database itself refuses any change that would break the rules, even if the code had a bug.</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Proof from real runs</a:t>
            </a:r>
            <a:endParaRPr lang="en-US" sz="3200" dirty="0"/>
          </a:p>
        </p:txBody>
      </p:sp>
      <p:graphicFrame>
        <p:nvGraphicFramePr>
          <p:cNvPr id="13" name="Proof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5257800"/>
                <a:gridCol w="5833872"/>
              </a:tblGrid>
              <a:tr h="0">
                <a:tc>
                  <a:txBody>
                    <a:bodyPr/>
                    <a:lstStyle/>
                    <a:p>
                      <a:pPr indent="0" marL="0">
                        <a:buNone/>
                      </a:pPr>
                      <a:r>
                        <a:rPr lang="en-US" sz="1500" b="1" dirty="0">
                          <a:solidFill>
                            <a:schemeClr val="bg2"/>
                          </a:solidFill>
                        </a:rPr>
                        <a:t>Check</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Result</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r>
              <a:tr h="0">
                <a:tc>
                  <a:txBody>
                    <a:bodyPr/>
                    <a:lstStyle/>
                    <a:p>
                      <a:pPr indent="0" marL="0">
                        <a:buNone/>
                      </a:pPr>
                      <a:r>
                        <a:rPr lang="en-US" sz="1500" dirty="0">
                          <a:solidFill>
                            <a:schemeClr val="bg2"/>
                          </a:solidFill>
                        </a:rPr>
                        <a:t>Integration tests on real PostgreSQL 18 (Testcontainers), no mocks, no sleeps</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66 service + 4 demo tests passing</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Deliberate bugs: row lock, transaction, stock check, replay, SKIP LOCKED, merchant filter, expiry check…</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11 of 11 caught (one after tightening a test)</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Demo: 1,000 requests for 20 units, two instances</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20 reserved · 980 × 409 · 0 unexpected</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Ledger audit on about 20,500 reservations and a restored backup</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0 discrepancies</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One hot SKU on a laptop, 50 to 1,000 concurrent clients</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1,600–3,500 req/s mostly refused; 1,000–1,500 reservations/s</a:t>
                      </a:r>
                      <a:endParaRPr lang="en-US" sz="15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bl>
          </a:graphicData>
        </a:graphic>
      </p:graphicFrame>
      <p:sp>
        <p:nvSpPr>
          <p:cNvPr id="4" name="Benchmark setup"/>
          <p:cNvSpPr txBox="1"/>
          <p:nvPr/>
        </p:nvSpPr>
        <p:spPr>
          <a:xfrm>
            <a:off x="548640" y="5349240"/>
            <a:ext cx="11091672" cy="411480"/>
          </a:xfrm>
          <a:prstGeom prst="rect">
            <a:avLst/>
          </a:prstGeom>
          <a:noFill/>
          <a:ln/>
        </p:spPr>
        <p:txBody>
          <a:bodyPr wrap="square" lIns="0" tIns="0" rIns="0" bIns="0" rtlCol="0" anchor="t"/>
          <a:lstStyle/>
          <a:p>
            <a:pPr indent="0" marL="0">
              <a:buNone/>
            </a:pPr>
            <a:r>
              <a:rPr lang="en-US" sz="1200" dirty="0">
                <a:solidFill>
                  <a:schemeClr val="accent6"/>
                </a:solidFill>
              </a:rPr>
              <a:t>Benchmark: Apple M4, Docker Desktop, two app instances with 10 database connections each; client on the same machine. Raw outputs are kept in docs/benchmark/.</a:t>
            </a:r>
            <a:endParaRPr lang="en-US" sz="1200" dirty="0"/>
          </a:p>
        </p:txBody>
      </p:sp>
      <p:sp>
        <p:nvSpPr>
          <p:cNvPr id="6"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we tried to break it in every way we could think of, and it held.</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What a senior review of the code found</a:t>
            </a:r>
            <a:endParaRPr lang="en-US" sz="3200" dirty="0"/>
          </a:p>
        </p:txBody>
      </p:sp>
      <p:graphicFrame>
        <p:nvGraphicFramePr>
          <p:cNvPr id="14" name="Review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657600"/>
                <a:gridCol w="3657600"/>
                <a:gridCol w="3776472"/>
              </a:tblGrid>
              <a:tr h="0">
                <a:tc>
                  <a:txBody>
                    <a:bodyPr/>
                    <a:lstStyle/>
                    <a:p>
                      <a:pPr indent="0" marL="0">
                        <a:buNone/>
                      </a:pPr>
                      <a:r>
                        <a:rPr lang="en-US" sz="1400" b="1" dirty="0">
                          <a:solidFill>
                            <a:schemeClr val="bg2"/>
                          </a:solidFill>
                        </a:rPr>
                        <a:t>Finding</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Change</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Evidence</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bg2"/>
                          </a:solidFill>
                        </a:rPr>
                        <a:t>Reserve held the hot row lock for four round trips</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Stock, reservation and ledger in one SQL statement</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Same results; A/B within noise, kept for one atomic write</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Lock waits had no limit</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2 s lock timeout, then 503 SERVICE_BUSY</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LockTimeoutTest holds a real row lock</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Overdue holds read ACTIVE and stayed held</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Effective status; expire on first touch</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Lifecycle and worker tests</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Worker wrote ledger rows one at a time</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One batch per product</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Worker tests unchanged and green</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Outcomes invisible in metrics; probes flooded logs</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Outcome counter by error code; probes not logged</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ObservabilityTest</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400" dirty="0">
                          <a:solidFill>
                            <a:schemeClr val="bg2"/>
                          </a:solidFill>
                        </a:rPr>
                        <a:t>Idea: check stock before locking</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Tried, measured, removed</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400" dirty="0">
                          <a:solidFill>
                            <a:schemeClr val="bg2"/>
                          </a:solidFill>
                        </a:rPr>
                        <a:t>PostgreSQL never locks a row that fails the check</a:t>
                      </a:r>
                      <a:endParaRPr lang="en-US" sz="1400" dirty="0"/>
                    </a:p>
                  </a:txBody>
                  <a:tcPr marL="101600" marR="101600" marT="76200" marB="762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bl>
          </a:graphicData>
        </a:graphic>
      </p:graphicFrame>
      <p:sp>
        <p:nvSpPr>
          <p:cNvPr id="5"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every change was proven with a test that fails without it, and one idea was dropped because the numbers said so.</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Failing fast, and releasing overdue holds on touch</a:t>
            </a:r>
            <a:endParaRPr lang="en-US" sz="3200" dirty="0"/>
          </a:p>
        </p:txBody>
      </p:sp>
      <p:sp>
        <p:nvSpPr>
          <p:cNvPr id="3" name="Lock card"/>
          <p:cNvSpPr/>
          <p:nvPr/>
        </p:nvSpPr>
        <p:spPr>
          <a:xfrm>
            <a:off x="548640" y="1371600"/>
            <a:ext cx="5431536" cy="4160520"/>
          </a:xfrm>
          <a:prstGeom prst="roundRect">
            <a:avLst>
              <a:gd name="adj" fmla="val 2637"/>
            </a:avLst>
          </a:prstGeom>
          <a:solidFill>
            <a:schemeClr val="tx2"/>
          </a:solidFill>
          <a:ln w="15875">
            <a:solidFill>
              <a:srgbClr val="2A3449"/>
            </a:solidFill>
            <a:prstDash val="solid"/>
          </a:ln>
        </p:spPr>
      </p:sp>
      <p:sp>
        <p:nvSpPr>
          <p:cNvPr id="4" name="Lock heading"/>
          <p:cNvSpPr txBox="1"/>
          <p:nvPr/>
        </p:nvSpPr>
        <p:spPr>
          <a:xfrm>
            <a:off x="822960" y="1572768"/>
            <a:ext cx="4937760" cy="365760"/>
          </a:xfrm>
          <a:prstGeom prst="rect">
            <a:avLst/>
          </a:prstGeom>
          <a:noFill/>
          <a:ln/>
        </p:spPr>
        <p:txBody>
          <a:bodyPr wrap="square" lIns="0" tIns="0" rIns="0" bIns="0" rtlCol="0" anchor="t"/>
          <a:lstStyle/>
          <a:p>
            <a:pPr indent="0" marL="0">
              <a:buNone/>
            </a:pPr>
            <a:r>
              <a:rPr lang="en-US" sz="1800" b="1" dirty="0">
                <a:solidFill>
                  <a:schemeClr val="accent2"/>
                </a:solidFill>
              </a:rPr>
              <a:t>Bounded lock waits</a:t>
            </a:r>
            <a:endParaRPr lang="en-US" sz="1800" dirty="0"/>
          </a:p>
        </p:txBody>
      </p:sp>
      <p:sp>
        <p:nvSpPr>
          <p:cNvPr id="5" name="Lock SQL"/>
          <p:cNvSpPr txBox="1"/>
          <p:nvPr/>
        </p:nvSpPr>
        <p:spPr>
          <a:xfrm>
            <a:off x="822960" y="2057400"/>
            <a:ext cx="4937760" cy="36576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SET LOCAL lock_timeout = '2000ms'</a:t>
            </a:r>
            <a:endParaRPr lang="en-US" sz="1400" dirty="0"/>
          </a:p>
        </p:txBody>
      </p:sp>
      <p:sp>
        <p:nvSpPr>
          <p:cNvPr id="6" name="Lock list"/>
          <p:cNvSpPr txBox="1"/>
          <p:nvPr/>
        </p:nvSpPr>
        <p:spPr>
          <a:xfrm>
            <a:off x="822960" y="2560320"/>
            <a:ext cx="493776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First statement of every API transaction; Flyway and the worker are unaffected</a:t>
            </a:r>
            <a:endParaRPr lang="en-US" sz="1500" dirty="0"/>
          </a:p>
          <a:p>
            <a:pPr marL="342900" indent="-342900">
              <a:spcAft>
                <a:spcPts val="800"/>
              </a:spcAft>
              <a:buSzPct val="100000"/>
              <a:buChar char="•"/>
            </a:pPr>
            <a:r>
              <a:rPr lang="en-US" sz="1500" dirty="0">
                <a:solidFill>
                  <a:schemeClr val="accent5"/>
                </a:solidFill>
              </a:rPr>
              <a:t>No lock within 2 s: PostgreSQL error 55P03, the transaction rolls back</a:t>
            </a:r>
            <a:endParaRPr lang="en-US" sz="1500" dirty="0"/>
          </a:p>
          <a:p>
            <a:pPr marL="342900" indent="-342900">
              <a:spcAft>
                <a:spcPts val="800"/>
              </a:spcAft>
              <a:buSzPct val="100000"/>
              <a:buChar char="•"/>
            </a:pPr>
            <a:r>
              <a:rPr lang="en-US" sz="1500" dirty="0">
                <a:solidFill>
                  <a:schemeClr val="accent5"/>
                </a:solidFill>
              </a:rPr>
              <a:t>Answer: 503 SERVICE_BUSY with Retry-After: 1</a:t>
            </a:r>
            <a:endParaRPr lang="en-US" sz="1500" dirty="0"/>
          </a:p>
          <a:p>
            <a:pPr marL="342900" indent="-342900">
              <a:spcAft>
                <a:spcPts val="800"/>
              </a:spcAft>
              <a:buSzPct val="100000"/>
              <a:buChar char="•"/>
            </a:pPr>
            <a:r>
              <a:rPr lang="en-US" sz="1500" dirty="0">
                <a:solidFill>
                  <a:schemeClr val="accent5"/>
                </a:solidFill>
              </a:rPr>
              <a:t>Nothing recorded, so a retry with the same key is safe</a:t>
            </a:r>
            <a:endParaRPr lang="en-US" sz="1500" dirty="0"/>
          </a:p>
        </p:txBody>
      </p:sp>
      <p:sp>
        <p:nvSpPr>
          <p:cNvPr id="7" name="Overdue card"/>
          <p:cNvSpPr/>
          <p:nvPr/>
        </p:nvSpPr>
        <p:spPr>
          <a:xfrm>
            <a:off x="6208776" y="1371600"/>
            <a:ext cx="5431536" cy="4160520"/>
          </a:xfrm>
          <a:prstGeom prst="roundRect">
            <a:avLst>
              <a:gd name="adj" fmla="val 2637"/>
            </a:avLst>
          </a:prstGeom>
          <a:solidFill>
            <a:schemeClr val="tx2"/>
          </a:solidFill>
          <a:ln w="15875">
            <a:solidFill>
              <a:srgbClr val="2A3449"/>
            </a:solidFill>
            <a:prstDash val="solid"/>
          </a:ln>
        </p:spPr>
      </p:sp>
      <p:sp>
        <p:nvSpPr>
          <p:cNvPr id="8" name="Overdue heading"/>
          <p:cNvSpPr txBox="1"/>
          <p:nvPr/>
        </p:nvSpPr>
        <p:spPr>
          <a:xfrm>
            <a:off x="6483096" y="1572768"/>
            <a:ext cx="4937760" cy="365760"/>
          </a:xfrm>
          <a:prstGeom prst="rect">
            <a:avLst/>
          </a:prstGeom>
          <a:noFill/>
          <a:ln/>
        </p:spPr>
        <p:txBody>
          <a:bodyPr wrap="square" lIns="0" tIns="0" rIns="0" bIns="0" rtlCol="0" anchor="t"/>
          <a:lstStyle/>
          <a:p>
            <a:pPr indent="0" marL="0">
              <a:buNone/>
            </a:pPr>
            <a:r>
              <a:rPr lang="en-US" sz="1800" b="1" dirty="0">
                <a:solidFill>
                  <a:schemeClr val="accent3"/>
                </a:solidFill>
              </a:rPr>
              <a:t>Overdue holds</a:t>
            </a:r>
            <a:endParaRPr lang="en-US" sz="1800" dirty="0"/>
          </a:p>
        </p:txBody>
      </p:sp>
      <p:sp>
        <p:nvSpPr>
          <p:cNvPr id="9" name="Overdue JSON"/>
          <p:cNvSpPr txBox="1"/>
          <p:nvPr/>
        </p:nvSpPr>
        <p:spPr>
          <a:xfrm>
            <a:off x="6483096" y="2057400"/>
            <a:ext cx="4937760" cy="365760"/>
          </a:xfrm>
          <a:prstGeom prst="rect">
            <a:avLst/>
          </a:prstGeom>
          <a:noFill/>
          <a:ln/>
        </p:spPr>
        <p:txBody>
          <a:bodyPr wrap="square" lIns="0" tIns="0" rIns="0" bIns="0" rtlCol="0" anchor="t"/>
          <a:lstStyle/>
          <a:p>
            <a:pPr indent="0" marL="0">
              <a:lnSpc>
                <a:spcPct val="125000"/>
              </a:lnSpc>
              <a:buNone/>
            </a:pPr>
            <a:r>
              <a:rPr lang="en-US" sz="1400" dirty="0">
                <a:solidFill>
                  <a:schemeClr val="bg2"/>
                </a:solidFill>
                <a:latin typeface="JetBrains Mono" pitchFamily="34" charset="0"/>
                <a:ea typeface="JetBrains Mono" pitchFamily="34" charset="-122"/>
                <a:cs typeface="JetBrains Mono" pitchFamily="34" charset="-120"/>
              </a:rPr>
              <a:t>{"status": "EXPIRED", "reclaimPending": true}</a:t>
            </a:r>
            <a:endParaRPr lang="en-US" sz="1400" dirty="0"/>
          </a:p>
        </p:txBody>
      </p:sp>
      <p:sp>
        <p:nvSpPr>
          <p:cNvPr id="10" name="Overdue list"/>
          <p:cNvSpPr txBox="1"/>
          <p:nvPr/>
        </p:nvSpPr>
        <p:spPr>
          <a:xfrm>
            <a:off x="6483096" y="2560320"/>
            <a:ext cx="493776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A hold past its deadline reads EXPIRED, never a stale ACTIVE</a:t>
            </a:r>
            <a:endParaRPr lang="en-US" sz="1500" dirty="0"/>
          </a:p>
          <a:p>
            <a:pPr marL="342900" indent="-342900">
              <a:spcAft>
                <a:spcPts val="800"/>
              </a:spcAft>
              <a:buSzPct val="100000"/>
              <a:buChar char="•"/>
            </a:pPr>
            <a:r>
              <a:rPr lang="en-US" sz="1500" dirty="0">
                <a:solidFill>
                  <a:schemeClr val="accent5"/>
                </a:solidFill>
              </a:rPr>
              <a:t>The first confirm or cancel that finds it overdue releases the units now: 409 RESERVATION_EXPIRED</a:t>
            </a:r>
            <a:endParaRPr lang="en-US" sz="1500" dirty="0"/>
          </a:p>
          <a:p>
            <a:pPr marL="342900" indent="-342900">
              <a:spcAft>
                <a:spcPts val="800"/>
              </a:spcAft>
              <a:buSzPct val="100000"/>
              <a:buChar char="•"/>
            </a:pPr>
            <a:r>
              <a:rPr lang="en-US" sz="1500" dirty="0">
                <a:solidFill>
                  <a:schemeClr val="accent5"/>
                </a:solidFill>
              </a:rPr>
              <a:t>The ledger row records which request released it</a:t>
            </a:r>
            <a:endParaRPr lang="en-US" sz="1500" dirty="0"/>
          </a:p>
          <a:p>
            <a:pPr marL="342900" indent="-342900">
              <a:spcAft>
                <a:spcPts val="800"/>
              </a:spcAft>
              <a:buSzPct val="100000"/>
              <a:buChar char="•"/>
            </a:pPr>
            <a:r>
              <a:rPr lang="en-US" sz="1500" dirty="0">
                <a:solidFill>
                  <a:schemeClr val="accent5"/>
                </a:solidFill>
              </a:rPr>
              <a:t>Same row lock and once-only index: released exactly once</a:t>
            </a:r>
            <a:endParaRPr lang="en-US" sz="1500" dirty="0"/>
          </a:p>
        </p:txBody>
      </p:sp>
      <p:sp>
        <p:nvSpPr>
          <p:cNvPr id="12"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a stuck request gives up after 2 seconds instead of blocking everyone, and an expired hold is freed when touched.</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Measuring the hot path instead of guessing</a:t>
            </a:r>
            <a:endParaRPr lang="en-US" sz="3200" dirty="0"/>
          </a:p>
        </p:txBody>
      </p:sp>
      <p:graphicFrame>
        <p:nvGraphicFramePr>
          <p:cNvPr id="3" name="Wait events chart" descr=""/>
          <p:cNvGraphicFramePr/>
          <p:nvPr/>
        </p:nvGraphicFramePr>
        <p:xfrm>
          <a:off x="548640" y="1371600"/>
          <a:ext cx="576072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AB table"/>
          <p:cNvGraphicFramePr>
            <a:graphicFrameLocks noGrp="1"/>
          </p:cNvGraphicFramePr>
          <p:nvPr>
            <p:extLst>
              <p:ext uri="{D42A27DB-BD31-4B8C-83A1-F6EECF244321}">
                <p14:modId xmlns:p14="http://schemas.microsoft.com/office/powerpoint/2010/main" val="1579011935"/>
              </p:ext>
            </p:extLst>
          </p:nvPr>
        </p:nvGraphicFramePr>
        <p:xfrm>
          <a:off x="6583680" y="1371600"/>
          <a:ext cx="5056632" cy="914400"/>
        </p:xfrm>
        <a:graphic>
          <a:graphicData uri="http://schemas.openxmlformats.org/drawingml/2006/table">
            <a:tbl>
              <a:tblPr/>
              <a:tblGrid>
                <a:gridCol w="2240280"/>
                <a:gridCol w="868680"/>
                <a:gridCol w="868680"/>
                <a:gridCol w="1078992"/>
              </a:tblGrid>
              <a:tr h="0">
                <a:tc>
                  <a:txBody>
                    <a:bodyPr/>
                    <a:lstStyle/>
                    <a:p>
                      <a:pPr indent="0" marL="0">
                        <a:buNone/>
                      </a:pPr>
                      <a:r>
                        <a:rPr lang="en-US" sz="1300" b="1" dirty="0">
                          <a:solidFill>
                            <a:schemeClr val="bg2"/>
                          </a:solidFill>
                        </a:rPr>
                        <a:t>A/B, 9 runs each</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Before</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After</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Change</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bg2"/>
                          </a:solidFill>
                        </a:rPr>
                        <a:t>Mostly refused, 200 clients</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2,391</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2,092</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−13%</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300" dirty="0">
                          <a:solidFill>
                            <a:schemeClr val="bg2"/>
                          </a:solidFill>
                        </a:rPr>
                        <a:t>Mostly refused, 1,000 clients</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2,015</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2,162</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+7%</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300" dirty="0">
                          <a:solidFill>
                            <a:schemeClr val="bg2"/>
                          </a:solidFill>
                        </a:rPr>
                        <a:t>All succeed, 200 clients</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1,196</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998</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−17%</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300" dirty="0">
                          <a:solidFill>
                            <a:schemeClr val="bg2"/>
                          </a:solidFill>
                        </a:rPr>
                        <a:t>All succeed, 1,000 clients</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1,230</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1,413</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300" dirty="0">
                          <a:solidFill>
                            <a:schemeClr val="bg2"/>
                          </a:solidFill>
                        </a:rPr>
                        <a:t>+15%</a:t>
                      </a:r>
                      <a:endParaRPr lang="en-US" sz="1300" dirty="0"/>
                    </a:p>
                  </a:txBody>
                  <a:tcPr marL="76200" marR="76200" marT="63500" marB="635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bl>
          </a:graphicData>
        </a:graphic>
      </p:graphicFrame>
      <p:sp>
        <p:nvSpPr>
          <p:cNvPr id="5" name="AB conclusion"/>
          <p:cNvSpPr txBox="1"/>
          <p:nvPr/>
        </p:nvSpPr>
        <p:spPr>
          <a:xfrm>
            <a:off x="6583680" y="3703320"/>
            <a:ext cx="5056632" cy="1097280"/>
          </a:xfrm>
          <a:prstGeom prst="rect">
            <a:avLst/>
          </a:prstGeom>
          <a:noFill/>
          <a:ln/>
        </p:spPr>
        <p:txBody>
          <a:bodyPr wrap="square" lIns="0" tIns="0" rIns="0" bIns="0" rtlCol="0" anchor="t"/>
          <a:lstStyle/>
          <a:p>
            <a:pPr indent="0" marL="0">
              <a:lnSpc>
                <a:spcPct val="115000"/>
              </a:lnSpc>
              <a:buNone/>
            </a:pPr>
            <a:r>
              <a:rPr lang="en-US" sz="1400" dirty="0">
                <a:solidFill>
                  <a:schemeClr val="accent5"/>
                </a:solidFill>
              </a:rPr>
              <a:t>Requests per second, median. Signs flip between rounds and ranges overlap: no difference beyond the ±20% run-to-run noise. A precheck before locking measured worse and was removed.</a:t>
            </a:r>
            <a:endParaRPr lang="en-US" sz="1400" dirty="0"/>
          </a:p>
        </p:txBody>
      </p:sp>
      <p:sp>
        <p:nvSpPr>
          <p:cNvPr id="6" name="Next lever"/>
          <p:cNvSpPr txBox="1"/>
          <p:nvPr/>
        </p:nvSpPr>
        <p:spPr>
          <a:xfrm>
            <a:off x="6583680" y="4892040"/>
            <a:ext cx="5056632" cy="685800"/>
          </a:xfrm>
          <a:prstGeom prst="rect">
            <a:avLst/>
          </a:prstGeom>
          <a:noFill/>
          <a:ln/>
        </p:spPr>
        <p:txBody>
          <a:bodyPr wrap="square" lIns="0" tIns="0" rIns="0" bIns="0" rtlCol="0" anchor="t"/>
          <a:lstStyle/>
          <a:p>
            <a:pPr indent="0" marL="0">
              <a:buNone/>
            </a:pPr>
            <a:r>
              <a:rPr lang="en-US" sz="1400" b="1" dirty="0">
                <a:solidFill>
                  <a:schemeClr val="accent1"/>
                </a:solidFill>
              </a:rPr>
              <a:t>Next lever: no application round trips while the row is locked (server-only idempotency write).</a:t>
            </a:r>
            <a:endParaRPr lang="en-US" sz="1400" dirty="0"/>
          </a:p>
        </p:txBody>
      </p:sp>
      <p:sp>
        <p:nvSpPr>
          <p:cNvPr id="8"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requests spend most of their time queuing for the one row, so the next speed-up is fewer app round trips while holding it.</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Tracing the lost connections</a:t>
            </a:r>
            <a:endParaRPr lang="en-US" sz="3200" dirty="0"/>
          </a:p>
        </p:txBody>
      </p:sp>
      <p:graphicFrame>
        <p:nvGraphicFramePr>
          <p:cNvPr id="17" name="Network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6400800"/>
                <a:gridCol w="4690872"/>
              </a:tblGrid>
              <a:tr h="0">
                <a:tc>
                  <a:txBody>
                    <a:bodyPr/>
                    <a:lstStyle/>
                    <a:p>
                      <a:pPr indent="0" marL="0">
                        <a:buNone/>
                      </a:pPr>
                      <a:r>
                        <a:rPr lang="en-US" sz="1500" b="1" dirty="0">
                          <a:solidFill>
                            <a:schemeClr val="bg2"/>
                          </a:solidFill>
                        </a:rPr>
                        <a:t>Step</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Result</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solidFill>
                      <a:schemeClr val="tx2"/>
                    </a:solidFill>
                  </a:tcPr>
                </a:tc>
              </a:tr>
              <a:tr h="0">
                <a:tc>
                  <a:txBody>
                    <a:bodyPr/>
                    <a:lstStyle/>
                    <a:p>
                      <a:pPr indent="0" marL="0">
                        <a:buNone/>
                      </a:pPr>
                      <a:r>
                        <a:rPr lang="en-US" sz="1500" dirty="0">
                          <a:solidFill>
                            <a:schemeClr val="bg2"/>
                          </a:solidFill>
                        </a:rPr>
                        <a:t>Reproduce: fresh servers, a 1,000-client burst after a warm-up, client on the host</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2 of 6 runs lost 1 to 11 requests</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Hypothesis: Tomcat accept queue too small; raise it from 100 to 1,024</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Still lost 38 in 1 of 6 runs: falsified</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Remove Docker Desktop port forwarding: client inside the Docker network</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0 of 6 runs, and 0 in 144 benchmark runs</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r h="0">
                <a:tc>
                  <a:txBody>
                    <a:bodyPr/>
                    <a:lstStyle/>
                    <a:p>
                      <a:pPr indent="0" marL="0">
                        <a:buNone/>
                      </a:pPr>
                      <a:r>
                        <a:rPr lang="en-US" sz="1500" dirty="0">
                          <a:solidFill>
                            <a:schemeClr val="bg2"/>
                          </a:solidFill>
                        </a:rPr>
                        <a:t>Did lost requests reach the application?</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c>
                  <a:txBody>
                    <a:bodyPr/>
                    <a:lstStyle/>
                    <a:p>
                      <a:pPr indent="0" marL="0">
                        <a:buNone/>
                      </a:pPr>
                      <a:r>
                        <a:rPr lang="en-US" sz="1500" dirty="0">
                          <a:solidFill>
                            <a:schemeClr val="bg2"/>
                          </a:solidFill>
                        </a:rPr>
                        <a:t>No: no idempotency record, no log line, so retries are safe</a:t>
                      </a:r>
                      <a:endParaRPr lang="en-US" sz="1500" dirty="0"/>
                    </a:p>
                  </a:txBody>
                  <a:tcPr marL="101600" marR="101600" marT="88900" marB="88900">
                    <a:lnL w="9525" cap="flat" cmpd="sng" algn="ctr">
                      <a:solidFill>
                        <a:srgbClr val="2A3449"/>
                      </a:solidFill>
                      <a:prstDash val="solid"/>
                      <a:round/>
                      <a:headEnd type="none" w="med" len="med"/>
                      <a:tailEnd type="none" w="med" len="med"/>
                    </a:lnL>
                    <a:lnR w="9525" cap="flat" cmpd="sng" algn="ctr">
                      <a:solidFill>
                        <a:srgbClr val="2A3449"/>
                      </a:solidFill>
                      <a:prstDash val="solid"/>
                      <a:round/>
                      <a:headEnd type="none" w="med" len="med"/>
                      <a:tailEnd type="none" w="med" len="med"/>
                    </a:lnR>
                    <a:lnT w="9525" cap="flat" cmpd="sng" algn="ctr">
                      <a:solidFill>
                        <a:srgbClr val="2A3449"/>
                      </a:solidFill>
                      <a:prstDash val="solid"/>
                      <a:round/>
                      <a:headEnd type="none" w="med" len="med"/>
                      <a:tailEnd type="none" w="med" len="med"/>
                    </a:lnT>
                    <a:lnB w="9525" cap="flat" cmpd="sng" algn="ctr">
                      <a:solidFill>
                        <a:srgbClr val="2A3449"/>
                      </a:solidFill>
                      <a:prstDash val="solid"/>
                      <a:round/>
                      <a:headEnd type="none" w="med" len="med"/>
                      <a:tailEnd type="none" w="med" len="med"/>
                    </a:lnB>
                  </a:tcPr>
                </a:tc>
              </a:tr>
            </a:tbl>
          </a:graphicData>
        </a:graphic>
      </p:graphicFrame>
      <p:sp>
        <p:nvSpPr>
          <p:cNvPr id="4" name="Network conclusion"/>
          <p:cNvSpPr txBox="1"/>
          <p:nvPr/>
        </p:nvSpPr>
        <p:spPr>
          <a:xfrm>
            <a:off x="548640" y="4343400"/>
            <a:ext cx="11091672" cy="822960"/>
          </a:xfrm>
          <a:prstGeom prst="rect">
            <a:avLst/>
          </a:prstGeom>
          <a:noFill/>
          <a:ln/>
        </p:spPr>
        <p:txBody>
          <a:bodyPr wrap="square" lIns="0" tIns="0" rIns="0" bIns="0" rtlCol="0" anchor="t"/>
          <a:lstStyle/>
          <a:p>
            <a:pPr indent="0" marL="0">
              <a:lnSpc>
                <a:spcPct val="115000"/>
              </a:lnSpc>
              <a:buNone/>
            </a:pPr>
            <a:r>
              <a:rPr lang="en-US" sz="1600" dirty="0">
                <a:solidFill>
                  <a:schemeClr val="accent5"/>
                </a:solidFill>
              </a:rPr>
              <a:t>Most likely cause: Docker Desktop networking under connection bursts, not the service. Not proven, because six clean runs could happen by chance, but 144 more clean runs support it.</a:t>
            </a:r>
            <a:endParaRPr lang="en-US" sz="1600" dirty="0"/>
          </a:p>
        </p:txBody>
      </p:sp>
      <p:sp>
        <p:nvSpPr>
          <p:cNvPr id="6"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the few dropped connections happen in Docker Desktop on a laptop, before requests ever reach the service.</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t"/>
          <a:lstStyle/>
          <a:p>
            <a:pPr algn="l" indent="0" marL="0">
              <a:buNone/>
            </a:pPr>
            <a:r>
              <a:rPr lang="en-US" sz="3200" b="1" dirty="0">
                <a:solidFill>
                  <a:schemeClr val="bg2"/>
                </a:solidFill>
              </a:rPr>
              <a:t>Operating it, and what is still open</a:t>
            </a:r>
            <a:endParaRPr lang="en-US" sz="3200" dirty="0"/>
          </a:p>
        </p:txBody>
      </p:sp>
      <p:sp>
        <p:nvSpPr>
          <p:cNvPr id="3" name="In place card"/>
          <p:cNvSpPr/>
          <p:nvPr/>
        </p:nvSpPr>
        <p:spPr>
          <a:xfrm>
            <a:off x="548640" y="1371600"/>
            <a:ext cx="5431536" cy="4251960"/>
          </a:xfrm>
          <a:prstGeom prst="roundRect">
            <a:avLst>
              <a:gd name="adj" fmla="val 2581"/>
            </a:avLst>
          </a:prstGeom>
          <a:solidFill>
            <a:schemeClr val="tx2"/>
          </a:solidFill>
          <a:ln w="15875">
            <a:solidFill>
              <a:srgbClr val="2A3449"/>
            </a:solidFill>
            <a:prstDash val="solid"/>
          </a:ln>
        </p:spPr>
      </p:sp>
      <p:sp>
        <p:nvSpPr>
          <p:cNvPr id="4" name="In place heading"/>
          <p:cNvSpPr txBox="1"/>
          <p:nvPr/>
        </p:nvSpPr>
        <p:spPr>
          <a:xfrm>
            <a:off x="822960" y="1572768"/>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In place</a:t>
            </a:r>
            <a:endParaRPr lang="en-US" sz="1800" dirty="0"/>
          </a:p>
        </p:txBody>
      </p:sp>
      <p:sp>
        <p:nvSpPr>
          <p:cNvPr id="5" name="In place list"/>
          <p:cNvSpPr txBox="1"/>
          <p:nvPr/>
        </p:nvSpPr>
        <p:spPr>
          <a:xfrm>
            <a:off x="822960" y="205740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JSON logs with requestId and merchantId; probes are not logged</a:t>
            </a:r>
            <a:endParaRPr lang="en-US" sz="1500" dirty="0"/>
          </a:p>
          <a:p>
            <a:pPr marL="342900" indent="-342900">
              <a:spcAft>
                <a:spcPts val="800"/>
              </a:spcAft>
              <a:buSzPct val="100000"/>
              <a:buChar char="•"/>
            </a:pPr>
            <a:r>
              <a:rPr lang="en-US" sz="1500" dirty="0">
                <a:solidFill>
                  <a:schemeClr val="accent5"/>
                </a:solidFill>
              </a:rPr>
              <a:t>Prometheus: outcomes by error code, worker lag, time since the last successful pass</a:t>
            </a:r>
            <a:endParaRPr lang="en-US" sz="1500" dirty="0"/>
          </a:p>
          <a:p>
            <a:pPr marL="342900" indent="-342900">
              <a:spcAft>
                <a:spcPts val="800"/>
              </a:spcAft>
              <a:buSzPct val="100000"/>
              <a:buChar char="•"/>
            </a:pPr>
            <a:r>
              <a:rPr lang="en-US" sz="1500" dirty="0">
                <a:solidFill>
                  <a:schemeClr val="accent5"/>
                </a:solidFill>
              </a:rPr>
              <a:t>Writes wait at most 2 s for a lock, then 503 SERVICE_BUSY</a:t>
            </a:r>
            <a:endParaRPr lang="en-US" sz="1500" dirty="0"/>
          </a:p>
          <a:p>
            <a:pPr marL="342900" indent="-342900">
              <a:spcAft>
                <a:spcPts val="800"/>
              </a:spcAft>
              <a:buSzPct val="100000"/>
              <a:buChar char="•"/>
            </a:pPr>
            <a:r>
              <a:rPr lang="en-US" sz="1500" dirty="0">
                <a:solidFill>
                  <a:schemeClr val="accent5"/>
                </a:solidFill>
              </a:rPr>
              <a:t>Database outage: requests fail within 5 s, metrics stay up</a:t>
            </a:r>
            <a:endParaRPr lang="en-US" sz="1500" dirty="0"/>
          </a:p>
          <a:p>
            <a:pPr marL="342900" indent="-342900">
              <a:spcAft>
                <a:spcPts val="800"/>
              </a:spcAft>
              <a:buSzPct val="100000"/>
              <a:buChar char="•"/>
            </a:pPr>
            <a:r>
              <a:rPr lang="en-US" sz="1500" dirty="0">
                <a:solidFill>
                  <a:schemeClr val="accent5"/>
                </a:solidFill>
              </a:rPr>
              <a:t>Runbook with drilled backup, restore and key issuance</a:t>
            </a:r>
            <a:endParaRPr lang="en-US" sz="1500" dirty="0"/>
          </a:p>
        </p:txBody>
      </p:sp>
      <p:sp>
        <p:nvSpPr>
          <p:cNvPr id="6" name="Limits card"/>
          <p:cNvSpPr/>
          <p:nvPr/>
        </p:nvSpPr>
        <p:spPr>
          <a:xfrm>
            <a:off x="6208776" y="1371600"/>
            <a:ext cx="5431536" cy="4251960"/>
          </a:xfrm>
          <a:prstGeom prst="roundRect">
            <a:avLst>
              <a:gd name="adj" fmla="val 2581"/>
            </a:avLst>
          </a:prstGeom>
          <a:solidFill>
            <a:schemeClr val="tx2"/>
          </a:solidFill>
          <a:ln w="15875">
            <a:solidFill>
              <a:srgbClr val="2A3449"/>
            </a:solidFill>
            <a:prstDash val="solid"/>
          </a:ln>
        </p:spPr>
      </p:sp>
      <p:sp>
        <p:nvSpPr>
          <p:cNvPr id="7" name="Limits heading"/>
          <p:cNvSpPr txBox="1"/>
          <p:nvPr/>
        </p:nvSpPr>
        <p:spPr>
          <a:xfrm>
            <a:off x="6483096" y="1572768"/>
            <a:ext cx="4937760" cy="365760"/>
          </a:xfrm>
          <a:prstGeom prst="rect">
            <a:avLst/>
          </a:prstGeom>
          <a:noFill/>
          <a:ln/>
        </p:spPr>
        <p:txBody>
          <a:bodyPr wrap="square" lIns="0" tIns="0" rIns="0" bIns="0" rtlCol="0" anchor="t"/>
          <a:lstStyle/>
          <a:p>
            <a:pPr indent="0" marL="0">
              <a:buNone/>
            </a:pPr>
            <a:r>
              <a:rPr lang="en-US" sz="1800" b="1" dirty="0">
                <a:solidFill>
                  <a:schemeClr val="accent2"/>
                </a:solidFill>
              </a:rPr>
              <a:t>Known limits</a:t>
            </a:r>
            <a:endParaRPr lang="en-US" sz="1800" dirty="0"/>
          </a:p>
        </p:txBody>
      </p:sp>
      <p:sp>
        <p:nvSpPr>
          <p:cNvPr id="8" name="Limits list"/>
          <p:cNvSpPr txBox="1"/>
          <p:nvPr/>
        </p:nvSpPr>
        <p:spPr>
          <a:xfrm>
            <a:off x="6483096" y="205740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One hot SKU is capped by its row lock (73% of database time is spent queuing for it)</a:t>
            </a:r>
            <a:endParaRPr lang="en-US" sz="1500" dirty="0"/>
          </a:p>
          <a:p>
            <a:pPr marL="342900" indent="-342900">
              <a:spcAft>
                <a:spcPts val="800"/>
              </a:spcAft>
              <a:buSzPct val="100000"/>
              <a:buChar char="•"/>
            </a:pPr>
            <a:r>
              <a:rPr lang="en-US" sz="1500" dirty="0">
                <a:solidFill>
                  <a:schemeClr val="accent5"/>
                </a:solidFill>
              </a:rPr>
              <a:t>Load spread across many SKUs is not benchmarked yet</a:t>
            </a:r>
            <a:endParaRPr lang="en-US" sz="1500" dirty="0"/>
          </a:p>
          <a:p>
            <a:pPr marL="342900" indent="-342900">
              <a:spcAft>
                <a:spcPts val="800"/>
              </a:spcAft>
              <a:buSzPct val="100000"/>
              <a:buChar char="•"/>
            </a:pPr>
            <a:r>
              <a:rPr lang="en-US" sz="1500" dirty="0">
                <a:solidFill>
                  <a:schemeClr val="accent5"/>
                </a:solidFill>
              </a:rPr>
              <a:t>No admin API: stores and keys are created with SQL</a:t>
            </a:r>
            <a:endParaRPr lang="en-US" sz="1500" dirty="0"/>
          </a:p>
          <a:p>
            <a:pPr marL="342900" indent="-342900">
              <a:spcAft>
                <a:spcPts val="800"/>
              </a:spcAft>
              <a:buSzPct val="100000"/>
              <a:buChar char="•"/>
            </a:pPr>
            <a:r>
              <a:rPr lang="en-US" sz="1500" dirty="0">
                <a:solidFill>
                  <a:schemeClr val="accent5"/>
                </a:solidFill>
              </a:rPr>
              <a:t>Actuator endpoints need no key; keep them internal</a:t>
            </a:r>
            <a:endParaRPr lang="en-US" sz="1500" dirty="0"/>
          </a:p>
          <a:p>
            <a:pPr marL="342900" indent="-342900">
              <a:spcAft>
                <a:spcPts val="800"/>
              </a:spcAft>
              <a:buSzPct val="100000"/>
              <a:buChar char="•"/>
            </a:pPr>
            <a:r>
              <a:rPr lang="en-US" sz="1500" dirty="0">
                <a:solidFill>
                  <a:schemeClr val="accent5"/>
                </a:solidFill>
              </a:rPr>
              <a:t>Burst connection drops traced to Docker Desktop networking, not the service</a:t>
            </a:r>
            <a:endParaRPr lang="en-US" sz="1500" dirty="0"/>
          </a:p>
        </p:txBody>
      </p:sp>
      <p:sp>
        <p:nvSpPr>
          <p:cNvPr id="10" name="In plain terms"/>
          <p:cNvSpPr txBox="1"/>
          <p:nvPr/>
        </p:nvSpPr>
        <p:spPr>
          <a:xfrm>
            <a:off x="548640" y="5897880"/>
            <a:ext cx="10241280" cy="411480"/>
          </a:xfrm>
          <a:prstGeom prst="rect">
            <a:avLst/>
          </a:prstGeom>
          <a:noFill/>
          <a:ln/>
        </p:spPr>
        <p:txBody>
          <a:bodyPr wrap="square" lIns="0" tIns="0" rIns="0" bIns="0" rtlCol="0" anchor="t"/>
          <a:lstStyle/>
          <a:p>
            <a:pPr indent="0" marL="0">
              <a:buNone/>
            </a:pPr>
            <a:r>
              <a:rPr lang="en-US" sz="1300" b="1" i="1" dirty="0">
                <a:solidFill>
                  <a:schemeClr val="bg2"/>
                </a:solidFill>
              </a:rPr>
              <a:t>In plain terms: </a:t>
            </a:r>
            <a:pPr indent="0" marL="0">
              <a:buNone/>
            </a:pPr>
            <a:r>
              <a:rPr lang="en-US" sz="1300" i="1" dirty="0">
                <a:solidFill>
                  <a:schemeClr val="accent5"/>
                </a:solidFill>
              </a:rPr>
              <a:t>it can be watched, backed up and recovered, and every known weakness is written down.</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tatement"/>
          <p:cNvSpPr txBox="1"/>
          <p:nvPr/>
        </p:nvSpPr>
        <p:spPr>
          <a:xfrm>
            <a:off x="548640" y="1417320"/>
            <a:ext cx="11091672" cy="1645920"/>
          </a:xfrm>
          <a:prstGeom prst="rect">
            <a:avLst/>
          </a:prstGeom>
          <a:noFill/>
          <a:ln/>
        </p:spPr>
        <p:txBody>
          <a:bodyPr wrap="square" lIns="0" tIns="0" rIns="0" bIns="0" rtlCol="0" anchor="b"/>
          <a:lstStyle/>
          <a:p>
            <a:pPr indent="0" marL="0">
              <a:buNone/>
            </a:pPr>
            <a:r>
              <a:rPr lang="en-US" sz="4800" b="1" dirty="0">
                <a:solidFill>
                  <a:schemeClr val="tx1"/>
                </a:solidFill>
              </a:rPr>
              <a:t>Correctness lives in the database</a:t>
            </a:r>
            <a:endParaRPr lang="en-US" sz="4800" dirty="0"/>
          </a:p>
        </p:txBody>
      </p:sp>
      <p:sp>
        <p:nvSpPr>
          <p:cNvPr id="3" name="Takeaway 1"/>
          <p:cNvSpPr txBox="1"/>
          <p:nvPr/>
        </p:nvSpPr>
        <p:spPr>
          <a:xfrm>
            <a:off x="548640" y="3520440"/>
            <a:ext cx="5394960" cy="548640"/>
          </a:xfrm>
          <a:prstGeom prst="rect">
            <a:avLst/>
          </a:prstGeom>
          <a:noFill/>
          <a:ln/>
        </p:spPr>
        <p:txBody>
          <a:bodyPr wrap="square" lIns="0" tIns="0" rIns="0" bIns="0" rtlCol="0" anchor="t"/>
          <a:lstStyle/>
          <a:p>
            <a:pPr indent="0" marL="0">
              <a:buNone/>
            </a:pPr>
            <a:r>
              <a:rPr lang="en-US" sz="1800" b="1" dirty="0">
                <a:solidFill>
                  <a:srgbClr val="0B7A52"/>
                </a:solidFill>
              </a:rPr>
              <a:t>One conditional UPDATE</a:t>
            </a:r>
            <a:pPr indent="0" marL="0">
              <a:buNone/>
            </a:pPr>
            <a:r>
              <a:rPr lang="en-US" sz="1800" dirty="0">
                <a:solidFill>
                  <a:srgbClr val="3A4558"/>
                </a:solidFill>
              </a:rPr>
              <a:t> stops overselling.</a:t>
            </a:r>
            <a:endParaRPr lang="en-US" sz="1800" dirty="0"/>
          </a:p>
        </p:txBody>
      </p:sp>
      <p:sp>
        <p:nvSpPr>
          <p:cNvPr id="4" name="Takeaway 2"/>
          <p:cNvSpPr txBox="1"/>
          <p:nvPr/>
        </p:nvSpPr>
        <p:spPr>
          <a:xfrm>
            <a:off x="6217920" y="3520440"/>
            <a:ext cx="5394960" cy="548640"/>
          </a:xfrm>
          <a:prstGeom prst="rect">
            <a:avLst/>
          </a:prstGeom>
          <a:noFill/>
          <a:ln/>
        </p:spPr>
        <p:txBody>
          <a:bodyPr wrap="square" lIns="0" tIns="0" rIns="0" bIns="0" rtlCol="0" anchor="t"/>
          <a:lstStyle/>
          <a:p>
            <a:pPr indent="0" marL="0">
              <a:buNone/>
            </a:pPr>
            <a:r>
              <a:rPr lang="en-US" sz="1800" b="1" dirty="0">
                <a:solidFill>
                  <a:srgbClr val="0B7A52"/>
                </a:solidFill>
              </a:rPr>
              <a:t>A stored idempotency key</a:t>
            </a:r>
            <a:pPr indent="0" marL="0">
              <a:buNone/>
            </a:pPr>
            <a:r>
              <a:rPr lang="en-US" sz="1800" dirty="0">
                <a:solidFill>
                  <a:srgbClr val="3A4558"/>
                </a:solidFill>
              </a:rPr>
              <a:t> stops duplicates.</a:t>
            </a:r>
            <a:endParaRPr lang="en-US" sz="1800" dirty="0"/>
          </a:p>
        </p:txBody>
      </p:sp>
      <p:sp>
        <p:nvSpPr>
          <p:cNvPr id="5" name="Takeaway 3"/>
          <p:cNvSpPr txBox="1"/>
          <p:nvPr/>
        </p:nvSpPr>
        <p:spPr>
          <a:xfrm>
            <a:off x="548640" y="4297680"/>
            <a:ext cx="5394960" cy="548640"/>
          </a:xfrm>
          <a:prstGeom prst="rect">
            <a:avLst/>
          </a:prstGeom>
          <a:noFill/>
          <a:ln/>
        </p:spPr>
        <p:txBody>
          <a:bodyPr wrap="square" lIns="0" tIns="0" rIns="0" bIns="0" rtlCol="0" anchor="t"/>
          <a:lstStyle/>
          <a:p>
            <a:pPr indent="0" marL="0">
              <a:buNone/>
            </a:pPr>
            <a:r>
              <a:rPr lang="en-US" sz="1800" b="1" dirty="0">
                <a:solidFill>
                  <a:srgbClr val="0B7A52"/>
                </a:solidFill>
              </a:rPr>
              <a:t>Row locks and database time</a:t>
            </a:r>
            <a:pPr indent="0" marL="0">
              <a:buNone/>
            </a:pPr>
            <a:r>
              <a:rPr lang="en-US" sz="1800" dirty="0">
                <a:solidFill>
                  <a:srgbClr val="3A4558"/>
                </a:solidFill>
              </a:rPr>
              <a:t> settle races.</a:t>
            </a:r>
            <a:endParaRPr lang="en-US" sz="1800" dirty="0"/>
          </a:p>
        </p:txBody>
      </p:sp>
      <p:sp>
        <p:nvSpPr>
          <p:cNvPr id="6" name="Takeaway 4"/>
          <p:cNvSpPr txBox="1"/>
          <p:nvPr/>
        </p:nvSpPr>
        <p:spPr>
          <a:xfrm>
            <a:off x="6217920" y="4297680"/>
            <a:ext cx="5394960" cy="548640"/>
          </a:xfrm>
          <a:prstGeom prst="rect">
            <a:avLst/>
          </a:prstGeom>
          <a:noFill/>
          <a:ln/>
        </p:spPr>
        <p:txBody>
          <a:bodyPr wrap="square" lIns="0" tIns="0" rIns="0" bIns="0" rtlCol="0" anchor="t"/>
          <a:lstStyle/>
          <a:p>
            <a:pPr indent="0" marL="0">
              <a:buNone/>
            </a:pPr>
            <a:r>
              <a:rPr lang="en-US" sz="1800" b="1" dirty="0">
                <a:solidFill>
                  <a:srgbClr val="0B7A52"/>
                </a:solidFill>
              </a:rPr>
              <a:t>SKIP LOCKED</a:t>
            </a:r>
            <a:pPr indent="0" marL="0">
              <a:buNone/>
            </a:pPr>
            <a:r>
              <a:rPr lang="en-US" sz="1800" dirty="0">
                <a:solidFill>
                  <a:srgbClr val="3A4558"/>
                </a:solidFill>
              </a:rPr>
              <a:t> makes cleanup safe on every server.</a:t>
            </a:r>
            <a:endParaRPr lang="en-US" sz="18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eserveCore">
  <a:themeElements>
    <a:clrScheme name="ReserveCore">
      <a:dk1>
        <a:srgbClr val="0E1320"/>
      </a:dk1>
      <a:lt1>
        <a:srgbClr val="F2F4F8"/>
      </a:lt1>
      <a:dk2>
        <a:srgbClr val="161D2E"/>
      </a:dk2>
      <a:lt2>
        <a:srgbClr val="E8ECF2"/>
      </a:lt2>
      <a:accent1>
        <a:srgbClr val="3DDC97"/>
      </a:accent1>
      <a:accent2>
        <a:srgbClr val="FFB547"/>
      </a:accent2>
      <a:accent3>
        <a:srgbClr val="6CA8FF"/>
      </a:accent3>
      <a:accent4>
        <a:srgbClr val="FF6B6B"/>
      </a:accent4>
      <a:accent5>
        <a:srgbClr val="B5BDCC"/>
      </a:accent5>
      <a:accent6>
        <a:srgbClr val="8A93A6"/>
      </a:accent6>
      <a:hlink>
        <a:srgbClr val="6CA8FF"/>
      </a:hlink>
      <a:folHlink>
        <a:srgbClr val="B5BDCC"/>
      </a:folHlink>
    </a:clrScheme>
    <a:fontScheme name="ReserveCo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ReserveCore Technical Deep Dive</dc:title>
  <dc:subject>Inventory reservation backend</dc:subject>
  <dc:creator>PptxGenJS</dc:creator>
  <cp:lastModifiedBy>PptxGenJS</cp:lastModifiedBy>
  <cp:revision>1</cp:revision>
  <dcterms:created xsi:type="dcterms:W3CDTF">2026-10-12T17:37:25Z</dcterms:created>
  <dcterms:modified xsi:type="dcterms:W3CDTF">2026-10-12T17:37:25Z</dcterms:modified>
</cp:coreProperties>
</file>