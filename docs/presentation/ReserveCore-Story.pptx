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The story" id="{11771963-b379-75bf-adaf-3f6364b6f630}">
          <p14:sldIdLst>
            <p14:sldId id="256"/>
            <p14:sldId id="257"/>
            <p14:sldId id="258"/>
          </p14:sldIdLst>
        </p14:section>
        <p14:section name="How it works" id="{3217b6fe-8046-63a3-9d4b-594880930fb9}">
          <p14:sldIdLst>
            <p14:sldId id="259"/>
            <p14:sldId id="260"/>
          </p14:sldIdLst>
        </p14:section>
        <p14:section name="The four problems" id="{bad664ce-95e2-fb2a-33ac-2a9926ef2b3d}">
          <p14:sldIdLst>
            <p14:sldId id="261"/>
            <p14:sldId id="262"/>
            <p14:sldId id="263"/>
            <p14:sldId id="264"/>
            <p14:sldId id="265"/>
          </p14:sldIdLst>
        </p14:section>
        <p14:section name="The ending" id="{62e6421e-3948-1847-1cbf-1ee80748216d}">
          <p14:sldIdLst>
            <p14:sldId id="266"/>
            <p14:sldId id="267"/>
            <p14:sldId id="268"/>
            <p14:sldId id="26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story of ReserveCore, told through one small shop's busiest day. No jargon: I'll show a little code only where it helps you see how the idea works.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Meet Maya. She has 20 pairs and more than a thousand fans who will all click Buy within a second of the drop opening. If her shop gets this wrong, she sells shoes she doesn't have, and the people who paid get an apology instead of sneakers.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things go wrong on a day like this. Two people grab the last pair at once. Someone's phone sends the same order twice. Someone walks away mid-checkout and the pair is stuck in their cart. And sometimes a server simply crashes. The rest of the story is how ReserveCore handles each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Think of ReserveCore as a very careful shop assistant. Every pair is in one of three places: on the shelf, behind the counter for one shopper, or sold. The three always add up to 20. The database itself refuses any change that would break that rule, so even a bug in the code can't create a 21st pair.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one checkout. The shop asks ReserveCore to hold a pair. The shopper pays with Maya's normal payment provider; ReserveCore never touches money. If payment works, the shop confirms and the pair is sold. If the shopper gives up, the shop cancels, and if nobody does anything, the hold simply runs out after 10 minutes. The small grey lines are the actual web addresses the shop calls.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one, ten o'clock. A thousand requests hit at the same moment. The trick is that ReserveCore never asks 'is there a pair?' and then 'take it' as two separate steps, because between those two steps someone else could take it. It does both in one move, inside the database. That one line, available is at least one, is the whole defence against selling a pair twice.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two: Leo on the train. His order worked, but he never saw the answer, so his phone sent it again. Every order carries a ticket number, called an idempotency key. ReserveCore stores the answer under that ticket, so when the same ticket arrives again it just replays the first answer. We tested fifty copies of the same order arriving at once: one pair held, fifty identical answers.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three: Ana leaves to cook dinner. Her pair shouldn't be stuck for ever, so every hold has a timer. When it runs out, a cleaner returns the pair to the shelf. Because Maya runs more than one server, there are several cleaners, and the words SKIP LOCKED make each one skip carts another cleaner already has in hand. So a pair is never returned twice.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four is the subtle one. Sara pays just before her deadline, but her confirmation waits a few milliseconds behind other requests. If we checked the time before she queued, we'd let a late order through. So the check uses the database clock at the moment the change is actually made. If she's late, the pair goes straight back on the shelf. We tested this right at the deadline, again and again: every pair ended either sold or released, never both.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five: the worst case. We cut power to every server while thirty people held pairs, then waited until all their timers had expired. When the servers came back, the cleaners returned all thirty pairs within a tenth of a second, each one exactly once. That works because every change is wrapped up as one all-or-nothing step: either it fully happened, or it never happened.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did it work? We replayed drop day with a thousand simulated shoppers across two servers: exactly twenty pairs sold, nine hundred and eighty people told sold out, and zero oversold. Then we tried to break it ourselves, eleven times, by removing protections one by one. The automatic tests caught every single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lessons from reviewing the work like a senior engineer. First, measure instead of guessing: one speed-up sounded clever, but when we measured it properly it made no difference, so it came out. Second, fail fast: if a request gets stuck waiting, it now gives up after two seconds with a clear 'try again', instead of holding up everyone behind it. Third, find the real culprit: a handful of dropped requests under extreme load turned out to be Docker's networking on the laptop, not the shop.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comes next: making the busiest moment even shorter, giving shop owners a simple page to manage their own products, and testing a whole catalogue of drops at the same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 that's the story. Maya can open her drop, go to sleep, and know that twenty pairs means twenty pairs. Thank you,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
    <p:bg>
      <p:bgPr>
        <a:solidFill>
          <a:srgbClr val="0E1320"/>
        </a:solidFill>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972800" y="6400800"/>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TORY">
    <p:bg>
      <p:bgPr>
        <a:solidFill>
          <a:srgbClr val="0E1320"/>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1672" cy="731520"/>
          </a:xfrm>
          <a:prstGeom prst="rect">
            <a:avLst/>
          </a:prstGeom>
          <a:noFill/>
          <a:ln/>
        </p:spPr>
        <p:txBody>
          <a:bodyPr wrap="square" rtlCol="0"/>
          <a:lstStyle>
            <a:lvl1pPr algn="l" indent="0" marL="0">
              <a:buNone/>
              <a:defRPr lang="en-US" sz="3400" b="1" dirty="0">
                <a:solidFill>
                  <a:schemeClr val="bg2"/>
                </a:solidFill>
              </a:defRPr>
            </a:lvl1pPr>
          </a:lstStyle>
          <a:p>
            <a:pPr algn="l" indent="0" marL="0">
              <a:buNone/>
            </a:pPr>
            <a:endParaRPr lang="en-US" sz="3400" dirty="0"/>
          </a:p>
        </p:txBody>
      </p:sp>
      <p:sp>
        <p:nvSpPr>
          <p:cNvPr id="25" name="Slide Number Placeholder 0"/>
          <p:cNvSpPr>
            <a:spLocks noGrp="1"/>
          </p:cNvSpPr>
          <p:nvPr>
            <p:ph type="sldNum" sz="quarter" idx="4294967295"/>
          </p:nvPr>
        </p:nvSpPr>
        <p:spPr>
          <a:xfrm>
            <a:off x="10972800" y="6400800"/>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HAPTER">
    <p:bg>
      <p:bgPr>
        <a:solidFill>
          <a:srgbClr val="0E1320"/>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11091672" cy="320040"/>
          </a:xfrm>
          <a:prstGeom prst="rect">
            <a:avLst/>
          </a:prstGeom>
          <a:noFill/>
          <a:ln/>
        </p:spPr>
        <p:txBody>
          <a:bodyPr wrap="square" rtlCol="0"/>
          <a:lstStyle>
            <a:lvl1pPr algn="l" indent="0" marL="0">
              <a:buNone/>
              <a:defRPr lang="en-US" sz="1200" b="1" spc="300" kern="0" dirty="0">
                <a:solidFill>
                  <a:schemeClr val="accent3"/>
                </a:solidFill>
              </a:defRPr>
            </a:lvl1pPr>
          </a:lstStyle>
          <a:p>
            <a:pPr algn="l" indent="0" marL="0">
              <a:buNone/>
            </a:pPr>
            <a:endParaRPr lang="en-US" sz="1200" dirty="0"/>
          </a:p>
        </p:txBody>
      </p:sp>
      <p:sp>
        <p:nvSpPr>
          <p:cNvPr id="3" name="Text 0"/>
          <p:cNvSpPr/>
          <p:nvPr>
            <p:ph idx="101" type="title" hasCustomPrompt="1"/>
          </p:nvPr>
        </p:nvSpPr>
        <p:spPr>
          <a:xfrm>
            <a:off x="548640" y="658368"/>
            <a:ext cx="11091672" cy="731520"/>
          </a:xfrm>
          <a:prstGeom prst="rect">
            <a:avLst/>
          </a:prstGeom>
          <a:noFill/>
          <a:ln/>
        </p:spPr>
        <p:txBody>
          <a:bodyPr wrap="square" rtlCol="0"/>
          <a:lstStyle>
            <a:lvl1pPr algn="l" indent="0" marL="0">
              <a:buNone/>
              <a:defRPr lang="en-US" sz="3400" b="1" dirty="0">
                <a:solidFill>
                  <a:schemeClr val="bg2"/>
                </a:solidFill>
              </a:defRPr>
            </a:lvl1pPr>
          </a:lstStyle>
          <a:p>
            <a:pPr algn="l" indent="0" marL="0">
              <a:buNone/>
            </a:pPr>
            <a:endParaRPr lang="en-US" sz="3400" dirty="0"/>
          </a:p>
        </p:txBody>
      </p:sp>
      <p:sp>
        <p:nvSpPr>
          <p:cNvPr id="25" name="Slide Number Placeholder 0"/>
          <p:cNvSpPr>
            <a:spLocks noGrp="1"/>
          </p:cNvSpPr>
          <p:nvPr>
            <p:ph type="sldNum" sz="quarter" idx="4294967295"/>
          </p:nvPr>
        </p:nvSpPr>
        <p:spPr>
          <a:xfrm>
            <a:off x="10972800" y="6400800"/>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LOSE">
    <p:bg>
      <p:bgPr>
        <a:solidFill>
          <a:srgbClr val="F2F4F8"/>
        </a:solidFill>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972800" y="6400800"/>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A6476"/>
                </a:solidFill>
              </a:defRPr>
            </a:lvl1pPr>
          </a:lstStyle>
          <a:p>
            <a:pPr algn="r"/>
            <a:fld id="{F7021451-1387-4CA6-816F-3879F97B5CBC}" type="slidenum">
              <a:rPr b="0" lang="en-US"/>
              <a:t>1005</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972800" y="6400800"/>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Eyebrow"/>
          <p:cNvSpPr txBox="1"/>
          <p:nvPr/>
        </p:nvSpPr>
        <p:spPr>
          <a:xfrm>
            <a:off x="548640" y="1600200"/>
            <a:ext cx="5394960" cy="274320"/>
          </a:xfrm>
          <a:prstGeom prst="rect">
            <a:avLst/>
          </a:prstGeom>
          <a:noFill/>
          <a:ln/>
        </p:spPr>
        <p:txBody>
          <a:bodyPr wrap="square" lIns="0" tIns="0" rIns="0" bIns="0" rtlCol="0" anchor="t"/>
          <a:lstStyle/>
          <a:p>
            <a:pPr indent="0" marL="0">
              <a:lnSpc>
                <a:spcPct val="120000"/>
              </a:lnSpc>
              <a:buNone/>
            </a:pPr>
            <a:r>
              <a:rPr lang="en-US" sz="1200" b="1" spc="300" kern="0" dirty="0">
                <a:solidFill>
                  <a:schemeClr val="accent3"/>
                </a:solidFill>
              </a:rPr>
              <a:t>A STORY ABOUT LIMITED STOCK</a:t>
            </a:r>
            <a:endParaRPr lang="en-US" sz="1200" dirty="0"/>
          </a:p>
        </p:txBody>
      </p:sp>
      <p:sp>
        <p:nvSpPr>
          <p:cNvPr id="3" name="Title"/>
          <p:cNvSpPr txBox="1"/>
          <p:nvPr/>
        </p:nvSpPr>
        <p:spPr>
          <a:xfrm>
            <a:off x="548640" y="1965960"/>
            <a:ext cx="5394960" cy="914400"/>
          </a:xfrm>
          <a:prstGeom prst="rect">
            <a:avLst/>
          </a:prstGeom>
          <a:noFill/>
          <a:ln/>
        </p:spPr>
        <p:txBody>
          <a:bodyPr wrap="square" lIns="0" tIns="0" rIns="0" bIns="0" rtlCol="0" anchor="t"/>
          <a:lstStyle/>
          <a:p>
            <a:pPr indent="0" marL="0">
              <a:lnSpc>
                <a:spcPct val="100000"/>
              </a:lnSpc>
              <a:buNone/>
            </a:pPr>
            <a:r>
              <a:rPr lang="en-US" sz="5400" b="1" dirty="0">
                <a:solidFill>
                  <a:schemeClr val="bg2"/>
                </a:solidFill>
              </a:rPr>
              <a:t>ReserveCore</a:t>
            </a:r>
            <a:endParaRPr lang="en-US" sz="5400" dirty="0"/>
          </a:p>
        </p:txBody>
      </p:sp>
      <p:sp>
        <p:nvSpPr>
          <p:cNvPr id="4" name="Subtitle"/>
          <p:cNvSpPr txBox="1"/>
          <p:nvPr/>
        </p:nvSpPr>
        <p:spPr>
          <a:xfrm>
            <a:off x="548640" y="3017520"/>
            <a:ext cx="5394960" cy="1280160"/>
          </a:xfrm>
          <a:prstGeom prst="rect">
            <a:avLst/>
          </a:prstGeom>
          <a:noFill/>
          <a:ln/>
        </p:spPr>
        <p:txBody>
          <a:bodyPr wrap="square" lIns="0" tIns="0" rIns="0" bIns="0" rtlCol="0" anchor="t"/>
          <a:lstStyle/>
          <a:p>
            <a:pPr indent="0" marL="0">
              <a:lnSpc>
                <a:spcPct val="120000"/>
              </a:lnSpc>
              <a:buNone/>
            </a:pPr>
            <a:r>
              <a:rPr lang="en-US" sz="2200" dirty="0">
                <a:solidFill>
                  <a:schemeClr val="accent5"/>
                </a:solidFill>
              </a:rPr>
              <a:t>20 sneakers, 1,000 shoppers, and a shop that never sells what it doesn't have.</a:t>
            </a:r>
            <a:endParaRPr lang="en-US" sz="2200" dirty="0"/>
          </a:p>
        </p:txBody>
      </p:sp>
      <p:pic>
        <p:nvPicPr>
          <p:cNvPr id="5" name="Launch video frame" descr="Launch video frame: 20 reserved, 980 told no, 0 oversold">    </p:cNvPr>
          <p:cNvPicPr>
            <a:picLocks noChangeAspect="1"/>
          </p:cNvPicPr>
          <p:nvPr/>
        </p:nvPicPr>
        <p:blipFill>
          <a:blip r:embed="rId1"/>
          <a:stretch>
            <a:fillRect/>
          </a:stretch>
        </p:blipFill>
        <p:spPr>
          <a:xfrm>
            <a:off x="6263640" y="1600200"/>
            <a:ext cx="5376672" cy="3026664"/>
          </a:xfrm>
          <a:prstGeom prst="rect">
            <a:avLst/>
          </a:prstGeom>
        </p:spPr>
      </p:pic>
      <p:sp>
        <p:nvSpPr>
          <p:cNvPr id="25" name="Slide Number Placeholder 0"/>
          <p:cNvSpPr>
            <a:spLocks noGrp="1"/>
          </p:cNvSpPr>
          <p:nvPr>
            <p:ph type="sldNum" sz="quarter" idx="4294967295"/>
          </p:nvPr>
        </p:nvSpPr>
        <p:spPr>
          <a:xfrm>
            <a:off x="10972800" y="6400800"/>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1672" cy="731520"/>
          </a:xfrm>
          <a:prstGeom prst="rect">
            <a:avLst/>
          </a:prstGeom>
          <a:noFill/>
          <a:ln/>
        </p:spPr>
        <p:txBody>
          <a:bodyPr wrap="square" lIns="0" tIns="0" rIns="0" bIns="0" rtlCol="0" anchor="t"/>
          <a:lstStyle/>
          <a:p>
            <a:pPr algn="l" indent="0" marL="0">
              <a:buNone/>
            </a:pPr>
            <a:r>
              <a:rPr lang="en-US" sz="3400" b="1" dirty="0">
                <a:solidFill>
                  <a:schemeClr val="bg2"/>
                </a:solidFill>
              </a:rPr>
              <a:t>Meet Maya</a:t>
            </a:r>
            <a:endParaRPr lang="en-US" sz="3400" dirty="0"/>
          </a:p>
        </p:txBody>
      </p:sp>
      <p:sp>
        <p:nvSpPr>
          <p:cNvPr id="3" name="Story"/>
          <p:cNvSpPr txBox="1"/>
          <p:nvPr/>
        </p:nvSpPr>
        <p:spPr>
          <a:xfrm>
            <a:off x="548640" y="1463040"/>
            <a:ext cx="5760720" cy="4206240"/>
          </a:xfrm>
          <a:prstGeom prst="rect">
            <a:avLst/>
          </a:prstGeom>
          <a:noFill/>
          <a:ln/>
        </p:spPr>
        <p:txBody>
          <a:bodyPr wrap="square" lIns="0" tIns="0" rIns="0" bIns="0" rtlCol="0" anchor="t"/>
          <a:lstStyle/>
          <a:p>
            <a:pPr indent="0" marL="0">
              <a:lnSpc>
                <a:spcPct val="120000"/>
              </a:lnSpc>
              <a:spcAft>
                <a:spcPts val="1200"/>
              </a:spcAft>
              <a:buNone/>
            </a:pPr>
            <a:r>
              <a:rPr lang="en-US" sz="1900" dirty="0">
                <a:solidFill>
                  <a:schemeClr val="accent5"/>
                </a:solidFill>
              </a:rPr>
              <a:t>Maya runs a small online sneaker shop. On Saturday at 10:00 she releases 20 pairs of a limited sneaker.</a:t>
            </a:r>
            <a:endParaRPr lang="en-US" sz="1900" dirty="0"/>
          </a:p>
          <a:p>
            <a:pPr indent="0" marL="0">
              <a:lnSpc>
                <a:spcPct val="120000"/>
              </a:lnSpc>
              <a:spcAft>
                <a:spcPts val="1200"/>
              </a:spcAft>
              <a:buNone/>
            </a:pPr>
            <a:r>
              <a:rPr lang="en-US" sz="1900" dirty="0">
                <a:solidFill>
                  <a:schemeClr val="accent5"/>
                </a:solidFill>
              </a:rPr>
              <a:t>More than 1,000 fans are waiting, fingers on the Buy button.</a:t>
            </a:r>
            <a:endParaRPr lang="en-US" sz="1900" dirty="0"/>
          </a:p>
          <a:p>
            <a:pPr indent="0" marL="0">
              <a:lnSpc>
                <a:spcPct val="120000"/>
              </a:lnSpc>
              <a:spcAft>
                <a:spcPts val="1200"/>
              </a:spcAft>
              <a:buNone/>
            </a:pPr>
            <a:r>
              <a:rPr lang="en-US" sz="1900" dirty="0">
                <a:solidFill>
                  <a:schemeClr val="accent5"/>
                </a:solidFill>
              </a:rPr>
              <a:t>Her nightmare: selling 21 pairs when she only has 20, then emailing a fan to say sorry.</a:t>
            </a:r>
            <a:endParaRPr lang="en-US" sz="1900" dirty="0"/>
          </a:p>
        </p:txBody>
      </p:sp>
      <p:sp>
        <p:nvSpPr>
          <p:cNvPr id="4" name="Stat pairs"/>
          <p:cNvSpPr/>
          <p:nvPr/>
        </p:nvSpPr>
        <p:spPr>
          <a:xfrm>
            <a:off x="6675120" y="1463040"/>
            <a:ext cx="2377440" cy="1600200"/>
          </a:xfrm>
          <a:prstGeom prst="roundRect">
            <a:avLst>
              <a:gd name="adj" fmla="val 6857"/>
            </a:avLst>
          </a:prstGeom>
          <a:solidFill>
            <a:schemeClr val="tx2"/>
          </a:solidFill>
          <a:ln w="15875">
            <a:solidFill>
              <a:srgbClr val="2A3449"/>
            </a:solidFill>
            <a:prstDash val="solid"/>
          </a:ln>
        </p:spPr>
      </p:sp>
      <p:sp>
        <p:nvSpPr>
          <p:cNvPr id="5" name="Stat pairs value"/>
          <p:cNvSpPr txBox="1"/>
          <p:nvPr/>
        </p:nvSpPr>
        <p:spPr>
          <a:xfrm>
            <a:off x="6903720" y="1664208"/>
            <a:ext cx="1920240" cy="685800"/>
          </a:xfrm>
          <a:prstGeom prst="rect">
            <a:avLst/>
          </a:prstGeom>
          <a:noFill/>
          <a:ln/>
        </p:spPr>
        <p:txBody>
          <a:bodyPr wrap="square" lIns="0" tIns="0" rIns="0" bIns="0" rtlCol="0" anchor="t"/>
          <a:lstStyle/>
          <a:p>
            <a:pPr indent="0" marL="0">
              <a:lnSpc>
                <a:spcPct val="100000"/>
              </a:lnSpc>
              <a:buNone/>
            </a:pPr>
            <a:r>
              <a:rPr lang="en-US" sz="3600" b="1" dirty="0">
                <a:solidFill>
                  <a:schemeClr val="accent1"/>
                </a:solidFill>
              </a:rPr>
              <a:t>20</a:t>
            </a:r>
            <a:endParaRPr lang="en-US" sz="3600" dirty="0"/>
          </a:p>
        </p:txBody>
      </p:sp>
      <p:sp>
        <p:nvSpPr>
          <p:cNvPr id="6" name="Stat pairs label"/>
          <p:cNvSpPr txBox="1"/>
          <p:nvPr/>
        </p:nvSpPr>
        <p:spPr>
          <a:xfrm>
            <a:off x="6903720" y="2377440"/>
            <a:ext cx="1920240" cy="548640"/>
          </a:xfrm>
          <a:prstGeom prst="rect">
            <a:avLst/>
          </a:prstGeom>
          <a:noFill/>
          <a:ln/>
        </p:spPr>
        <p:txBody>
          <a:bodyPr wrap="square" lIns="0" tIns="0" rIns="0" bIns="0" rtlCol="0" anchor="t"/>
          <a:lstStyle/>
          <a:p>
            <a:pPr indent="0" marL="0">
              <a:lnSpc>
                <a:spcPct val="110000"/>
              </a:lnSpc>
              <a:buNone/>
            </a:pPr>
            <a:r>
              <a:rPr lang="en-US" sz="1500" dirty="0">
                <a:solidFill>
                  <a:schemeClr val="accent5"/>
                </a:solidFill>
              </a:rPr>
              <a:t>pairs in stock</a:t>
            </a:r>
            <a:endParaRPr lang="en-US" sz="1500" dirty="0"/>
          </a:p>
        </p:txBody>
      </p:sp>
      <p:sp>
        <p:nvSpPr>
          <p:cNvPr id="7" name="Stat shoppers"/>
          <p:cNvSpPr/>
          <p:nvPr/>
        </p:nvSpPr>
        <p:spPr>
          <a:xfrm>
            <a:off x="9262872" y="1463040"/>
            <a:ext cx="2377440" cy="1600200"/>
          </a:xfrm>
          <a:prstGeom prst="roundRect">
            <a:avLst>
              <a:gd name="adj" fmla="val 6857"/>
            </a:avLst>
          </a:prstGeom>
          <a:solidFill>
            <a:schemeClr val="tx2"/>
          </a:solidFill>
          <a:ln w="15875">
            <a:solidFill>
              <a:srgbClr val="2A3449"/>
            </a:solidFill>
            <a:prstDash val="solid"/>
          </a:ln>
        </p:spPr>
      </p:sp>
      <p:sp>
        <p:nvSpPr>
          <p:cNvPr id="8" name="Stat shoppers value"/>
          <p:cNvSpPr txBox="1"/>
          <p:nvPr/>
        </p:nvSpPr>
        <p:spPr>
          <a:xfrm>
            <a:off x="9491472" y="1664208"/>
            <a:ext cx="1920240" cy="685800"/>
          </a:xfrm>
          <a:prstGeom prst="rect">
            <a:avLst/>
          </a:prstGeom>
          <a:noFill/>
          <a:ln/>
        </p:spPr>
        <p:txBody>
          <a:bodyPr wrap="square" lIns="0" tIns="0" rIns="0" bIns="0" rtlCol="0" anchor="t"/>
          <a:lstStyle/>
          <a:p>
            <a:pPr indent="0" marL="0">
              <a:lnSpc>
                <a:spcPct val="100000"/>
              </a:lnSpc>
              <a:buNone/>
            </a:pPr>
            <a:r>
              <a:rPr lang="en-US" sz="3600" b="1" dirty="0">
                <a:solidFill>
                  <a:schemeClr val="accent2"/>
                </a:solidFill>
              </a:rPr>
              <a:t>1,000</a:t>
            </a:r>
            <a:endParaRPr lang="en-US" sz="3600" dirty="0"/>
          </a:p>
        </p:txBody>
      </p:sp>
      <p:sp>
        <p:nvSpPr>
          <p:cNvPr id="9" name="Stat shoppers label"/>
          <p:cNvSpPr txBox="1"/>
          <p:nvPr/>
        </p:nvSpPr>
        <p:spPr>
          <a:xfrm>
            <a:off x="9491472" y="2377440"/>
            <a:ext cx="1920240" cy="548640"/>
          </a:xfrm>
          <a:prstGeom prst="rect">
            <a:avLst/>
          </a:prstGeom>
          <a:noFill/>
          <a:ln/>
        </p:spPr>
        <p:txBody>
          <a:bodyPr wrap="square" lIns="0" tIns="0" rIns="0" bIns="0" rtlCol="0" anchor="t"/>
          <a:lstStyle/>
          <a:p>
            <a:pPr indent="0" marL="0">
              <a:lnSpc>
                <a:spcPct val="110000"/>
              </a:lnSpc>
              <a:buNone/>
            </a:pPr>
            <a:r>
              <a:rPr lang="en-US" sz="1500" dirty="0">
                <a:solidFill>
                  <a:schemeClr val="accent5"/>
                </a:solidFill>
              </a:rPr>
              <a:t>shoppers waiting</a:t>
            </a:r>
            <a:endParaRPr lang="en-US" sz="1500" dirty="0"/>
          </a:p>
        </p:txBody>
      </p:sp>
      <p:sp>
        <p:nvSpPr>
          <p:cNvPr id="10" name="Stat time"/>
          <p:cNvSpPr/>
          <p:nvPr/>
        </p:nvSpPr>
        <p:spPr>
          <a:xfrm>
            <a:off x="6675120" y="3291840"/>
            <a:ext cx="4965192" cy="1600200"/>
          </a:xfrm>
          <a:prstGeom prst="roundRect">
            <a:avLst>
              <a:gd name="adj" fmla="val 6857"/>
            </a:avLst>
          </a:prstGeom>
          <a:solidFill>
            <a:schemeClr val="tx2"/>
          </a:solidFill>
          <a:ln w="15875">
            <a:solidFill>
              <a:srgbClr val="2A3449"/>
            </a:solidFill>
            <a:prstDash val="solid"/>
          </a:ln>
        </p:spPr>
      </p:sp>
      <p:sp>
        <p:nvSpPr>
          <p:cNvPr id="11" name="Stat time value"/>
          <p:cNvSpPr txBox="1"/>
          <p:nvPr/>
        </p:nvSpPr>
        <p:spPr>
          <a:xfrm>
            <a:off x="6903720" y="3493008"/>
            <a:ext cx="4507992" cy="685800"/>
          </a:xfrm>
          <a:prstGeom prst="rect">
            <a:avLst/>
          </a:prstGeom>
          <a:noFill/>
          <a:ln/>
        </p:spPr>
        <p:txBody>
          <a:bodyPr wrap="square" lIns="0" tIns="0" rIns="0" bIns="0" rtlCol="0" anchor="t"/>
          <a:lstStyle/>
          <a:p>
            <a:pPr indent="0" marL="0">
              <a:lnSpc>
                <a:spcPct val="100000"/>
              </a:lnSpc>
              <a:buNone/>
            </a:pPr>
            <a:r>
              <a:rPr lang="en-US" sz="3600" b="1" dirty="0">
                <a:solidFill>
                  <a:schemeClr val="accent3"/>
                </a:solidFill>
              </a:rPr>
              <a:t>1 second</a:t>
            </a:r>
            <a:endParaRPr lang="en-US" sz="3600" dirty="0"/>
          </a:p>
        </p:txBody>
      </p:sp>
      <p:sp>
        <p:nvSpPr>
          <p:cNvPr id="12" name="Stat time label"/>
          <p:cNvSpPr txBox="1"/>
          <p:nvPr/>
        </p:nvSpPr>
        <p:spPr>
          <a:xfrm>
            <a:off x="6903720" y="4206240"/>
            <a:ext cx="4507992" cy="548640"/>
          </a:xfrm>
          <a:prstGeom prst="rect">
            <a:avLst/>
          </a:prstGeom>
          <a:noFill/>
          <a:ln/>
        </p:spPr>
        <p:txBody>
          <a:bodyPr wrap="square" lIns="0" tIns="0" rIns="0" bIns="0" rtlCol="0" anchor="t"/>
          <a:lstStyle/>
          <a:p>
            <a:pPr indent="0" marL="0">
              <a:lnSpc>
                <a:spcPct val="110000"/>
              </a:lnSpc>
              <a:buNone/>
            </a:pPr>
            <a:r>
              <a:rPr lang="en-US" sz="1500" dirty="0">
                <a:solidFill>
                  <a:schemeClr val="accent5"/>
                </a:solidFill>
              </a:rPr>
              <a:t>for most of them to click Buy</a:t>
            </a:r>
            <a:endParaRPr lang="en-US" sz="1500" dirty="0"/>
          </a:p>
        </p:txBody>
      </p:sp>
      <p:sp>
        <p:nvSpPr>
          <p:cNvPr id="25" name="Slide Number Placeholder 0"/>
          <p:cNvSpPr>
            <a:spLocks noGrp="1"/>
          </p:cNvSpPr>
          <p:nvPr>
            <p:ph type="sldNum" sz="quarter" idx="4294967295"/>
          </p:nvPr>
        </p:nvSpPr>
        <p:spPr>
          <a:xfrm>
            <a:off x="10972800" y="6400800"/>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1672" cy="731520"/>
          </a:xfrm>
          <a:prstGeom prst="rect">
            <a:avLst/>
          </a:prstGeom>
          <a:noFill/>
          <a:ln/>
        </p:spPr>
        <p:txBody>
          <a:bodyPr wrap="square" lIns="0" tIns="0" rIns="0" bIns="0" rtlCol="0" anchor="t"/>
          <a:lstStyle/>
          <a:p>
            <a:pPr algn="l" indent="0" marL="0">
              <a:buNone/>
            </a:pPr>
            <a:r>
              <a:rPr lang="en-US" sz="3400" b="1" dirty="0">
                <a:solidFill>
                  <a:schemeClr val="bg2"/>
                </a:solidFill>
              </a:rPr>
              <a:t>Four ways drop day can go wrong</a:t>
            </a:r>
            <a:endParaRPr lang="en-US" sz="3400" dirty="0"/>
          </a:p>
        </p:txBody>
      </p:sp>
      <p:sp>
        <p:nvSpPr>
          <p:cNvPr id="3" name="Problem 1"/>
          <p:cNvSpPr/>
          <p:nvPr/>
        </p:nvSpPr>
        <p:spPr>
          <a:xfrm>
            <a:off x="548640" y="1463040"/>
            <a:ext cx="5431536" cy="1920240"/>
          </a:xfrm>
          <a:prstGeom prst="roundRect">
            <a:avLst>
              <a:gd name="adj" fmla="val 5714"/>
            </a:avLst>
          </a:prstGeom>
          <a:solidFill>
            <a:schemeClr val="tx2"/>
          </a:solidFill>
          <a:ln w="15875">
            <a:solidFill>
              <a:srgbClr val="2A3449"/>
            </a:solidFill>
            <a:prstDash val="solid"/>
          </a:ln>
        </p:spPr>
      </p:sp>
      <p:sp>
        <p:nvSpPr>
          <p:cNvPr id="4" name="Problem 1 title"/>
          <p:cNvSpPr txBox="1"/>
          <p:nvPr/>
        </p:nvSpPr>
        <p:spPr>
          <a:xfrm>
            <a:off x="822960" y="1719072"/>
            <a:ext cx="4846320" cy="411480"/>
          </a:xfrm>
          <a:prstGeom prst="rect">
            <a:avLst/>
          </a:prstGeom>
          <a:noFill/>
          <a:ln/>
        </p:spPr>
        <p:txBody>
          <a:bodyPr wrap="square" lIns="0" tIns="0" rIns="0" bIns="0" rtlCol="0" anchor="t"/>
          <a:lstStyle/>
          <a:p>
            <a:pPr indent="0" marL="0">
              <a:lnSpc>
                <a:spcPct val="100000"/>
              </a:lnSpc>
              <a:buNone/>
            </a:pPr>
            <a:r>
              <a:rPr lang="en-US" sz="2200" b="1" dirty="0">
                <a:solidFill>
                  <a:schemeClr val="accent1"/>
                </a:solidFill>
              </a:rPr>
              <a:t>The last pair</a:t>
            </a:r>
            <a:endParaRPr lang="en-US" sz="2200" dirty="0"/>
          </a:p>
        </p:txBody>
      </p:sp>
      <p:sp>
        <p:nvSpPr>
          <p:cNvPr id="5" name="Problem 1 story"/>
          <p:cNvSpPr txBox="1"/>
          <p:nvPr/>
        </p:nvSpPr>
        <p:spPr>
          <a:xfrm>
            <a:off x="822960" y="2240280"/>
            <a:ext cx="4846320" cy="1005840"/>
          </a:xfrm>
          <a:prstGeom prst="rect">
            <a:avLst/>
          </a:prstGeom>
          <a:noFill/>
          <a:ln/>
        </p:spPr>
        <p:txBody>
          <a:bodyPr wrap="square" lIns="0" tIns="0" rIns="0" bIns="0" rtlCol="0" anchor="t"/>
          <a:lstStyle/>
          <a:p>
            <a:pPr indent="0" marL="0">
              <a:lnSpc>
                <a:spcPct val="120000"/>
              </a:lnSpc>
              <a:buNone/>
            </a:pPr>
            <a:r>
              <a:rPr lang="en-US" sz="1700" dirty="0">
                <a:solidFill>
                  <a:schemeClr val="accent5"/>
                </a:solidFill>
              </a:rPr>
              <a:t>Two shoppers click Buy on the last pair at the same instant. Both see "in stock".</a:t>
            </a:r>
            <a:endParaRPr lang="en-US" sz="1700" dirty="0"/>
          </a:p>
        </p:txBody>
      </p:sp>
      <p:sp>
        <p:nvSpPr>
          <p:cNvPr id="6" name="Problem 2"/>
          <p:cNvSpPr/>
          <p:nvPr/>
        </p:nvSpPr>
        <p:spPr>
          <a:xfrm>
            <a:off x="6208776" y="1463040"/>
            <a:ext cx="5431536" cy="1920240"/>
          </a:xfrm>
          <a:prstGeom prst="roundRect">
            <a:avLst>
              <a:gd name="adj" fmla="val 5714"/>
            </a:avLst>
          </a:prstGeom>
          <a:solidFill>
            <a:schemeClr val="tx2"/>
          </a:solidFill>
          <a:ln w="15875">
            <a:solidFill>
              <a:srgbClr val="2A3449"/>
            </a:solidFill>
            <a:prstDash val="solid"/>
          </a:ln>
        </p:spPr>
      </p:sp>
      <p:sp>
        <p:nvSpPr>
          <p:cNvPr id="7" name="Problem 2 title"/>
          <p:cNvSpPr txBox="1"/>
          <p:nvPr/>
        </p:nvSpPr>
        <p:spPr>
          <a:xfrm>
            <a:off x="6483096" y="1719072"/>
            <a:ext cx="4846320" cy="411480"/>
          </a:xfrm>
          <a:prstGeom prst="rect">
            <a:avLst/>
          </a:prstGeom>
          <a:noFill/>
          <a:ln/>
        </p:spPr>
        <p:txBody>
          <a:bodyPr wrap="square" lIns="0" tIns="0" rIns="0" bIns="0" rtlCol="0" anchor="t"/>
          <a:lstStyle/>
          <a:p>
            <a:pPr indent="0" marL="0">
              <a:lnSpc>
                <a:spcPct val="100000"/>
              </a:lnSpc>
              <a:buNone/>
            </a:pPr>
            <a:r>
              <a:rPr lang="en-US" sz="2200" b="1" dirty="0">
                <a:solidFill>
                  <a:schemeClr val="accent3"/>
                </a:solidFill>
              </a:rPr>
              <a:t>The double tap</a:t>
            </a:r>
            <a:endParaRPr lang="en-US" sz="2200" dirty="0"/>
          </a:p>
        </p:txBody>
      </p:sp>
      <p:sp>
        <p:nvSpPr>
          <p:cNvPr id="8" name="Problem 2 story"/>
          <p:cNvSpPr txBox="1"/>
          <p:nvPr/>
        </p:nvSpPr>
        <p:spPr>
          <a:xfrm>
            <a:off x="6483096" y="2240280"/>
            <a:ext cx="4846320" cy="1005840"/>
          </a:xfrm>
          <a:prstGeom prst="rect">
            <a:avLst/>
          </a:prstGeom>
          <a:noFill/>
          <a:ln/>
        </p:spPr>
        <p:txBody>
          <a:bodyPr wrap="square" lIns="0" tIns="0" rIns="0" bIns="0" rtlCol="0" anchor="t"/>
          <a:lstStyle/>
          <a:p>
            <a:pPr indent="0" marL="0">
              <a:lnSpc>
                <a:spcPct val="120000"/>
              </a:lnSpc>
              <a:buNone/>
            </a:pPr>
            <a:r>
              <a:rPr lang="en-US" sz="1700" dirty="0">
                <a:solidFill>
                  <a:schemeClr val="accent5"/>
                </a:solidFill>
              </a:rPr>
              <a:t>Leo taps Buy as his train enters a tunnel, and his phone sends the request again.</a:t>
            </a:r>
            <a:endParaRPr lang="en-US" sz="1700" dirty="0"/>
          </a:p>
        </p:txBody>
      </p:sp>
      <p:sp>
        <p:nvSpPr>
          <p:cNvPr id="9" name="Problem 3"/>
          <p:cNvSpPr/>
          <p:nvPr/>
        </p:nvSpPr>
        <p:spPr>
          <a:xfrm>
            <a:off x="548640" y="3611880"/>
            <a:ext cx="5431536" cy="1920240"/>
          </a:xfrm>
          <a:prstGeom prst="roundRect">
            <a:avLst>
              <a:gd name="adj" fmla="val 5714"/>
            </a:avLst>
          </a:prstGeom>
          <a:solidFill>
            <a:schemeClr val="tx2"/>
          </a:solidFill>
          <a:ln w="15875">
            <a:solidFill>
              <a:srgbClr val="2A3449"/>
            </a:solidFill>
            <a:prstDash val="solid"/>
          </a:ln>
        </p:spPr>
      </p:sp>
      <p:sp>
        <p:nvSpPr>
          <p:cNvPr id="10" name="Problem 3 title"/>
          <p:cNvSpPr txBox="1"/>
          <p:nvPr/>
        </p:nvSpPr>
        <p:spPr>
          <a:xfrm>
            <a:off x="822960" y="3867912"/>
            <a:ext cx="4846320" cy="411480"/>
          </a:xfrm>
          <a:prstGeom prst="rect">
            <a:avLst/>
          </a:prstGeom>
          <a:noFill/>
          <a:ln/>
        </p:spPr>
        <p:txBody>
          <a:bodyPr wrap="square" lIns="0" tIns="0" rIns="0" bIns="0" rtlCol="0" anchor="t"/>
          <a:lstStyle/>
          <a:p>
            <a:pPr indent="0" marL="0">
              <a:lnSpc>
                <a:spcPct val="100000"/>
              </a:lnSpc>
              <a:buNone/>
            </a:pPr>
            <a:r>
              <a:rPr lang="en-US" sz="2200" b="1" dirty="0">
                <a:solidFill>
                  <a:schemeClr val="accent2"/>
                </a:solidFill>
              </a:rPr>
              <a:t>The walk-away</a:t>
            </a:r>
            <a:endParaRPr lang="en-US" sz="2200" dirty="0"/>
          </a:p>
        </p:txBody>
      </p:sp>
      <p:sp>
        <p:nvSpPr>
          <p:cNvPr id="11" name="Problem 3 story"/>
          <p:cNvSpPr txBox="1"/>
          <p:nvPr/>
        </p:nvSpPr>
        <p:spPr>
          <a:xfrm>
            <a:off x="822960" y="4389120"/>
            <a:ext cx="4846320" cy="1005840"/>
          </a:xfrm>
          <a:prstGeom prst="rect">
            <a:avLst/>
          </a:prstGeom>
          <a:noFill/>
          <a:ln/>
        </p:spPr>
        <p:txBody>
          <a:bodyPr wrap="square" lIns="0" tIns="0" rIns="0" bIns="0" rtlCol="0" anchor="t"/>
          <a:lstStyle/>
          <a:p>
            <a:pPr indent="0" marL="0">
              <a:lnSpc>
                <a:spcPct val="120000"/>
              </a:lnSpc>
              <a:buNone/>
            </a:pPr>
            <a:r>
              <a:rPr lang="en-US" sz="1700" dirty="0">
                <a:solidFill>
                  <a:schemeClr val="accent5"/>
                </a:solidFill>
              </a:rPr>
              <a:t>Ana puts a pair in her cart, then leaves to cook dinner. The pair sits there, unsold.</a:t>
            </a:r>
            <a:endParaRPr lang="en-US" sz="1700" dirty="0"/>
          </a:p>
        </p:txBody>
      </p:sp>
      <p:sp>
        <p:nvSpPr>
          <p:cNvPr id="12" name="Problem 4"/>
          <p:cNvSpPr/>
          <p:nvPr/>
        </p:nvSpPr>
        <p:spPr>
          <a:xfrm>
            <a:off x="6208776" y="3611880"/>
            <a:ext cx="5431536" cy="1920240"/>
          </a:xfrm>
          <a:prstGeom prst="roundRect">
            <a:avLst>
              <a:gd name="adj" fmla="val 5714"/>
            </a:avLst>
          </a:prstGeom>
          <a:solidFill>
            <a:schemeClr val="tx2"/>
          </a:solidFill>
          <a:ln w="15875">
            <a:solidFill>
              <a:srgbClr val="2A3449"/>
            </a:solidFill>
            <a:prstDash val="solid"/>
          </a:ln>
        </p:spPr>
      </p:sp>
      <p:sp>
        <p:nvSpPr>
          <p:cNvPr id="13" name="Problem 4 title"/>
          <p:cNvSpPr txBox="1"/>
          <p:nvPr/>
        </p:nvSpPr>
        <p:spPr>
          <a:xfrm>
            <a:off x="6483096" y="3867912"/>
            <a:ext cx="4846320" cy="411480"/>
          </a:xfrm>
          <a:prstGeom prst="rect">
            <a:avLst/>
          </a:prstGeom>
          <a:noFill/>
          <a:ln/>
        </p:spPr>
        <p:txBody>
          <a:bodyPr wrap="square" lIns="0" tIns="0" rIns="0" bIns="0" rtlCol="0" anchor="t"/>
          <a:lstStyle/>
          <a:p>
            <a:pPr indent="0" marL="0">
              <a:lnSpc>
                <a:spcPct val="100000"/>
              </a:lnSpc>
              <a:buNone/>
            </a:pPr>
            <a:r>
              <a:rPr lang="en-US" sz="2200" b="1" dirty="0">
                <a:solidFill>
                  <a:schemeClr val="accent4"/>
                </a:solidFill>
              </a:rPr>
              <a:t>The power cut</a:t>
            </a:r>
            <a:endParaRPr lang="en-US" sz="2200" dirty="0"/>
          </a:p>
        </p:txBody>
      </p:sp>
      <p:sp>
        <p:nvSpPr>
          <p:cNvPr id="14" name="Problem 4 story"/>
          <p:cNvSpPr txBox="1"/>
          <p:nvPr/>
        </p:nvSpPr>
        <p:spPr>
          <a:xfrm>
            <a:off x="6483096" y="4389120"/>
            <a:ext cx="4846320" cy="1005840"/>
          </a:xfrm>
          <a:prstGeom prst="rect">
            <a:avLst/>
          </a:prstGeom>
          <a:noFill/>
          <a:ln/>
        </p:spPr>
        <p:txBody>
          <a:bodyPr wrap="square" lIns="0" tIns="0" rIns="0" bIns="0" rtlCol="0" anchor="t"/>
          <a:lstStyle/>
          <a:p>
            <a:pPr indent="0" marL="0">
              <a:lnSpc>
                <a:spcPct val="120000"/>
              </a:lnSpc>
              <a:buNone/>
            </a:pPr>
            <a:r>
              <a:rPr lang="en-US" sz="1700" dirty="0">
                <a:solidFill>
                  <a:schemeClr val="accent5"/>
                </a:solidFill>
              </a:rPr>
              <a:t>A server crashes in the middle of a sale. Was the pair sold or not?</a:t>
            </a:r>
            <a:endParaRPr lang="en-US" sz="1700" dirty="0"/>
          </a:p>
        </p:txBody>
      </p:sp>
      <p:sp>
        <p:nvSpPr>
          <p:cNvPr id="25" name="Slide Number Placeholder 0"/>
          <p:cNvSpPr>
            <a:spLocks noGrp="1"/>
          </p:cNvSpPr>
          <p:nvPr>
            <p:ph type="sldNum" sz="quarter" idx="4294967295"/>
          </p:nvPr>
        </p:nvSpPr>
        <p:spPr>
          <a:xfrm>
            <a:off x="10972800" y="6400800"/>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1672" cy="731520"/>
          </a:xfrm>
          <a:prstGeom prst="rect">
            <a:avLst/>
          </a:prstGeom>
          <a:noFill/>
          <a:ln/>
        </p:spPr>
        <p:txBody>
          <a:bodyPr wrap="square" lIns="0" tIns="0" rIns="0" bIns="0" rtlCol="0" anchor="t"/>
          <a:lstStyle/>
          <a:p>
            <a:pPr algn="l" indent="0" marL="0">
              <a:buNone/>
            </a:pPr>
            <a:r>
              <a:rPr lang="en-US" sz="3400" b="1" dirty="0">
                <a:solidFill>
                  <a:schemeClr val="bg2"/>
                </a:solidFill>
              </a:rPr>
              <a:t>ReserveCore: a careful shop assistant</a:t>
            </a:r>
            <a:endParaRPr lang="en-US" sz="3400" dirty="0"/>
          </a:p>
        </p:txBody>
      </p:sp>
      <p:sp>
        <p:nvSpPr>
          <p:cNvPr id="3" name="Story"/>
          <p:cNvSpPr txBox="1"/>
          <p:nvPr/>
        </p:nvSpPr>
        <p:spPr>
          <a:xfrm>
            <a:off x="548640" y="1463040"/>
            <a:ext cx="11091672" cy="1554480"/>
          </a:xfrm>
          <a:prstGeom prst="rect">
            <a:avLst/>
          </a:prstGeom>
          <a:noFill/>
          <a:ln/>
        </p:spPr>
        <p:txBody>
          <a:bodyPr wrap="square" lIns="0" tIns="0" rIns="0" bIns="0" rtlCol="0" anchor="t"/>
          <a:lstStyle/>
          <a:p>
            <a:pPr indent="0" marL="0">
              <a:lnSpc>
                <a:spcPct val="120000"/>
              </a:lnSpc>
              <a:spcAft>
                <a:spcPts val="1200"/>
              </a:spcAft>
              <a:buNone/>
            </a:pPr>
            <a:r>
              <a:rPr lang="en-US" sz="1900" dirty="0">
                <a:solidFill>
                  <a:schemeClr val="accent5"/>
                </a:solidFill>
              </a:rPr>
              <a:t>ReserveCore sits behind Maya's shop and looks after one thing: how many pairs are left.</a:t>
            </a:r>
            <a:endParaRPr lang="en-US" sz="1900" dirty="0"/>
          </a:p>
          <a:p>
            <a:pPr indent="0" marL="0">
              <a:lnSpc>
                <a:spcPct val="120000"/>
              </a:lnSpc>
              <a:spcAft>
                <a:spcPts val="1200"/>
              </a:spcAft>
              <a:buNone/>
            </a:pPr>
            <a:r>
              <a:rPr lang="en-US" sz="1900" dirty="0">
                <a:solidFill>
                  <a:schemeClr val="accent5"/>
                </a:solidFill>
              </a:rPr>
              <a:t>When a shopper starts checkout, it puts a pair behind the counter for 10 minutes. Pay, and it is sold. Change your mind, and it goes back on the shelf.</a:t>
            </a:r>
            <a:endParaRPr lang="en-US" sz="1900" dirty="0"/>
          </a:p>
        </p:txBody>
      </p:sp>
      <p:sp>
        <p:nvSpPr>
          <p:cNvPr id="4" name="State 1"/>
          <p:cNvSpPr/>
          <p:nvPr/>
        </p:nvSpPr>
        <p:spPr>
          <a:xfrm>
            <a:off x="548640" y="3246120"/>
            <a:ext cx="3246120" cy="1143000"/>
          </a:xfrm>
          <a:prstGeom prst="roundRect">
            <a:avLst>
              <a:gd name="adj" fmla="val 9600"/>
            </a:avLst>
          </a:prstGeom>
          <a:solidFill>
            <a:schemeClr val="tx2"/>
          </a:solidFill>
          <a:ln w="19050">
            <a:solidFill>
              <a:schemeClr val="accent1"/>
            </a:solidFill>
            <a:prstDash val="solid"/>
          </a:ln>
        </p:spPr>
      </p:sp>
      <p:sp>
        <p:nvSpPr>
          <p:cNvPr id="5" name="State 1 title"/>
          <p:cNvSpPr txBox="1"/>
          <p:nvPr/>
        </p:nvSpPr>
        <p:spPr>
          <a:xfrm>
            <a:off x="777240" y="3401568"/>
            <a:ext cx="2788920" cy="411480"/>
          </a:xfrm>
          <a:prstGeom prst="rect">
            <a:avLst/>
          </a:prstGeom>
          <a:noFill/>
          <a:ln/>
        </p:spPr>
        <p:txBody>
          <a:bodyPr wrap="square" lIns="0" tIns="0" rIns="0" bIns="0" rtlCol="0" anchor="t"/>
          <a:lstStyle/>
          <a:p>
            <a:pPr algn="ctr" indent="0" marL="0">
              <a:lnSpc>
                <a:spcPct val="100000"/>
              </a:lnSpc>
              <a:buNone/>
            </a:pPr>
            <a:r>
              <a:rPr lang="en-US" sz="2000" b="1" dirty="0">
                <a:solidFill>
                  <a:schemeClr val="bg2"/>
                </a:solidFill>
              </a:rPr>
              <a:t>On the shelf</a:t>
            </a:r>
            <a:endParaRPr lang="en-US" sz="2000" dirty="0"/>
          </a:p>
        </p:txBody>
      </p:sp>
      <p:sp>
        <p:nvSpPr>
          <p:cNvPr id="6" name="State 1 note"/>
          <p:cNvSpPr txBox="1"/>
          <p:nvPr/>
        </p:nvSpPr>
        <p:spPr>
          <a:xfrm>
            <a:off x="777240" y="3840480"/>
            <a:ext cx="2788920" cy="365760"/>
          </a:xfrm>
          <a:prstGeom prst="rect">
            <a:avLst/>
          </a:prstGeom>
          <a:noFill/>
          <a:ln/>
        </p:spPr>
        <p:txBody>
          <a:bodyPr wrap="square" lIns="0" tIns="0" rIns="0" bIns="0" rtlCol="0" anchor="t"/>
          <a:lstStyle/>
          <a:p>
            <a:pPr algn="ctr" indent="0" marL="0">
              <a:lnSpc>
                <a:spcPct val="100000"/>
              </a:lnSpc>
              <a:buNone/>
            </a:pPr>
            <a:r>
              <a:rPr lang="en-US" sz="1500" dirty="0">
                <a:solidFill>
                  <a:schemeClr val="accent5"/>
                </a:solidFill>
              </a:rPr>
              <a:t>anyone can take it</a:t>
            </a:r>
            <a:endParaRPr lang="en-US" sz="1500" dirty="0"/>
          </a:p>
        </p:txBody>
      </p:sp>
      <p:sp>
        <p:nvSpPr>
          <p:cNvPr id="7" name="Arrow 1"/>
          <p:cNvSpPr/>
          <p:nvPr/>
        </p:nvSpPr>
        <p:spPr>
          <a:xfrm>
            <a:off x="3858768" y="3630168"/>
            <a:ext cx="502920" cy="365760"/>
          </a:xfrm>
          <a:prstGeom prst="rightArrow">
            <a:avLst/>
          </a:prstGeom>
          <a:solidFill>
            <a:schemeClr val="accent6"/>
          </a:solidFill>
          <a:ln w="12700">
            <a:solidFill>
              <a:schemeClr val="accent6"/>
            </a:solidFill>
            <a:prstDash val="solid"/>
          </a:ln>
        </p:spPr>
      </p:sp>
      <p:sp>
        <p:nvSpPr>
          <p:cNvPr id="8" name="State 2"/>
          <p:cNvSpPr/>
          <p:nvPr/>
        </p:nvSpPr>
        <p:spPr>
          <a:xfrm>
            <a:off x="4416552" y="3246120"/>
            <a:ext cx="3246120" cy="1143000"/>
          </a:xfrm>
          <a:prstGeom prst="roundRect">
            <a:avLst>
              <a:gd name="adj" fmla="val 9600"/>
            </a:avLst>
          </a:prstGeom>
          <a:solidFill>
            <a:schemeClr val="tx2"/>
          </a:solidFill>
          <a:ln w="19050">
            <a:solidFill>
              <a:schemeClr val="accent2"/>
            </a:solidFill>
            <a:prstDash val="solid"/>
          </a:ln>
        </p:spPr>
      </p:sp>
      <p:sp>
        <p:nvSpPr>
          <p:cNvPr id="9" name="State 2 title"/>
          <p:cNvSpPr txBox="1"/>
          <p:nvPr/>
        </p:nvSpPr>
        <p:spPr>
          <a:xfrm>
            <a:off x="4645152" y="3401568"/>
            <a:ext cx="2788920" cy="411480"/>
          </a:xfrm>
          <a:prstGeom prst="rect">
            <a:avLst/>
          </a:prstGeom>
          <a:noFill/>
          <a:ln/>
        </p:spPr>
        <p:txBody>
          <a:bodyPr wrap="square" lIns="0" tIns="0" rIns="0" bIns="0" rtlCol="0" anchor="t"/>
          <a:lstStyle/>
          <a:p>
            <a:pPr algn="ctr" indent="0" marL="0">
              <a:lnSpc>
                <a:spcPct val="100000"/>
              </a:lnSpc>
              <a:buNone/>
            </a:pPr>
            <a:r>
              <a:rPr lang="en-US" sz="2000" b="1" dirty="0">
                <a:solidFill>
                  <a:schemeClr val="bg2"/>
                </a:solidFill>
              </a:rPr>
              <a:t>Behind the counter</a:t>
            </a:r>
            <a:endParaRPr lang="en-US" sz="2000" dirty="0"/>
          </a:p>
        </p:txBody>
      </p:sp>
      <p:sp>
        <p:nvSpPr>
          <p:cNvPr id="10" name="State 2 note"/>
          <p:cNvSpPr txBox="1"/>
          <p:nvPr/>
        </p:nvSpPr>
        <p:spPr>
          <a:xfrm>
            <a:off x="4645152" y="3840480"/>
            <a:ext cx="2788920" cy="365760"/>
          </a:xfrm>
          <a:prstGeom prst="rect">
            <a:avLst/>
          </a:prstGeom>
          <a:noFill/>
          <a:ln/>
        </p:spPr>
        <p:txBody>
          <a:bodyPr wrap="square" lIns="0" tIns="0" rIns="0" bIns="0" rtlCol="0" anchor="t"/>
          <a:lstStyle/>
          <a:p>
            <a:pPr algn="ctr" indent="0" marL="0">
              <a:lnSpc>
                <a:spcPct val="100000"/>
              </a:lnSpc>
              <a:buNone/>
            </a:pPr>
            <a:r>
              <a:rPr lang="en-US" sz="1500" dirty="0">
                <a:solidFill>
                  <a:schemeClr val="accent5"/>
                </a:solidFill>
              </a:rPr>
              <a:t>held for one shopper</a:t>
            </a:r>
            <a:endParaRPr lang="en-US" sz="1500" dirty="0"/>
          </a:p>
        </p:txBody>
      </p:sp>
      <p:sp>
        <p:nvSpPr>
          <p:cNvPr id="11" name="Arrow 2"/>
          <p:cNvSpPr/>
          <p:nvPr/>
        </p:nvSpPr>
        <p:spPr>
          <a:xfrm>
            <a:off x="7726680" y="3630168"/>
            <a:ext cx="502920" cy="365760"/>
          </a:xfrm>
          <a:prstGeom prst="rightArrow">
            <a:avLst/>
          </a:prstGeom>
          <a:solidFill>
            <a:schemeClr val="accent6"/>
          </a:solidFill>
          <a:ln w="12700">
            <a:solidFill>
              <a:schemeClr val="accent6"/>
            </a:solidFill>
            <a:prstDash val="solid"/>
          </a:ln>
        </p:spPr>
      </p:sp>
      <p:sp>
        <p:nvSpPr>
          <p:cNvPr id="12" name="State 3"/>
          <p:cNvSpPr/>
          <p:nvPr/>
        </p:nvSpPr>
        <p:spPr>
          <a:xfrm>
            <a:off x="8284464" y="3246120"/>
            <a:ext cx="3246120" cy="1143000"/>
          </a:xfrm>
          <a:prstGeom prst="roundRect">
            <a:avLst>
              <a:gd name="adj" fmla="val 9600"/>
            </a:avLst>
          </a:prstGeom>
          <a:solidFill>
            <a:schemeClr val="tx2"/>
          </a:solidFill>
          <a:ln w="19050">
            <a:solidFill>
              <a:schemeClr val="accent3"/>
            </a:solidFill>
            <a:prstDash val="solid"/>
          </a:ln>
        </p:spPr>
      </p:sp>
      <p:sp>
        <p:nvSpPr>
          <p:cNvPr id="13" name="State 3 title"/>
          <p:cNvSpPr txBox="1"/>
          <p:nvPr/>
        </p:nvSpPr>
        <p:spPr>
          <a:xfrm>
            <a:off x="8513064" y="3401568"/>
            <a:ext cx="2788920" cy="411480"/>
          </a:xfrm>
          <a:prstGeom prst="rect">
            <a:avLst/>
          </a:prstGeom>
          <a:noFill/>
          <a:ln/>
        </p:spPr>
        <p:txBody>
          <a:bodyPr wrap="square" lIns="0" tIns="0" rIns="0" bIns="0" rtlCol="0" anchor="t"/>
          <a:lstStyle/>
          <a:p>
            <a:pPr algn="ctr" indent="0" marL="0">
              <a:lnSpc>
                <a:spcPct val="100000"/>
              </a:lnSpc>
              <a:buNone/>
            </a:pPr>
            <a:r>
              <a:rPr lang="en-US" sz="2000" b="1" dirty="0">
                <a:solidFill>
                  <a:schemeClr val="bg2"/>
                </a:solidFill>
              </a:rPr>
              <a:t>Sold</a:t>
            </a:r>
            <a:endParaRPr lang="en-US" sz="2000" dirty="0"/>
          </a:p>
        </p:txBody>
      </p:sp>
      <p:sp>
        <p:nvSpPr>
          <p:cNvPr id="14" name="State 3 note"/>
          <p:cNvSpPr txBox="1"/>
          <p:nvPr/>
        </p:nvSpPr>
        <p:spPr>
          <a:xfrm>
            <a:off x="8513064" y="3840480"/>
            <a:ext cx="2788920" cy="365760"/>
          </a:xfrm>
          <a:prstGeom prst="rect">
            <a:avLst/>
          </a:prstGeom>
          <a:noFill/>
          <a:ln/>
        </p:spPr>
        <p:txBody>
          <a:bodyPr wrap="square" lIns="0" tIns="0" rIns="0" bIns="0" rtlCol="0" anchor="t"/>
          <a:lstStyle/>
          <a:p>
            <a:pPr algn="ctr" indent="0" marL="0">
              <a:lnSpc>
                <a:spcPct val="100000"/>
              </a:lnSpc>
              <a:buNone/>
            </a:pPr>
            <a:r>
              <a:rPr lang="en-US" sz="1500" dirty="0">
                <a:solidFill>
                  <a:schemeClr val="accent5"/>
                </a:solidFill>
              </a:rPr>
              <a:t>paid for</a:t>
            </a:r>
            <a:endParaRPr lang="en-US" sz="1500" dirty="0"/>
          </a:p>
        </p:txBody>
      </p:sp>
      <p:sp>
        <p:nvSpPr>
          <p:cNvPr id="15" name="Rule card"/>
          <p:cNvSpPr/>
          <p:nvPr/>
        </p:nvSpPr>
        <p:spPr>
          <a:xfrm>
            <a:off x="548640" y="4709160"/>
            <a:ext cx="11091672" cy="1051560"/>
          </a:xfrm>
          <a:prstGeom prst="roundRect">
            <a:avLst>
              <a:gd name="adj" fmla="val 10435"/>
            </a:avLst>
          </a:prstGeom>
          <a:solidFill>
            <a:schemeClr val="tx2"/>
          </a:solidFill>
          <a:ln w="15875">
            <a:solidFill>
              <a:srgbClr val="2A3449"/>
            </a:solidFill>
            <a:prstDash val="solid"/>
          </a:ln>
        </p:spPr>
      </p:sp>
      <p:sp>
        <p:nvSpPr>
          <p:cNvPr id="16" name="Rule label"/>
          <p:cNvSpPr txBox="1"/>
          <p:nvPr/>
        </p:nvSpPr>
        <p:spPr>
          <a:xfrm>
            <a:off x="822960" y="4846320"/>
            <a:ext cx="5486400" cy="274320"/>
          </a:xfrm>
          <a:prstGeom prst="rect">
            <a:avLst/>
          </a:prstGeom>
          <a:noFill/>
          <a:ln/>
        </p:spPr>
        <p:txBody>
          <a:bodyPr wrap="square" lIns="0" tIns="0" rIns="0" bIns="0" rtlCol="0" anchor="t"/>
          <a:lstStyle/>
          <a:p>
            <a:pPr indent="0" marL="0">
              <a:lnSpc>
                <a:spcPct val="100000"/>
              </a:lnSpc>
              <a:buNone/>
            </a:pPr>
            <a:r>
              <a:rPr lang="en-US" sz="1100" b="1" spc="300" kern="0" dirty="0">
                <a:solidFill>
                  <a:schemeClr val="accent3"/>
                </a:solidFill>
              </a:rPr>
              <a:t>THE RULE IT NEVER BREAKS</a:t>
            </a:r>
            <a:endParaRPr lang="en-US" sz="1100" dirty="0"/>
          </a:p>
        </p:txBody>
      </p:sp>
      <p:sp>
        <p:nvSpPr>
          <p:cNvPr id="17" name="Rule"/>
          <p:cNvSpPr txBox="1"/>
          <p:nvPr/>
        </p:nvSpPr>
        <p:spPr>
          <a:xfrm>
            <a:off x="822960" y="5166360"/>
            <a:ext cx="10515600" cy="411480"/>
          </a:xfrm>
          <a:prstGeom prst="rect">
            <a:avLst/>
          </a:prstGeom>
          <a:noFill/>
          <a:ln/>
        </p:spPr>
        <p:txBody>
          <a:bodyPr wrap="square" lIns="0" tIns="0" rIns="0" bIns="0" rtlCol="0" anchor="ctr"/>
          <a:lstStyle/>
          <a:p>
            <a:pPr indent="0" marL="0">
              <a:buNone/>
            </a:pPr>
            <a:r>
              <a:rPr lang="en-US" sz="1800" dirty="0">
                <a:solidFill>
                  <a:schemeClr val="accent1"/>
                </a:solidFill>
                <a:latin typeface="JetBrains Mono" pitchFamily="34" charset="0"/>
                <a:ea typeface="JetBrains Mono" pitchFamily="34" charset="-122"/>
                <a:cs typeface="JetBrains Mono" pitchFamily="34" charset="-120"/>
              </a:rPr>
              <a:t>on the shelf</a:t>
            </a:r>
            <a:pPr indent="0" marL="0">
              <a:buNone/>
            </a:pPr>
            <a:r>
              <a:rPr lang="en-US" sz="1800" dirty="0">
                <a:solidFill>
                  <a:schemeClr val="bg2"/>
                </a:solidFill>
                <a:latin typeface="JetBrains Mono" pitchFamily="34" charset="0"/>
                <a:ea typeface="JetBrains Mono" pitchFamily="34" charset="-122"/>
                <a:cs typeface="JetBrains Mono" pitchFamily="34" charset="-120"/>
              </a:rPr>
              <a:t> + </a:t>
            </a:r>
            <a:pPr indent="0" marL="0">
              <a:buNone/>
            </a:pPr>
            <a:r>
              <a:rPr lang="en-US" sz="1800" dirty="0">
                <a:solidFill>
                  <a:schemeClr val="accent2"/>
                </a:solidFill>
                <a:latin typeface="JetBrains Mono" pitchFamily="34" charset="0"/>
                <a:ea typeface="JetBrains Mono" pitchFamily="34" charset="-122"/>
                <a:cs typeface="JetBrains Mono" pitchFamily="34" charset="-120"/>
              </a:rPr>
              <a:t>behind the counter</a:t>
            </a:r>
            <a:pPr indent="0" marL="0">
              <a:buNone/>
            </a:pPr>
            <a:r>
              <a:rPr lang="en-US" sz="1800" dirty="0">
                <a:solidFill>
                  <a:schemeClr val="bg2"/>
                </a:solidFill>
                <a:latin typeface="JetBrains Mono" pitchFamily="34" charset="0"/>
                <a:ea typeface="JetBrains Mono" pitchFamily="34" charset="-122"/>
                <a:cs typeface="JetBrains Mono" pitchFamily="34" charset="-120"/>
              </a:rPr>
              <a:t> + </a:t>
            </a:r>
            <a:pPr indent="0" marL="0">
              <a:buNone/>
            </a:pPr>
            <a:r>
              <a:rPr lang="en-US" sz="1800" dirty="0">
                <a:solidFill>
                  <a:schemeClr val="accent3"/>
                </a:solidFill>
                <a:latin typeface="JetBrains Mono" pitchFamily="34" charset="0"/>
                <a:ea typeface="JetBrains Mono" pitchFamily="34" charset="-122"/>
                <a:cs typeface="JetBrains Mono" pitchFamily="34" charset="-120"/>
              </a:rPr>
              <a:t>sold</a:t>
            </a:r>
            <a:pPr indent="0" marL="0">
              <a:buNone/>
            </a:pPr>
            <a:r>
              <a:rPr lang="en-US" sz="1800" dirty="0">
                <a:solidFill>
                  <a:schemeClr val="bg2"/>
                </a:solidFill>
                <a:latin typeface="JetBrains Mono" pitchFamily="34" charset="0"/>
                <a:ea typeface="JetBrains Mono" pitchFamily="34" charset="-122"/>
                <a:cs typeface="JetBrains Mono" pitchFamily="34" charset="-120"/>
              </a:rPr>
              <a:t> = 20, always</a:t>
            </a:r>
            <a:endParaRPr lang="en-US" sz="1800" dirty="0"/>
          </a:p>
        </p:txBody>
      </p:sp>
      <p:sp>
        <p:nvSpPr>
          <p:cNvPr id="25" name="Slide Number Placeholder 0"/>
          <p:cNvSpPr>
            <a:spLocks noGrp="1"/>
          </p:cNvSpPr>
          <p:nvPr>
            <p:ph type="sldNum" sz="quarter" idx="4294967295"/>
          </p:nvPr>
        </p:nvSpPr>
        <p:spPr>
          <a:xfrm>
            <a:off x="10972800" y="6400800"/>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1672" cy="731520"/>
          </a:xfrm>
          <a:prstGeom prst="rect">
            <a:avLst/>
          </a:prstGeom>
          <a:noFill/>
          <a:ln/>
        </p:spPr>
        <p:txBody>
          <a:bodyPr wrap="square" lIns="0" tIns="0" rIns="0" bIns="0" rtlCol="0" anchor="t"/>
          <a:lstStyle/>
          <a:p>
            <a:pPr algn="l" indent="0" marL="0">
              <a:buNone/>
            </a:pPr>
            <a:r>
              <a:rPr lang="en-US" sz="3400" b="1" dirty="0">
                <a:solidFill>
                  <a:schemeClr val="bg2"/>
                </a:solidFill>
              </a:rPr>
              <a:t>One checkout, step by step</a:t>
            </a:r>
            <a:endParaRPr lang="en-US" sz="3400" dirty="0"/>
          </a:p>
        </p:txBody>
      </p:sp>
      <p:sp>
        <p:nvSpPr>
          <p:cNvPr id="3" name="Timeline"/>
          <p:cNvSpPr/>
          <p:nvPr/>
        </p:nvSpPr>
        <p:spPr>
          <a:xfrm>
            <a:off x="1097280" y="2057400"/>
            <a:ext cx="9966960" cy="0"/>
          </a:xfrm>
          <a:prstGeom prst="line">
            <a:avLst/>
          </a:prstGeom>
          <a:noFill/>
          <a:ln w="25400">
            <a:solidFill>
              <a:srgbClr val="2A3449"/>
            </a:solidFill>
            <a:prstDash val="solid"/>
          </a:ln>
        </p:spPr>
      </p:sp>
      <p:sp>
        <p:nvSpPr>
          <p:cNvPr id="4" name="Step 1 dot"/>
          <p:cNvSpPr/>
          <p:nvPr/>
        </p:nvSpPr>
        <p:spPr>
          <a:xfrm>
            <a:off x="822960" y="1691640"/>
            <a:ext cx="731520" cy="731520"/>
          </a:xfrm>
          <a:prstGeom prst="ellipse">
            <a:avLst/>
          </a:prstGeom>
          <a:solidFill>
            <a:schemeClr val="tx2"/>
          </a:solidFill>
          <a:ln w="25400">
            <a:solidFill>
              <a:schemeClr val="accent1"/>
            </a:solidFill>
            <a:prstDash val="solid"/>
          </a:ln>
        </p:spPr>
      </p:sp>
      <p:sp>
        <p:nvSpPr>
          <p:cNvPr id="5" name="Step 1 number"/>
          <p:cNvSpPr txBox="1"/>
          <p:nvPr/>
        </p:nvSpPr>
        <p:spPr>
          <a:xfrm>
            <a:off x="822960" y="1828800"/>
            <a:ext cx="731520" cy="457200"/>
          </a:xfrm>
          <a:prstGeom prst="rect">
            <a:avLst/>
          </a:prstGeom>
          <a:noFill/>
          <a:ln/>
        </p:spPr>
        <p:txBody>
          <a:bodyPr wrap="square" lIns="0" tIns="0" rIns="0" bIns="0" rtlCol="0" anchor="t"/>
          <a:lstStyle/>
          <a:p>
            <a:pPr algn="ctr" indent="0" marL="0">
              <a:lnSpc>
                <a:spcPct val="100000"/>
              </a:lnSpc>
              <a:buNone/>
            </a:pPr>
            <a:r>
              <a:rPr lang="en-US" sz="2200" b="1" dirty="0">
                <a:solidFill>
                  <a:schemeClr val="bg2"/>
                </a:solidFill>
              </a:rPr>
              <a:t>1</a:t>
            </a:r>
            <a:endParaRPr lang="en-US" sz="2200" dirty="0"/>
          </a:p>
        </p:txBody>
      </p:sp>
      <p:sp>
        <p:nvSpPr>
          <p:cNvPr id="6" name="Step 1 title"/>
          <p:cNvSpPr txBox="1"/>
          <p:nvPr/>
        </p:nvSpPr>
        <p:spPr>
          <a:xfrm>
            <a:off x="822960" y="2697480"/>
            <a:ext cx="2514600" cy="411480"/>
          </a:xfrm>
          <a:prstGeom prst="rect">
            <a:avLst/>
          </a:prstGeom>
          <a:noFill/>
          <a:ln/>
        </p:spPr>
        <p:txBody>
          <a:bodyPr wrap="square" lIns="0" tIns="0" rIns="0" bIns="0" rtlCol="0" anchor="t"/>
          <a:lstStyle/>
          <a:p>
            <a:pPr indent="0" marL="0">
              <a:lnSpc>
                <a:spcPct val="100000"/>
              </a:lnSpc>
              <a:buNone/>
            </a:pPr>
            <a:r>
              <a:rPr lang="en-US" sz="2000" b="1" dirty="0">
                <a:solidFill>
                  <a:schemeClr val="bg2"/>
                </a:solidFill>
              </a:rPr>
              <a:t>Hold a pair</a:t>
            </a:r>
            <a:endParaRPr lang="en-US" sz="2000" dirty="0"/>
          </a:p>
        </p:txBody>
      </p:sp>
      <p:sp>
        <p:nvSpPr>
          <p:cNvPr id="7" name="Step 1 story"/>
          <p:cNvSpPr txBox="1"/>
          <p:nvPr/>
        </p:nvSpPr>
        <p:spPr>
          <a:xfrm>
            <a:off x="822960" y="3154680"/>
            <a:ext cx="2514600" cy="822960"/>
          </a:xfrm>
          <a:prstGeom prst="rect">
            <a:avLst/>
          </a:prstGeom>
          <a:noFill/>
          <a:ln/>
        </p:spPr>
        <p:txBody>
          <a:bodyPr wrap="square" lIns="0" tIns="0" rIns="0" bIns="0" rtlCol="0" anchor="t"/>
          <a:lstStyle/>
          <a:p>
            <a:pPr indent="0" marL="0">
              <a:lnSpc>
                <a:spcPct val="120000"/>
              </a:lnSpc>
              <a:buNone/>
            </a:pPr>
            <a:r>
              <a:rPr lang="en-US" sz="1600" dirty="0">
                <a:solidFill>
                  <a:schemeClr val="accent5"/>
                </a:solidFill>
              </a:rPr>
              <a:t>Shopper starts checkout</a:t>
            </a:r>
            <a:endParaRPr lang="en-US" sz="1600" dirty="0"/>
          </a:p>
        </p:txBody>
      </p:sp>
      <p:sp>
        <p:nvSpPr>
          <p:cNvPr id="8" name="Step 1 code"/>
          <p:cNvSpPr txBox="1"/>
          <p:nvPr/>
        </p:nvSpPr>
        <p:spPr>
          <a:xfrm>
            <a:off x="822960" y="4069080"/>
            <a:ext cx="2514600" cy="365760"/>
          </a:xfrm>
          <a:prstGeom prst="rect">
            <a:avLst/>
          </a:prstGeom>
          <a:noFill/>
          <a:ln/>
        </p:spPr>
        <p:txBody>
          <a:bodyPr wrap="square" lIns="0" tIns="0" rIns="0" bIns="0" rtlCol="0" anchor="t"/>
          <a:lstStyle/>
          <a:p>
            <a:pPr indent="0" marL="0">
              <a:lnSpc>
                <a:spcPct val="100000"/>
              </a:lnSpc>
              <a:buNone/>
            </a:pPr>
            <a:r>
              <a:rPr lang="en-US" sz="1300" dirty="0">
                <a:solidFill>
                  <a:schemeClr val="accent1"/>
                </a:solidFill>
                <a:latin typeface="JetBrains Mono" pitchFamily="34" charset="0"/>
                <a:ea typeface="JetBrains Mono" pitchFamily="34" charset="-122"/>
                <a:cs typeface="JetBrains Mono" pitchFamily="34" charset="-120"/>
              </a:rPr>
              <a:t>POST /v1/reservations</a:t>
            </a:r>
            <a:endParaRPr lang="en-US" sz="1300" dirty="0"/>
          </a:p>
        </p:txBody>
      </p:sp>
      <p:sp>
        <p:nvSpPr>
          <p:cNvPr id="9" name="Step 2 dot"/>
          <p:cNvSpPr/>
          <p:nvPr/>
        </p:nvSpPr>
        <p:spPr>
          <a:xfrm>
            <a:off x="3657600" y="1691640"/>
            <a:ext cx="731520" cy="731520"/>
          </a:xfrm>
          <a:prstGeom prst="ellipse">
            <a:avLst/>
          </a:prstGeom>
          <a:solidFill>
            <a:schemeClr val="tx2"/>
          </a:solidFill>
          <a:ln w="25400">
            <a:solidFill>
              <a:schemeClr val="accent6"/>
            </a:solidFill>
            <a:prstDash val="solid"/>
          </a:ln>
        </p:spPr>
      </p:sp>
      <p:sp>
        <p:nvSpPr>
          <p:cNvPr id="10" name="Step 2 number"/>
          <p:cNvSpPr txBox="1"/>
          <p:nvPr/>
        </p:nvSpPr>
        <p:spPr>
          <a:xfrm>
            <a:off x="3657600" y="1828800"/>
            <a:ext cx="731520" cy="457200"/>
          </a:xfrm>
          <a:prstGeom prst="rect">
            <a:avLst/>
          </a:prstGeom>
          <a:noFill/>
          <a:ln/>
        </p:spPr>
        <p:txBody>
          <a:bodyPr wrap="square" lIns="0" tIns="0" rIns="0" bIns="0" rtlCol="0" anchor="t"/>
          <a:lstStyle/>
          <a:p>
            <a:pPr algn="ctr" indent="0" marL="0">
              <a:lnSpc>
                <a:spcPct val="100000"/>
              </a:lnSpc>
              <a:buNone/>
            </a:pPr>
            <a:r>
              <a:rPr lang="en-US" sz="2200" b="1" dirty="0">
                <a:solidFill>
                  <a:schemeClr val="bg2"/>
                </a:solidFill>
              </a:rPr>
              <a:t>2</a:t>
            </a:r>
            <a:endParaRPr lang="en-US" sz="2200" dirty="0"/>
          </a:p>
        </p:txBody>
      </p:sp>
      <p:sp>
        <p:nvSpPr>
          <p:cNvPr id="11" name="Step 2 title"/>
          <p:cNvSpPr txBox="1"/>
          <p:nvPr/>
        </p:nvSpPr>
        <p:spPr>
          <a:xfrm>
            <a:off x="3657600" y="2697480"/>
            <a:ext cx="2514600" cy="411480"/>
          </a:xfrm>
          <a:prstGeom prst="rect">
            <a:avLst/>
          </a:prstGeom>
          <a:noFill/>
          <a:ln/>
        </p:spPr>
        <p:txBody>
          <a:bodyPr wrap="square" lIns="0" tIns="0" rIns="0" bIns="0" rtlCol="0" anchor="t"/>
          <a:lstStyle/>
          <a:p>
            <a:pPr indent="0" marL="0">
              <a:lnSpc>
                <a:spcPct val="100000"/>
              </a:lnSpc>
              <a:buNone/>
            </a:pPr>
            <a:r>
              <a:rPr lang="en-US" sz="2000" b="1" dirty="0">
                <a:solidFill>
                  <a:schemeClr val="bg2"/>
                </a:solidFill>
              </a:rPr>
              <a:t>Shopper pays</a:t>
            </a:r>
            <a:endParaRPr lang="en-US" sz="2000" dirty="0"/>
          </a:p>
        </p:txBody>
      </p:sp>
      <p:sp>
        <p:nvSpPr>
          <p:cNvPr id="12" name="Step 2 story"/>
          <p:cNvSpPr txBox="1"/>
          <p:nvPr/>
        </p:nvSpPr>
        <p:spPr>
          <a:xfrm>
            <a:off x="3657600" y="3154680"/>
            <a:ext cx="2514600" cy="822960"/>
          </a:xfrm>
          <a:prstGeom prst="rect">
            <a:avLst/>
          </a:prstGeom>
          <a:noFill/>
          <a:ln/>
        </p:spPr>
        <p:txBody>
          <a:bodyPr wrap="square" lIns="0" tIns="0" rIns="0" bIns="0" rtlCol="0" anchor="t"/>
          <a:lstStyle/>
          <a:p>
            <a:pPr indent="0" marL="0">
              <a:lnSpc>
                <a:spcPct val="120000"/>
              </a:lnSpc>
              <a:buNone/>
            </a:pPr>
            <a:r>
              <a:rPr lang="en-US" sz="1600" dirty="0">
                <a:solidFill>
                  <a:schemeClr val="accent5"/>
                </a:solidFill>
              </a:rPr>
              <a:t>Maya's payment provider</a:t>
            </a:r>
            <a:endParaRPr lang="en-US" sz="1600" dirty="0"/>
          </a:p>
        </p:txBody>
      </p:sp>
      <p:sp>
        <p:nvSpPr>
          <p:cNvPr id="13" name="Step 2 code"/>
          <p:cNvSpPr txBox="1"/>
          <p:nvPr/>
        </p:nvSpPr>
        <p:spPr>
          <a:xfrm>
            <a:off x="3657600" y="4069080"/>
            <a:ext cx="2514600" cy="365760"/>
          </a:xfrm>
          <a:prstGeom prst="rect">
            <a:avLst/>
          </a:prstGeom>
          <a:noFill/>
          <a:ln/>
        </p:spPr>
        <p:txBody>
          <a:bodyPr wrap="square" lIns="0" tIns="0" rIns="0" bIns="0" rtlCol="0" anchor="t"/>
          <a:lstStyle/>
          <a:p>
            <a:pPr indent="0" marL="0">
              <a:lnSpc>
                <a:spcPct val="100000"/>
              </a:lnSpc>
              <a:buNone/>
            </a:pPr>
            <a:r>
              <a:rPr lang="en-US" sz="1300" dirty="0">
                <a:solidFill>
                  <a:schemeClr val="accent6"/>
                </a:solidFill>
                <a:latin typeface="JetBrains Mono" pitchFamily="34" charset="0"/>
                <a:ea typeface="JetBrains Mono" pitchFamily="34" charset="-122"/>
                <a:cs typeface="JetBrains Mono" pitchFamily="34" charset="-120"/>
              </a:rPr>
              <a:t>(not ReserveCore)</a:t>
            </a:r>
            <a:endParaRPr lang="en-US" sz="1300" dirty="0"/>
          </a:p>
        </p:txBody>
      </p:sp>
      <p:sp>
        <p:nvSpPr>
          <p:cNvPr id="14" name="Step 3 dot"/>
          <p:cNvSpPr/>
          <p:nvPr/>
        </p:nvSpPr>
        <p:spPr>
          <a:xfrm>
            <a:off x="6492240" y="1691640"/>
            <a:ext cx="731520" cy="731520"/>
          </a:xfrm>
          <a:prstGeom prst="ellipse">
            <a:avLst/>
          </a:prstGeom>
          <a:solidFill>
            <a:schemeClr val="tx2"/>
          </a:solidFill>
          <a:ln w="25400">
            <a:solidFill>
              <a:schemeClr val="accent3"/>
            </a:solidFill>
            <a:prstDash val="solid"/>
          </a:ln>
        </p:spPr>
      </p:sp>
      <p:sp>
        <p:nvSpPr>
          <p:cNvPr id="15" name="Step 3 number"/>
          <p:cNvSpPr txBox="1"/>
          <p:nvPr/>
        </p:nvSpPr>
        <p:spPr>
          <a:xfrm>
            <a:off x="6492240" y="1828800"/>
            <a:ext cx="731520" cy="457200"/>
          </a:xfrm>
          <a:prstGeom prst="rect">
            <a:avLst/>
          </a:prstGeom>
          <a:noFill/>
          <a:ln/>
        </p:spPr>
        <p:txBody>
          <a:bodyPr wrap="square" lIns="0" tIns="0" rIns="0" bIns="0" rtlCol="0" anchor="t"/>
          <a:lstStyle/>
          <a:p>
            <a:pPr algn="ctr" indent="0" marL="0">
              <a:lnSpc>
                <a:spcPct val="100000"/>
              </a:lnSpc>
              <a:buNone/>
            </a:pPr>
            <a:r>
              <a:rPr lang="en-US" sz="2200" b="1" dirty="0">
                <a:solidFill>
                  <a:schemeClr val="bg2"/>
                </a:solidFill>
              </a:rPr>
              <a:t>3</a:t>
            </a:r>
            <a:endParaRPr lang="en-US" sz="2200" dirty="0"/>
          </a:p>
        </p:txBody>
      </p:sp>
      <p:sp>
        <p:nvSpPr>
          <p:cNvPr id="16" name="Step 3 title"/>
          <p:cNvSpPr txBox="1"/>
          <p:nvPr/>
        </p:nvSpPr>
        <p:spPr>
          <a:xfrm>
            <a:off x="6492240" y="2697480"/>
            <a:ext cx="2514600" cy="411480"/>
          </a:xfrm>
          <a:prstGeom prst="rect">
            <a:avLst/>
          </a:prstGeom>
          <a:noFill/>
          <a:ln/>
        </p:spPr>
        <p:txBody>
          <a:bodyPr wrap="square" lIns="0" tIns="0" rIns="0" bIns="0" rtlCol="0" anchor="t"/>
          <a:lstStyle/>
          <a:p>
            <a:pPr indent="0" marL="0">
              <a:lnSpc>
                <a:spcPct val="100000"/>
              </a:lnSpc>
              <a:buNone/>
            </a:pPr>
            <a:r>
              <a:rPr lang="en-US" sz="2000" b="1" dirty="0">
                <a:solidFill>
                  <a:schemeClr val="bg2"/>
                </a:solidFill>
              </a:rPr>
              <a:t>Confirm</a:t>
            </a:r>
            <a:endParaRPr lang="en-US" sz="2000" dirty="0"/>
          </a:p>
        </p:txBody>
      </p:sp>
      <p:sp>
        <p:nvSpPr>
          <p:cNvPr id="17" name="Step 3 story"/>
          <p:cNvSpPr txBox="1"/>
          <p:nvPr/>
        </p:nvSpPr>
        <p:spPr>
          <a:xfrm>
            <a:off x="6492240" y="3154680"/>
            <a:ext cx="2514600" cy="822960"/>
          </a:xfrm>
          <a:prstGeom prst="rect">
            <a:avLst/>
          </a:prstGeom>
          <a:noFill/>
          <a:ln/>
        </p:spPr>
        <p:txBody>
          <a:bodyPr wrap="square" lIns="0" tIns="0" rIns="0" bIns="0" rtlCol="0" anchor="t"/>
          <a:lstStyle/>
          <a:p>
            <a:pPr indent="0" marL="0">
              <a:lnSpc>
                <a:spcPct val="120000"/>
              </a:lnSpc>
              <a:buNone/>
            </a:pPr>
            <a:r>
              <a:rPr lang="en-US" sz="1600" dirty="0">
                <a:solidFill>
                  <a:schemeClr val="accent5"/>
                </a:solidFill>
              </a:rPr>
              <a:t>Payment went through: sold</a:t>
            </a:r>
            <a:endParaRPr lang="en-US" sz="1600" dirty="0"/>
          </a:p>
        </p:txBody>
      </p:sp>
      <p:sp>
        <p:nvSpPr>
          <p:cNvPr id="18" name="Step 3 code"/>
          <p:cNvSpPr txBox="1"/>
          <p:nvPr/>
        </p:nvSpPr>
        <p:spPr>
          <a:xfrm>
            <a:off x="6492240" y="4069080"/>
            <a:ext cx="2514600" cy="365760"/>
          </a:xfrm>
          <a:prstGeom prst="rect">
            <a:avLst/>
          </a:prstGeom>
          <a:noFill/>
          <a:ln/>
        </p:spPr>
        <p:txBody>
          <a:bodyPr wrap="square" lIns="0" tIns="0" rIns="0" bIns="0" rtlCol="0" anchor="t"/>
          <a:lstStyle/>
          <a:p>
            <a:pPr indent="0" marL="0">
              <a:lnSpc>
                <a:spcPct val="100000"/>
              </a:lnSpc>
              <a:buNone/>
            </a:pPr>
            <a:r>
              <a:rPr lang="en-US" sz="1300" dirty="0">
                <a:solidFill>
                  <a:schemeClr val="accent3"/>
                </a:solidFill>
                <a:latin typeface="JetBrains Mono" pitchFamily="34" charset="0"/>
                <a:ea typeface="JetBrains Mono" pitchFamily="34" charset="-122"/>
                <a:cs typeface="JetBrains Mono" pitchFamily="34" charset="-120"/>
              </a:rPr>
              <a:t>POST …/confirm</a:t>
            </a:r>
            <a:endParaRPr lang="en-US" sz="1300" dirty="0"/>
          </a:p>
        </p:txBody>
      </p:sp>
      <p:sp>
        <p:nvSpPr>
          <p:cNvPr id="19" name="Step 4 dot"/>
          <p:cNvSpPr/>
          <p:nvPr/>
        </p:nvSpPr>
        <p:spPr>
          <a:xfrm>
            <a:off x="9326880" y="1691640"/>
            <a:ext cx="731520" cy="731520"/>
          </a:xfrm>
          <a:prstGeom prst="ellipse">
            <a:avLst/>
          </a:prstGeom>
          <a:solidFill>
            <a:schemeClr val="tx2"/>
          </a:solidFill>
          <a:ln w="25400">
            <a:solidFill>
              <a:schemeClr val="accent2"/>
            </a:solidFill>
            <a:prstDash val="solid"/>
          </a:ln>
        </p:spPr>
      </p:sp>
      <p:sp>
        <p:nvSpPr>
          <p:cNvPr id="20" name="Step 4 number"/>
          <p:cNvSpPr txBox="1"/>
          <p:nvPr/>
        </p:nvSpPr>
        <p:spPr>
          <a:xfrm>
            <a:off x="9326880" y="1828800"/>
            <a:ext cx="731520" cy="457200"/>
          </a:xfrm>
          <a:prstGeom prst="rect">
            <a:avLst/>
          </a:prstGeom>
          <a:noFill/>
          <a:ln/>
        </p:spPr>
        <p:txBody>
          <a:bodyPr wrap="square" lIns="0" tIns="0" rIns="0" bIns="0" rtlCol="0" anchor="t"/>
          <a:lstStyle/>
          <a:p>
            <a:pPr algn="ctr" indent="0" marL="0">
              <a:lnSpc>
                <a:spcPct val="100000"/>
              </a:lnSpc>
              <a:buNone/>
            </a:pPr>
            <a:r>
              <a:rPr lang="en-US" sz="2200" b="1" dirty="0">
                <a:solidFill>
                  <a:schemeClr val="bg2"/>
                </a:solidFill>
              </a:rPr>
              <a:t>4</a:t>
            </a:r>
            <a:endParaRPr lang="en-US" sz="2200" dirty="0"/>
          </a:p>
        </p:txBody>
      </p:sp>
      <p:sp>
        <p:nvSpPr>
          <p:cNvPr id="21" name="Step 4 title"/>
          <p:cNvSpPr txBox="1"/>
          <p:nvPr/>
        </p:nvSpPr>
        <p:spPr>
          <a:xfrm>
            <a:off x="9326880" y="2697480"/>
            <a:ext cx="2514600" cy="411480"/>
          </a:xfrm>
          <a:prstGeom prst="rect">
            <a:avLst/>
          </a:prstGeom>
          <a:noFill/>
          <a:ln/>
        </p:spPr>
        <p:txBody>
          <a:bodyPr wrap="square" lIns="0" tIns="0" rIns="0" bIns="0" rtlCol="0" anchor="t"/>
          <a:lstStyle/>
          <a:p>
            <a:pPr indent="0" marL="0">
              <a:lnSpc>
                <a:spcPct val="100000"/>
              </a:lnSpc>
              <a:buNone/>
            </a:pPr>
            <a:r>
              <a:rPr lang="en-US" sz="2000" b="1" dirty="0">
                <a:solidFill>
                  <a:schemeClr val="bg2"/>
                </a:solidFill>
              </a:rPr>
              <a:t>Or put it back</a:t>
            </a:r>
            <a:endParaRPr lang="en-US" sz="2000" dirty="0"/>
          </a:p>
        </p:txBody>
      </p:sp>
      <p:sp>
        <p:nvSpPr>
          <p:cNvPr id="22" name="Step 4 story"/>
          <p:cNvSpPr txBox="1"/>
          <p:nvPr/>
        </p:nvSpPr>
        <p:spPr>
          <a:xfrm>
            <a:off x="9326880" y="3154680"/>
            <a:ext cx="2514600" cy="822960"/>
          </a:xfrm>
          <a:prstGeom prst="rect">
            <a:avLst/>
          </a:prstGeom>
          <a:noFill/>
          <a:ln/>
        </p:spPr>
        <p:txBody>
          <a:bodyPr wrap="square" lIns="0" tIns="0" rIns="0" bIns="0" rtlCol="0" anchor="t"/>
          <a:lstStyle/>
          <a:p>
            <a:pPr indent="0" marL="0">
              <a:lnSpc>
                <a:spcPct val="120000"/>
              </a:lnSpc>
              <a:buNone/>
            </a:pPr>
            <a:r>
              <a:rPr lang="en-US" sz="1600" dirty="0">
                <a:solidFill>
                  <a:schemeClr val="accent5"/>
                </a:solidFill>
              </a:rPr>
              <a:t>Cancel, or the 10 minutes run out</a:t>
            </a:r>
            <a:endParaRPr lang="en-US" sz="1600" dirty="0"/>
          </a:p>
        </p:txBody>
      </p:sp>
      <p:sp>
        <p:nvSpPr>
          <p:cNvPr id="23" name="Step 4 code"/>
          <p:cNvSpPr txBox="1"/>
          <p:nvPr/>
        </p:nvSpPr>
        <p:spPr>
          <a:xfrm>
            <a:off x="9326880" y="4069080"/>
            <a:ext cx="2514600" cy="365760"/>
          </a:xfrm>
          <a:prstGeom prst="rect">
            <a:avLst/>
          </a:prstGeom>
          <a:noFill/>
          <a:ln/>
        </p:spPr>
        <p:txBody>
          <a:bodyPr wrap="square" lIns="0" tIns="0" rIns="0" bIns="0" rtlCol="0" anchor="t"/>
          <a:lstStyle/>
          <a:p>
            <a:pPr indent="0" marL="0">
              <a:lnSpc>
                <a:spcPct val="100000"/>
              </a:lnSpc>
              <a:buNone/>
            </a:pPr>
            <a:r>
              <a:rPr lang="en-US" sz="1300" dirty="0">
                <a:solidFill>
                  <a:schemeClr val="accent2"/>
                </a:solidFill>
                <a:latin typeface="JetBrains Mono" pitchFamily="34" charset="0"/>
                <a:ea typeface="JetBrains Mono" pitchFamily="34" charset="-122"/>
                <a:cs typeface="JetBrains Mono" pitchFamily="34" charset="-120"/>
              </a:rPr>
              <a:t>POST …/cancel</a:t>
            </a:r>
            <a:endParaRPr lang="en-US" sz="1300" dirty="0"/>
          </a:p>
        </p:txBody>
      </p:sp>
      <p:sp>
        <p:nvSpPr>
          <p:cNvPr id="24" name="Promise"/>
          <p:cNvSpPr txBox="1"/>
          <p:nvPr/>
        </p:nvSpPr>
        <p:spPr>
          <a:xfrm>
            <a:off x="548640" y="5074920"/>
            <a:ext cx="11091672" cy="548640"/>
          </a:xfrm>
          <a:prstGeom prst="rect">
            <a:avLst/>
          </a:prstGeom>
          <a:noFill/>
          <a:ln/>
        </p:spPr>
        <p:txBody>
          <a:bodyPr wrap="square" lIns="0" tIns="0" rIns="0" bIns="0" rtlCol="0" anchor="t"/>
          <a:lstStyle/>
          <a:p>
            <a:pPr indent="0" marL="0">
              <a:lnSpc>
                <a:spcPct val="120000"/>
              </a:lnSpc>
              <a:buNone/>
            </a:pPr>
            <a:r>
              <a:rPr lang="en-US" sz="1800" i="1" dirty="0">
                <a:solidFill>
                  <a:schemeClr val="bg2"/>
                </a:solidFill>
              </a:rPr>
              <a:t>Every step is answered clearly: held, sold, back on the shelf, or "sorry, sold out".</a:t>
            </a:r>
            <a:endParaRPr lang="en-US" sz="1800" dirty="0"/>
          </a:p>
        </p:txBody>
      </p:sp>
      <p:sp>
        <p:nvSpPr>
          <p:cNvPr id="25" name="Slide Number Placeholder 0"/>
          <p:cNvSpPr>
            <a:spLocks noGrp="1"/>
          </p:cNvSpPr>
          <p:nvPr>
            <p:ph type="sldNum" sz="quarter" idx="4294967295"/>
          </p:nvPr>
        </p:nvSpPr>
        <p:spPr>
          <a:xfrm>
            <a:off x="10972800" y="6400800"/>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11091672" cy="320040"/>
          </a:xfrm>
          <a:prstGeom prst="rect">
            <a:avLst/>
          </a:prstGeom>
          <a:noFill/>
          <a:ln/>
        </p:spPr>
        <p:txBody>
          <a:bodyPr wrap="square" lIns="0" tIns="0" rIns="0" bIns="0" rtlCol="0"/>
          <a:lstStyle/>
          <a:p>
            <a:pPr algn="l" indent="0" marL="0">
              <a:buNone/>
            </a:pPr>
            <a:r>
              <a:rPr lang="en-US" sz="1200" b="1" spc="300" kern="0" dirty="0">
                <a:solidFill>
                  <a:schemeClr val="accent3"/>
                </a:solidFill>
              </a:rPr>
              <a:t>CHAPTER 1 · 10:00:00</a:t>
            </a:r>
            <a:endParaRPr lang="en-US" sz="1200" dirty="0"/>
          </a:p>
        </p:txBody>
      </p:sp>
      <p:sp>
        <p:nvSpPr>
          <p:cNvPr id="3" name="Text 0"/>
          <p:cNvSpPr/>
          <p:nvPr>
            <p:ph idx="101" type="title" hasCustomPrompt="1"/>
          </p:nvPr>
        </p:nvSpPr>
        <p:spPr>
          <a:xfrm>
            <a:off x="548640" y="658368"/>
            <a:ext cx="11091672" cy="731520"/>
          </a:xfrm>
          <a:prstGeom prst="rect">
            <a:avLst/>
          </a:prstGeom>
          <a:noFill/>
          <a:ln/>
        </p:spPr>
        <p:txBody>
          <a:bodyPr wrap="square" lIns="0" tIns="0" rIns="0" bIns="0" rtlCol="0" anchor="t"/>
          <a:lstStyle/>
          <a:p>
            <a:pPr algn="l" indent="0" marL="0">
              <a:buNone/>
            </a:pPr>
            <a:r>
              <a:rPr lang="en-US" sz="3400" b="1" dirty="0">
                <a:solidFill>
                  <a:schemeClr val="bg2"/>
                </a:solidFill>
              </a:rPr>
              <a:t>The last pair</a:t>
            </a:r>
            <a:endParaRPr lang="en-US" sz="3400" dirty="0"/>
          </a:p>
        </p:txBody>
      </p:sp>
      <p:sp>
        <p:nvSpPr>
          <p:cNvPr id="4" name="Story"/>
          <p:cNvSpPr txBox="1"/>
          <p:nvPr/>
        </p:nvSpPr>
        <p:spPr>
          <a:xfrm>
            <a:off x="548640" y="1600200"/>
            <a:ext cx="5577840" cy="4023360"/>
          </a:xfrm>
          <a:prstGeom prst="rect">
            <a:avLst/>
          </a:prstGeom>
          <a:noFill/>
          <a:ln/>
        </p:spPr>
        <p:txBody>
          <a:bodyPr wrap="square" lIns="0" tIns="0" rIns="0" bIns="0" rtlCol="0" anchor="t"/>
          <a:lstStyle/>
          <a:p>
            <a:pPr indent="0" marL="0">
              <a:lnSpc>
                <a:spcPct val="120000"/>
              </a:lnSpc>
              <a:spcAft>
                <a:spcPts val="1200"/>
              </a:spcAft>
              <a:buNone/>
            </a:pPr>
            <a:r>
              <a:rPr lang="en-US" sz="1900" dirty="0">
                <a:solidFill>
                  <a:schemeClr val="accent5"/>
                </a:solidFill>
              </a:rPr>
              <a:t>At 10:00:00, 1,000 requests arrive at once.</a:t>
            </a:r>
            <a:endParaRPr lang="en-US" sz="1900" dirty="0"/>
          </a:p>
          <a:p>
            <a:pPr indent="0" marL="0">
              <a:lnSpc>
                <a:spcPct val="120000"/>
              </a:lnSpc>
              <a:spcAft>
                <a:spcPts val="1200"/>
              </a:spcAft>
              <a:buNone/>
            </a:pPr>
            <a:r>
              <a:rPr lang="en-US" sz="1900" dirty="0">
                <a:solidFill>
                  <a:schemeClr val="accent5"/>
                </a:solidFill>
              </a:rPr>
              <a:t>ReserveCore lets them line up for the count, one at a time, and asks one question: is there still a pair?</a:t>
            </a:r>
            <a:endParaRPr lang="en-US" sz="1900" dirty="0"/>
          </a:p>
          <a:p>
            <a:pPr indent="0" marL="0">
              <a:lnSpc>
                <a:spcPct val="120000"/>
              </a:lnSpc>
              <a:spcAft>
                <a:spcPts val="1200"/>
              </a:spcAft>
              <a:buNone/>
            </a:pPr>
            <a:r>
              <a:rPr lang="en-US" sz="1900" dirty="0">
                <a:solidFill>
                  <a:schemeClr val="accent5"/>
                </a:solidFill>
              </a:rPr>
              <a:t>Checking and taking happen in a single move, so two people can never both get the last one.</a:t>
            </a:r>
            <a:endParaRPr lang="en-US" sz="1900" dirty="0"/>
          </a:p>
        </p:txBody>
      </p:sp>
      <p:sp>
        <p:nvSpPr>
          <p:cNvPr id="5" name="Under the hood card"/>
          <p:cNvSpPr/>
          <p:nvPr/>
        </p:nvSpPr>
        <p:spPr>
          <a:xfrm>
            <a:off x="6400800" y="1600200"/>
            <a:ext cx="5239512" cy="3657600"/>
          </a:xfrm>
          <a:prstGeom prst="roundRect">
            <a:avLst>
              <a:gd name="adj" fmla="val 3000"/>
            </a:avLst>
          </a:prstGeom>
          <a:solidFill>
            <a:schemeClr val="tx2"/>
          </a:solidFill>
          <a:ln w="15875">
            <a:solidFill>
              <a:srgbClr val="2A3449"/>
            </a:solidFill>
            <a:prstDash val="solid"/>
          </a:ln>
        </p:spPr>
      </p:sp>
      <p:sp>
        <p:nvSpPr>
          <p:cNvPr id="6" name="Under the hood label"/>
          <p:cNvSpPr txBox="1"/>
          <p:nvPr/>
        </p:nvSpPr>
        <p:spPr>
          <a:xfrm>
            <a:off x="6675120" y="1801368"/>
            <a:ext cx="4690872" cy="274320"/>
          </a:xfrm>
          <a:prstGeom prst="rect">
            <a:avLst/>
          </a:prstGeom>
          <a:noFill/>
          <a:ln/>
        </p:spPr>
        <p:txBody>
          <a:bodyPr wrap="square" lIns="0" tIns="0" rIns="0" bIns="0" rtlCol="0" anchor="t"/>
          <a:lstStyle/>
          <a:p>
            <a:pPr indent="0" marL="0">
              <a:lnSpc>
                <a:spcPct val="100000"/>
              </a:lnSpc>
              <a:buNone/>
            </a:pPr>
            <a:r>
              <a:rPr lang="en-US" sz="1100" b="1" spc="300" kern="0" dirty="0">
                <a:solidFill>
                  <a:schemeClr val="accent3"/>
                </a:solidFill>
              </a:rPr>
              <a:t>UNDER THE HOOD</a:t>
            </a:r>
            <a:endParaRPr lang="en-US" sz="1100" dirty="0"/>
          </a:p>
        </p:txBody>
      </p:sp>
      <p:sp>
        <p:nvSpPr>
          <p:cNvPr id="7" name="Code"/>
          <p:cNvSpPr txBox="1"/>
          <p:nvPr/>
        </p:nvSpPr>
        <p:spPr>
          <a:xfrm>
            <a:off x="6675120" y="2167128"/>
            <a:ext cx="4690872" cy="2331720"/>
          </a:xfrm>
          <a:prstGeom prst="rect">
            <a:avLst/>
          </a:prstGeom>
          <a:noFill/>
          <a:ln/>
        </p:spPr>
        <p:txBody>
          <a:bodyPr wrap="square" lIns="0" tIns="0" rIns="0" bIns="0" rtlCol="0" anchor="t"/>
          <a:lstStyle/>
          <a:p>
            <a:pPr indent="0" marL="0">
              <a:lnSpc>
                <a:spcPct val="125000"/>
              </a:lnSpc>
              <a:buNone/>
            </a:pPr>
            <a:r>
              <a:rPr lang="en-US" sz="1500" dirty="0">
                <a:solidFill>
                  <a:schemeClr val="bg2"/>
                </a:solidFill>
                <a:latin typeface="JetBrains Mono" pitchFamily="34" charset="0"/>
                <a:ea typeface="JetBrains Mono" pitchFamily="34" charset="-122"/>
                <a:cs typeface="JetBrains Mono" pitchFamily="34" charset="-120"/>
              </a:rPr>
              <a:t>UPDATE inventory</a:t>
            </a:r>
            <a:endParaRPr lang="en-US" sz="1500" dirty="0"/>
          </a:p>
          <a:p>
            <a:pPr indent="0" marL="0">
              <a:lnSpc>
                <a:spcPct val="125000"/>
              </a:lnSpc>
              <a:buNone/>
            </a:pPr>
            <a:r>
              <a:rPr lang="en-US" sz="1500" dirty="0">
                <a:solidFill>
                  <a:schemeClr val="bg2"/>
                </a:solidFill>
                <a:latin typeface="JetBrains Mono" pitchFamily="34" charset="0"/>
                <a:ea typeface="JetBrains Mono" pitchFamily="34" charset="-122"/>
                <a:cs typeface="JetBrains Mono" pitchFamily="34" charset="-120"/>
              </a:rPr>
              <a:t>SET available = available - 1</a:t>
            </a:r>
            <a:endParaRPr lang="en-US" sz="1500" dirty="0"/>
          </a:p>
          <a:p>
            <a:pPr indent="0" marL="0">
              <a:lnSpc>
                <a:spcPct val="125000"/>
              </a:lnSpc>
              <a:buNone/>
            </a:pPr>
            <a:r>
              <a:rPr lang="en-US" sz="1500" dirty="0">
                <a:solidFill>
                  <a:schemeClr val="bg2"/>
                </a:solidFill>
                <a:latin typeface="JetBrains Mono" pitchFamily="34" charset="0"/>
                <a:ea typeface="JetBrains Mono" pitchFamily="34" charset="-122"/>
                <a:cs typeface="JetBrains Mono" pitchFamily="34" charset="-120"/>
              </a:rPr>
              <a:t>WHERE sku = 'SNKR-10'</a:t>
            </a:r>
            <a:endParaRPr lang="en-US" sz="1500" dirty="0"/>
          </a:p>
          <a:p>
            <a:pPr indent="0" marL="0">
              <a:lnSpc>
                <a:spcPct val="125000"/>
              </a:lnSpc>
              <a:buNone/>
            </a:pPr>
            <a:r>
              <a:rPr lang="en-US" sz="1500" dirty="0">
                <a:solidFill>
                  <a:schemeClr val="accent1"/>
                </a:solidFill>
                <a:latin typeface="JetBrains Mono" pitchFamily="34" charset="0"/>
                <a:ea typeface="JetBrains Mono" pitchFamily="34" charset="-122"/>
                <a:cs typeface="JetBrains Mono" pitchFamily="34" charset="-120"/>
              </a:rPr>
              <a:t>  AND available &gt;= 1;</a:t>
            </a:r>
            <a:endParaRPr lang="en-US" sz="1500" dirty="0"/>
          </a:p>
        </p:txBody>
      </p:sp>
      <p:sp>
        <p:nvSpPr>
          <p:cNvPr id="8" name="Code caption"/>
          <p:cNvSpPr txBox="1"/>
          <p:nvPr/>
        </p:nvSpPr>
        <p:spPr>
          <a:xfrm>
            <a:off x="6675120" y="4544568"/>
            <a:ext cx="4690872" cy="566928"/>
          </a:xfrm>
          <a:prstGeom prst="rect">
            <a:avLst/>
          </a:prstGeom>
          <a:noFill/>
          <a:ln/>
        </p:spPr>
        <p:txBody>
          <a:bodyPr wrap="square" lIns="0" tIns="0" rIns="0" bIns="0" rtlCol="0" anchor="t"/>
          <a:lstStyle/>
          <a:p>
            <a:pPr indent="0" marL="0">
              <a:lnSpc>
                <a:spcPct val="110000"/>
              </a:lnSpc>
              <a:buNone/>
            </a:pPr>
            <a:r>
              <a:rPr lang="en-US" sz="1400" i="1" dirty="0">
                <a:solidFill>
                  <a:schemeClr val="accent5"/>
                </a:solidFill>
              </a:rPr>
              <a:t>Check and take in one step. Everyone after the 20th pair hears "sold out" straight away.</a:t>
            </a:r>
            <a:endParaRPr lang="en-US" sz="1400" dirty="0"/>
          </a:p>
        </p:txBody>
      </p:sp>
      <p:sp>
        <p:nvSpPr>
          <p:cNvPr id="25" name="Slide Number Placeholder 0"/>
          <p:cNvSpPr>
            <a:spLocks noGrp="1"/>
          </p:cNvSpPr>
          <p:nvPr>
            <p:ph type="sldNum" sz="quarter" idx="4294967295"/>
          </p:nvPr>
        </p:nvSpPr>
        <p:spPr>
          <a:xfrm>
            <a:off x="10972800" y="6400800"/>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11091672" cy="320040"/>
          </a:xfrm>
          <a:prstGeom prst="rect">
            <a:avLst/>
          </a:prstGeom>
          <a:noFill/>
          <a:ln/>
        </p:spPr>
        <p:txBody>
          <a:bodyPr wrap="square" lIns="0" tIns="0" rIns="0" bIns="0" rtlCol="0"/>
          <a:lstStyle/>
          <a:p>
            <a:pPr algn="l" indent="0" marL="0">
              <a:buNone/>
            </a:pPr>
            <a:r>
              <a:rPr lang="en-US" sz="1200" b="1" spc="300" kern="0" dirty="0">
                <a:solidFill>
                  <a:schemeClr val="accent3"/>
                </a:solidFill>
              </a:rPr>
              <a:t>CHAPTER 2 · LEO IN A TUNNEL</a:t>
            </a:r>
            <a:endParaRPr lang="en-US" sz="1200" dirty="0"/>
          </a:p>
        </p:txBody>
      </p:sp>
      <p:sp>
        <p:nvSpPr>
          <p:cNvPr id="3" name="Text 0"/>
          <p:cNvSpPr/>
          <p:nvPr>
            <p:ph idx="101" type="title" hasCustomPrompt="1"/>
          </p:nvPr>
        </p:nvSpPr>
        <p:spPr>
          <a:xfrm>
            <a:off x="548640" y="658368"/>
            <a:ext cx="11091672" cy="731520"/>
          </a:xfrm>
          <a:prstGeom prst="rect">
            <a:avLst/>
          </a:prstGeom>
          <a:noFill/>
          <a:ln/>
        </p:spPr>
        <p:txBody>
          <a:bodyPr wrap="square" lIns="0" tIns="0" rIns="0" bIns="0" rtlCol="0" anchor="t"/>
          <a:lstStyle/>
          <a:p>
            <a:pPr algn="l" indent="0" marL="0">
              <a:buNone/>
            </a:pPr>
            <a:r>
              <a:rPr lang="en-US" sz="3400" b="1" dirty="0">
                <a:solidFill>
                  <a:schemeClr val="bg2"/>
                </a:solidFill>
              </a:rPr>
              <a:t>The double tap</a:t>
            </a:r>
            <a:endParaRPr lang="en-US" sz="3400" dirty="0"/>
          </a:p>
        </p:txBody>
      </p:sp>
      <p:sp>
        <p:nvSpPr>
          <p:cNvPr id="4" name="Story"/>
          <p:cNvSpPr txBox="1"/>
          <p:nvPr/>
        </p:nvSpPr>
        <p:spPr>
          <a:xfrm>
            <a:off x="548640" y="1600200"/>
            <a:ext cx="5577840" cy="4023360"/>
          </a:xfrm>
          <a:prstGeom prst="rect">
            <a:avLst/>
          </a:prstGeom>
          <a:noFill/>
          <a:ln/>
        </p:spPr>
        <p:txBody>
          <a:bodyPr wrap="square" lIns="0" tIns="0" rIns="0" bIns="0" rtlCol="0" anchor="t"/>
          <a:lstStyle/>
          <a:p>
            <a:pPr indent="0" marL="0">
              <a:lnSpc>
                <a:spcPct val="120000"/>
              </a:lnSpc>
              <a:spcAft>
                <a:spcPts val="1200"/>
              </a:spcAft>
              <a:buNone/>
            </a:pPr>
            <a:r>
              <a:rPr lang="en-US" sz="1900" dirty="0">
                <a:solidFill>
                  <a:schemeClr val="accent5"/>
                </a:solidFill>
              </a:rPr>
              <a:t>Leo's order reaches the shop and a pair is held for him, but the reply is lost in the tunnel.</a:t>
            </a:r>
            <a:endParaRPr lang="en-US" sz="1900" dirty="0"/>
          </a:p>
          <a:p>
            <a:pPr indent="0" marL="0">
              <a:lnSpc>
                <a:spcPct val="120000"/>
              </a:lnSpc>
              <a:spcAft>
                <a:spcPts val="1200"/>
              </a:spcAft>
              <a:buNone/>
            </a:pPr>
            <a:r>
              <a:rPr lang="en-US" sz="1900" dirty="0">
                <a:solidFill>
                  <a:schemeClr val="accent5"/>
                </a:solidFill>
              </a:rPr>
              <a:t>His phone tries again. Without care, that would hold a second pair.</a:t>
            </a:r>
            <a:endParaRPr lang="en-US" sz="1900" dirty="0"/>
          </a:p>
          <a:p>
            <a:pPr indent="0" marL="0">
              <a:lnSpc>
                <a:spcPct val="120000"/>
              </a:lnSpc>
              <a:spcAft>
                <a:spcPts val="1200"/>
              </a:spcAft>
              <a:buNone/>
            </a:pPr>
            <a:r>
              <a:rPr lang="en-US" sz="1900" dirty="0">
                <a:solidFill>
                  <a:schemeClr val="accent5"/>
                </a:solidFill>
              </a:rPr>
              <a:t>Every order carries a ticket number. ReserveCore remembers each ticket and simply repeats its first answer.</a:t>
            </a:r>
            <a:endParaRPr lang="en-US" sz="1900" dirty="0"/>
          </a:p>
        </p:txBody>
      </p:sp>
      <p:sp>
        <p:nvSpPr>
          <p:cNvPr id="5" name="Under the hood card"/>
          <p:cNvSpPr/>
          <p:nvPr/>
        </p:nvSpPr>
        <p:spPr>
          <a:xfrm>
            <a:off x="6400800" y="1600200"/>
            <a:ext cx="5239512" cy="3657600"/>
          </a:xfrm>
          <a:prstGeom prst="roundRect">
            <a:avLst>
              <a:gd name="adj" fmla="val 3000"/>
            </a:avLst>
          </a:prstGeom>
          <a:solidFill>
            <a:schemeClr val="tx2"/>
          </a:solidFill>
          <a:ln w="15875">
            <a:solidFill>
              <a:srgbClr val="2A3449"/>
            </a:solidFill>
            <a:prstDash val="solid"/>
          </a:ln>
        </p:spPr>
      </p:sp>
      <p:sp>
        <p:nvSpPr>
          <p:cNvPr id="6" name="Under the hood label"/>
          <p:cNvSpPr txBox="1"/>
          <p:nvPr/>
        </p:nvSpPr>
        <p:spPr>
          <a:xfrm>
            <a:off x="6675120" y="1801368"/>
            <a:ext cx="4690872" cy="274320"/>
          </a:xfrm>
          <a:prstGeom prst="rect">
            <a:avLst/>
          </a:prstGeom>
          <a:noFill/>
          <a:ln/>
        </p:spPr>
        <p:txBody>
          <a:bodyPr wrap="square" lIns="0" tIns="0" rIns="0" bIns="0" rtlCol="0" anchor="t"/>
          <a:lstStyle/>
          <a:p>
            <a:pPr indent="0" marL="0">
              <a:lnSpc>
                <a:spcPct val="100000"/>
              </a:lnSpc>
              <a:buNone/>
            </a:pPr>
            <a:r>
              <a:rPr lang="en-US" sz="1100" b="1" spc="300" kern="0" dirty="0">
                <a:solidFill>
                  <a:schemeClr val="accent3"/>
                </a:solidFill>
              </a:rPr>
              <a:t>UNDER THE HOOD</a:t>
            </a:r>
            <a:endParaRPr lang="en-US" sz="1100" dirty="0"/>
          </a:p>
        </p:txBody>
      </p:sp>
      <p:sp>
        <p:nvSpPr>
          <p:cNvPr id="7" name="Code"/>
          <p:cNvSpPr txBox="1"/>
          <p:nvPr/>
        </p:nvSpPr>
        <p:spPr>
          <a:xfrm>
            <a:off x="6675120" y="2167128"/>
            <a:ext cx="4690872" cy="2331720"/>
          </a:xfrm>
          <a:prstGeom prst="rect">
            <a:avLst/>
          </a:prstGeom>
          <a:noFill/>
          <a:ln/>
        </p:spPr>
        <p:txBody>
          <a:bodyPr wrap="square" lIns="0" tIns="0" rIns="0" bIns="0" rtlCol="0" anchor="t"/>
          <a:lstStyle/>
          <a:p>
            <a:pPr indent="0" marL="0">
              <a:lnSpc>
                <a:spcPct val="125000"/>
              </a:lnSpc>
              <a:buNone/>
            </a:pPr>
            <a:r>
              <a:rPr lang="en-US" sz="1500" dirty="0">
                <a:solidFill>
                  <a:schemeClr val="bg2"/>
                </a:solidFill>
                <a:latin typeface="JetBrains Mono" pitchFamily="34" charset="0"/>
                <a:ea typeface="JetBrains Mono" pitchFamily="34" charset="-122"/>
                <a:cs typeface="JetBrains Mono" pitchFamily="34" charset="-120"/>
              </a:rPr>
              <a:t>POST /v1/reservations</a:t>
            </a:r>
            <a:endParaRPr lang="en-US" sz="1500" dirty="0"/>
          </a:p>
          <a:p>
            <a:pPr indent="0" marL="0">
              <a:lnSpc>
                <a:spcPct val="125000"/>
              </a:lnSpc>
              <a:buNone/>
            </a:pPr>
            <a:r>
              <a:rPr lang="en-US" sz="1500" dirty="0">
                <a:solidFill>
                  <a:schemeClr val="accent3"/>
                </a:solidFill>
                <a:latin typeface="JetBrains Mono" pitchFamily="34" charset="0"/>
                <a:ea typeface="JetBrains Mono" pitchFamily="34" charset="-122"/>
                <a:cs typeface="JetBrains Mono" pitchFamily="34" charset="-120"/>
              </a:rPr>
              <a:t>Idempotency-Key: checkout-81723</a:t>
            </a:r>
            <a:endParaRPr lang="en-US" sz="1500" dirty="0"/>
          </a:p>
          <a:p>
            <a:pPr indent="0" marL="0">
              <a:lnSpc>
                <a:spcPct val="125000"/>
              </a:lnSpc>
              <a:buNone/>
            </a:pPr>
            <a:endParaRPr lang="en-US" sz="1500" dirty="0"/>
          </a:p>
          <a:p>
            <a:pPr indent="0" marL="0">
              <a:lnSpc>
                <a:spcPct val="125000"/>
              </a:lnSpc>
              <a:buNone/>
            </a:pPr>
            <a:r>
              <a:rPr lang="en-US" sz="1500" dirty="0">
                <a:solidFill>
                  <a:schemeClr val="accent1"/>
                </a:solidFill>
                <a:latin typeface="JetBrains Mono" pitchFamily="34" charset="0"/>
                <a:ea typeface="JetBrains Mono" pitchFamily="34" charset="-122"/>
                <a:cs typeface="JetBrains Mono" pitchFamily="34" charset="-120"/>
              </a:rPr>
              <a:t>→ Idempotent-Replayed: true</a:t>
            </a:r>
            <a:endParaRPr lang="en-US" sz="1500" dirty="0"/>
          </a:p>
        </p:txBody>
      </p:sp>
      <p:sp>
        <p:nvSpPr>
          <p:cNvPr id="8" name="Code caption"/>
          <p:cNvSpPr txBox="1"/>
          <p:nvPr/>
        </p:nvSpPr>
        <p:spPr>
          <a:xfrm>
            <a:off x="6675120" y="4544568"/>
            <a:ext cx="4690872" cy="566928"/>
          </a:xfrm>
          <a:prstGeom prst="rect">
            <a:avLst/>
          </a:prstGeom>
          <a:noFill/>
          <a:ln/>
        </p:spPr>
        <p:txBody>
          <a:bodyPr wrap="square" lIns="0" tIns="0" rIns="0" bIns="0" rtlCol="0" anchor="t"/>
          <a:lstStyle/>
          <a:p>
            <a:pPr indent="0" marL="0">
              <a:lnSpc>
                <a:spcPct val="110000"/>
              </a:lnSpc>
              <a:buNone/>
            </a:pPr>
            <a:r>
              <a:rPr lang="en-US" sz="1400" i="1" dirty="0">
                <a:solidFill>
                  <a:schemeClr val="accent5"/>
                </a:solidFill>
              </a:rPr>
              <a:t>Same ticket, same answer. Leo gets one pair, not two.</a:t>
            </a:r>
            <a:endParaRPr lang="en-US" sz="1400" dirty="0"/>
          </a:p>
        </p:txBody>
      </p:sp>
      <p:sp>
        <p:nvSpPr>
          <p:cNvPr id="25" name="Slide Number Placeholder 0"/>
          <p:cNvSpPr>
            <a:spLocks noGrp="1"/>
          </p:cNvSpPr>
          <p:nvPr>
            <p:ph type="sldNum" sz="quarter" idx="4294967295"/>
          </p:nvPr>
        </p:nvSpPr>
        <p:spPr>
          <a:xfrm>
            <a:off x="10972800" y="6400800"/>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11091672" cy="320040"/>
          </a:xfrm>
          <a:prstGeom prst="rect">
            <a:avLst/>
          </a:prstGeom>
          <a:noFill/>
          <a:ln/>
        </p:spPr>
        <p:txBody>
          <a:bodyPr wrap="square" lIns="0" tIns="0" rIns="0" bIns="0" rtlCol="0"/>
          <a:lstStyle/>
          <a:p>
            <a:pPr algn="l" indent="0" marL="0">
              <a:buNone/>
            </a:pPr>
            <a:r>
              <a:rPr lang="en-US" sz="1200" b="1" spc="300" kern="0" dirty="0">
                <a:solidFill>
                  <a:schemeClr val="accent3"/>
                </a:solidFill>
              </a:rPr>
              <a:t>CHAPTER 3 · ANA LEAVES HER CART</a:t>
            </a:r>
            <a:endParaRPr lang="en-US" sz="1200" dirty="0"/>
          </a:p>
        </p:txBody>
      </p:sp>
      <p:sp>
        <p:nvSpPr>
          <p:cNvPr id="3" name="Text 0"/>
          <p:cNvSpPr/>
          <p:nvPr>
            <p:ph idx="101" type="title" hasCustomPrompt="1"/>
          </p:nvPr>
        </p:nvSpPr>
        <p:spPr>
          <a:xfrm>
            <a:off x="548640" y="658368"/>
            <a:ext cx="11091672" cy="731520"/>
          </a:xfrm>
          <a:prstGeom prst="rect">
            <a:avLst/>
          </a:prstGeom>
          <a:noFill/>
          <a:ln/>
        </p:spPr>
        <p:txBody>
          <a:bodyPr wrap="square" lIns="0" tIns="0" rIns="0" bIns="0" rtlCol="0" anchor="t"/>
          <a:lstStyle/>
          <a:p>
            <a:pPr algn="l" indent="0" marL="0">
              <a:buNone/>
            </a:pPr>
            <a:r>
              <a:rPr lang="en-US" sz="3400" b="1" dirty="0">
                <a:solidFill>
                  <a:schemeClr val="bg2"/>
                </a:solidFill>
              </a:rPr>
              <a:t>The walk-away</a:t>
            </a:r>
            <a:endParaRPr lang="en-US" sz="3400" dirty="0"/>
          </a:p>
        </p:txBody>
      </p:sp>
      <p:sp>
        <p:nvSpPr>
          <p:cNvPr id="4" name="Story"/>
          <p:cNvSpPr txBox="1"/>
          <p:nvPr/>
        </p:nvSpPr>
        <p:spPr>
          <a:xfrm>
            <a:off x="548640" y="1600200"/>
            <a:ext cx="5577840" cy="4023360"/>
          </a:xfrm>
          <a:prstGeom prst="rect">
            <a:avLst/>
          </a:prstGeom>
          <a:noFill/>
          <a:ln/>
        </p:spPr>
        <p:txBody>
          <a:bodyPr wrap="square" lIns="0" tIns="0" rIns="0" bIns="0" rtlCol="0" anchor="t"/>
          <a:lstStyle/>
          <a:p>
            <a:pPr indent="0" marL="0">
              <a:lnSpc>
                <a:spcPct val="120000"/>
              </a:lnSpc>
              <a:spcAft>
                <a:spcPts val="1200"/>
              </a:spcAft>
              <a:buNone/>
            </a:pPr>
            <a:r>
              <a:rPr lang="en-US" sz="1900" dirty="0">
                <a:solidFill>
                  <a:schemeClr val="accent5"/>
                </a:solidFill>
              </a:rPr>
              <a:t>Every hold comes with a timer, 10 minutes by default.</a:t>
            </a:r>
            <a:endParaRPr lang="en-US" sz="1900" dirty="0"/>
          </a:p>
          <a:p>
            <a:pPr indent="0" marL="0">
              <a:lnSpc>
                <a:spcPct val="120000"/>
              </a:lnSpc>
              <a:spcAft>
                <a:spcPts val="1200"/>
              </a:spcAft>
              <a:buNone/>
            </a:pPr>
            <a:r>
              <a:rPr lang="en-US" sz="1900" dirty="0">
                <a:solidFill>
                  <a:schemeClr val="accent5"/>
                </a:solidFill>
              </a:rPr>
              <a:t>When it runs out, a cleaner puts the pair back on the shelf for the next fan. A cleaner runs every second on every server.</a:t>
            </a:r>
            <a:endParaRPr lang="en-US" sz="1900" dirty="0"/>
          </a:p>
          <a:p>
            <a:pPr indent="0" marL="0">
              <a:lnSpc>
                <a:spcPct val="120000"/>
              </a:lnSpc>
              <a:spcAft>
                <a:spcPts val="1200"/>
              </a:spcAft>
              <a:buNone/>
            </a:pPr>
            <a:r>
              <a:rPr lang="en-US" sz="1900" dirty="0">
                <a:solidFill>
                  <a:schemeClr val="accent5"/>
                </a:solidFill>
              </a:rPr>
              <a:t>Several cleaners can work at once without ever grabbing the same cart.</a:t>
            </a:r>
            <a:endParaRPr lang="en-US" sz="1900" dirty="0"/>
          </a:p>
        </p:txBody>
      </p:sp>
      <p:sp>
        <p:nvSpPr>
          <p:cNvPr id="5" name="Under the hood card"/>
          <p:cNvSpPr/>
          <p:nvPr/>
        </p:nvSpPr>
        <p:spPr>
          <a:xfrm>
            <a:off x="6400800" y="1600200"/>
            <a:ext cx="5239512" cy="3657600"/>
          </a:xfrm>
          <a:prstGeom prst="roundRect">
            <a:avLst>
              <a:gd name="adj" fmla="val 3000"/>
            </a:avLst>
          </a:prstGeom>
          <a:solidFill>
            <a:schemeClr val="tx2"/>
          </a:solidFill>
          <a:ln w="15875">
            <a:solidFill>
              <a:srgbClr val="2A3449"/>
            </a:solidFill>
            <a:prstDash val="solid"/>
          </a:ln>
        </p:spPr>
      </p:sp>
      <p:sp>
        <p:nvSpPr>
          <p:cNvPr id="6" name="Under the hood label"/>
          <p:cNvSpPr txBox="1"/>
          <p:nvPr/>
        </p:nvSpPr>
        <p:spPr>
          <a:xfrm>
            <a:off x="6675120" y="1801368"/>
            <a:ext cx="4690872" cy="274320"/>
          </a:xfrm>
          <a:prstGeom prst="rect">
            <a:avLst/>
          </a:prstGeom>
          <a:noFill/>
          <a:ln/>
        </p:spPr>
        <p:txBody>
          <a:bodyPr wrap="square" lIns="0" tIns="0" rIns="0" bIns="0" rtlCol="0" anchor="t"/>
          <a:lstStyle/>
          <a:p>
            <a:pPr indent="0" marL="0">
              <a:lnSpc>
                <a:spcPct val="100000"/>
              </a:lnSpc>
              <a:buNone/>
            </a:pPr>
            <a:r>
              <a:rPr lang="en-US" sz="1100" b="1" spc="300" kern="0" dirty="0">
                <a:solidFill>
                  <a:schemeClr val="accent3"/>
                </a:solidFill>
              </a:rPr>
              <a:t>UNDER THE HOOD</a:t>
            </a:r>
            <a:endParaRPr lang="en-US" sz="1100" dirty="0"/>
          </a:p>
        </p:txBody>
      </p:sp>
      <p:sp>
        <p:nvSpPr>
          <p:cNvPr id="7" name="Code"/>
          <p:cNvSpPr txBox="1"/>
          <p:nvPr/>
        </p:nvSpPr>
        <p:spPr>
          <a:xfrm>
            <a:off x="6675120" y="2167128"/>
            <a:ext cx="4690872" cy="2331720"/>
          </a:xfrm>
          <a:prstGeom prst="rect">
            <a:avLst/>
          </a:prstGeom>
          <a:noFill/>
          <a:ln/>
        </p:spPr>
        <p:txBody>
          <a:bodyPr wrap="square" lIns="0" tIns="0" rIns="0" bIns="0" rtlCol="0" anchor="t"/>
          <a:lstStyle/>
          <a:p>
            <a:pPr indent="0" marL="0">
              <a:lnSpc>
                <a:spcPct val="125000"/>
              </a:lnSpc>
              <a:buNone/>
            </a:pPr>
            <a:r>
              <a:rPr lang="en-US" sz="1500" dirty="0">
                <a:solidFill>
                  <a:schemeClr val="bg2"/>
                </a:solidFill>
                <a:latin typeface="JetBrains Mono" pitchFamily="34" charset="0"/>
                <a:ea typeface="JetBrains Mono" pitchFamily="34" charset="-122"/>
                <a:cs typeface="JetBrains Mono" pitchFamily="34" charset="-120"/>
              </a:rPr>
              <a:t>SELECT id FROM reservation</a:t>
            </a:r>
            <a:endParaRPr lang="en-US" sz="1500" dirty="0"/>
          </a:p>
          <a:p>
            <a:pPr indent="0" marL="0">
              <a:lnSpc>
                <a:spcPct val="125000"/>
              </a:lnSpc>
              <a:buNone/>
            </a:pPr>
            <a:r>
              <a:rPr lang="en-US" sz="1500" dirty="0">
                <a:solidFill>
                  <a:schemeClr val="bg2"/>
                </a:solidFill>
                <a:latin typeface="JetBrains Mono" pitchFamily="34" charset="0"/>
                <a:ea typeface="JetBrains Mono" pitchFamily="34" charset="-122"/>
                <a:cs typeface="JetBrains Mono" pitchFamily="34" charset="-120"/>
              </a:rPr>
              <a:t>WHERE expires_at &lt;= now()</a:t>
            </a:r>
            <a:endParaRPr lang="en-US" sz="1500" dirty="0"/>
          </a:p>
          <a:p>
            <a:pPr indent="0" marL="0">
              <a:lnSpc>
                <a:spcPct val="125000"/>
              </a:lnSpc>
              <a:buNone/>
            </a:pPr>
            <a:r>
              <a:rPr lang="en-US" sz="1500" dirty="0">
                <a:solidFill>
                  <a:schemeClr val="accent2"/>
                </a:solidFill>
                <a:latin typeface="JetBrains Mono" pitchFamily="34" charset="0"/>
                <a:ea typeface="JetBrains Mono" pitchFamily="34" charset="-122"/>
                <a:cs typeface="JetBrains Mono" pitchFamily="34" charset="-120"/>
              </a:rPr>
              <a:t>FOR UPDATE SKIP LOCKED</a:t>
            </a:r>
            <a:endParaRPr lang="en-US" sz="1500" dirty="0"/>
          </a:p>
        </p:txBody>
      </p:sp>
      <p:sp>
        <p:nvSpPr>
          <p:cNvPr id="8" name="Code caption"/>
          <p:cNvSpPr txBox="1"/>
          <p:nvPr/>
        </p:nvSpPr>
        <p:spPr>
          <a:xfrm>
            <a:off x="6675120" y="4544568"/>
            <a:ext cx="4690872" cy="566928"/>
          </a:xfrm>
          <a:prstGeom prst="rect">
            <a:avLst/>
          </a:prstGeom>
          <a:noFill/>
          <a:ln/>
        </p:spPr>
        <p:txBody>
          <a:bodyPr wrap="square" lIns="0" tIns="0" rIns="0" bIns="0" rtlCol="0" anchor="t"/>
          <a:lstStyle/>
          <a:p>
            <a:pPr indent="0" marL="0">
              <a:lnSpc>
                <a:spcPct val="110000"/>
              </a:lnSpc>
              <a:buNone/>
            </a:pPr>
            <a:r>
              <a:rPr lang="en-US" sz="1400" i="1" dirty="0">
                <a:solidFill>
                  <a:schemeClr val="accent5"/>
                </a:solidFill>
              </a:rPr>
              <a:t>Each cleaner skips carts another cleaner is already handling.</a:t>
            </a:r>
            <a:endParaRPr lang="en-US" sz="1400" dirty="0"/>
          </a:p>
        </p:txBody>
      </p:sp>
      <p:sp>
        <p:nvSpPr>
          <p:cNvPr id="25" name="Slide Number Placeholder 0"/>
          <p:cNvSpPr>
            <a:spLocks noGrp="1"/>
          </p:cNvSpPr>
          <p:nvPr>
            <p:ph type="sldNum" sz="quarter" idx="4294967295"/>
          </p:nvPr>
        </p:nvSpPr>
        <p:spPr>
          <a:xfrm>
            <a:off x="10972800" y="6400800"/>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11091672" cy="320040"/>
          </a:xfrm>
          <a:prstGeom prst="rect">
            <a:avLst/>
          </a:prstGeom>
          <a:noFill/>
          <a:ln/>
        </p:spPr>
        <p:txBody>
          <a:bodyPr wrap="square" lIns="0" tIns="0" rIns="0" bIns="0" rtlCol="0"/>
          <a:lstStyle/>
          <a:p>
            <a:pPr algn="l" indent="0" marL="0">
              <a:buNone/>
            </a:pPr>
            <a:r>
              <a:rPr lang="en-US" sz="1200" b="1" spc="300" kern="0" dirty="0">
                <a:solidFill>
                  <a:schemeClr val="accent3"/>
                </a:solidFill>
              </a:rPr>
              <a:t>CHAPTER 4 · SARA, JUST IN TIME?</a:t>
            </a:r>
            <a:endParaRPr lang="en-US" sz="1200" dirty="0"/>
          </a:p>
        </p:txBody>
      </p:sp>
      <p:sp>
        <p:nvSpPr>
          <p:cNvPr id="3" name="Text 0"/>
          <p:cNvSpPr/>
          <p:nvPr>
            <p:ph idx="101" type="title" hasCustomPrompt="1"/>
          </p:nvPr>
        </p:nvSpPr>
        <p:spPr>
          <a:xfrm>
            <a:off x="548640" y="658368"/>
            <a:ext cx="11091672" cy="731520"/>
          </a:xfrm>
          <a:prstGeom prst="rect">
            <a:avLst/>
          </a:prstGeom>
          <a:noFill/>
          <a:ln/>
        </p:spPr>
        <p:txBody>
          <a:bodyPr wrap="square" lIns="0" tIns="0" rIns="0" bIns="0" rtlCol="0" anchor="t"/>
          <a:lstStyle/>
          <a:p>
            <a:pPr algn="l" indent="0" marL="0">
              <a:buNone/>
            </a:pPr>
            <a:r>
              <a:rPr lang="en-US" sz="3400" b="1" dirty="0">
                <a:solidFill>
                  <a:schemeClr val="bg2"/>
                </a:solidFill>
              </a:rPr>
              <a:t>The last second</a:t>
            </a:r>
            <a:endParaRPr lang="en-US" sz="3400" dirty="0"/>
          </a:p>
        </p:txBody>
      </p:sp>
      <p:sp>
        <p:nvSpPr>
          <p:cNvPr id="4" name="Story"/>
          <p:cNvSpPr txBox="1"/>
          <p:nvPr/>
        </p:nvSpPr>
        <p:spPr>
          <a:xfrm>
            <a:off x="548640" y="1600200"/>
            <a:ext cx="5577840" cy="4023360"/>
          </a:xfrm>
          <a:prstGeom prst="rect">
            <a:avLst/>
          </a:prstGeom>
          <a:noFill/>
          <a:ln/>
        </p:spPr>
        <p:txBody>
          <a:bodyPr wrap="square" lIns="0" tIns="0" rIns="0" bIns="0" rtlCol="0" anchor="t"/>
          <a:lstStyle/>
          <a:p>
            <a:pPr indent="0" marL="0">
              <a:lnSpc>
                <a:spcPct val="120000"/>
              </a:lnSpc>
              <a:spcAft>
                <a:spcPts val="1200"/>
              </a:spcAft>
              <a:buNone/>
            </a:pPr>
            <a:r>
              <a:rPr lang="en-US" sz="1900" dirty="0">
                <a:solidFill>
                  <a:schemeClr val="accent5"/>
                </a:solidFill>
              </a:rPr>
              <a:t>Sara's payment finishes 10 milliseconds before her hold expires, but her confirmation has to wait a moment in line.</a:t>
            </a:r>
            <a:endParaRPr lang="en-US" sz="1900" dirty="0"/>
          </a:p>
          <a:p>
            <a:pPr indent="0" marL="0">
              <a:lnSpc>
                <a:spcPct val="120000"/>
              </a:lnSpc>
              <a:spcAft>
                <a:spcPts val="1200"/>
              </a:spcAft>
              <a:buNone/>
            </a:pPr>
            <a:r>
              <a:rPr lang="en-US" sz="1900" dirty="0">
                <a:solidFill>
                  <a:schemeClr val="accent5"/>
                </a:solidFill>
              </a:rPr>
              <a:t>Was she on time? The database's own clock decides, at the very moment of the change, including the time spent waiting.</a:t>
            </a:r>
            <a:endParaRPr lang="en-US" sz="1900" dirty="0"/>
          </a:p>
          <a:p>
            <a:pPr indent="0" marL="0">
              <a:lnSpc>
                <a:spcPct val="120000"/>
              </a:lnSpc>
              <a:spcAft>
                <a:spcPts val="1200"/>
              </a:spcAft>
              <a:buNone/>
            </a:pPr>
            <a:r>
              <a:rPr lang="en-US" sz="1900" dirty="0">
                <a:solidFill>
                  <a:schemeClr val="accent5"/>
                </a:solidFill>
              </a:rPr>
              <a:t>If she is late, the pair is released right away so someone else can buy it.</a:t>
            </a:r>
            <a:endParaRPr lang="en-US" sz="1900" dirty="0"/>
          </a:p>
        </p:txBody>
      </p:sp>
      <p:sp>
        <p:nvSpPr>
          <p:cNvPr id="5" name="Under the hood card"/>
          <p:cNvSpPr/>
          <p:nvPr/>
        </p:nvSpPr>
        <p:spPr>
          <a:xfrm>
            <a:off x="6400800" y="1600200"/>
            <a:ext cx="5239512" cy="3657600"/>
          </a:xfrm>
          <a:prstGeom prst="roundRect">
            <a:avLst>
              <a:gd name="adj" fmla="val 3000"/>
            </a:avLst>
          </a:prstGeom>
          <a:solidFill>
            <a:schemeClr val="tx2"/>
          </a:solidFill>
          <a:ln w="15875">
            <a:solidFill>
              <a:srgbClr val="2A3449"/>
            </a:solidFill>
            <a:prstDash val="solid"/>
          </a:ln>
        </p:spPr>
      </p:sp>
      <p:sp>
        <p:nvSpPr>
          <p:cNvPr id="6" name="Under the hood label"/>
          <p:cNvSpPr txBox="1"/>
          <p:nvPr/>
        </p:nvSpPr>
        <p:spPr>
          <a:xfrm>
            <a:off x="6675120" y="1801368"/>
            <a:ext cx="4690872" cy="274320"/>
          </a:xfrm>
          <a:prstGeom prst="rect">
            <a:avLst/>
          </a:prstGeom>
          <a:noFill/>
          <a:ln/>
        </p:spPr>
        <p:txBody>
          <a:bodyPr wrap="square" lIns="0" tIns="0" rIns="0" bIns="0" rtlCol="0" anchor="t"/>
          <a:lstStyle/>
          <a:p>
            <a:pPr indent="0" marL="0">
              <a:lnSpc>
                <a:spcPct val="100000"/>
              </a:lnSpc>
              <a:buNone/>
            </a:pPr>
            <a:r>
              <a:rPr lang="en-US" sz="1100" b="1" spc="300" kern="0" dirty="0">
                <a:solidFill>
                  <a:schemeClr val="accent3"/>
                </a:solidFill>
              </a:rPr>
              <a:t>UNDER THE HOOD</a:t>
            </a:r>
            <a:endParaRPr lang="en-US" sz="1100" dirty="0"/>
          </a:p>
        </p:txBody>
      </p:sp>
      <p:sp>
        <p:nvSpPr>
          <p:cNvPr id="7" name="Code"/>
          <p:cNvSpPr txBox="1"/>
          <p:nvPr/>
        </p:nvSpPr>
        <p:spPr>
          <a:xfrm>
            <a:off x="6675120" y="2167128"/>
            <a:ext cx="4690872" cy="2331720"/>
          </a:xfrm>
          <a:prstGeom prst="rect">
            <a:avLst/>
          </a:prstGeom>
          <a:noFill/>
          <a:ln/>
        </p:spPr>
        <p:txBody>
          <a:bodyPr wrap="square" lIns="0" tIns="0" rIns="0" bIns="0" rtlCol="0" anchor="t"/>
          <a:lstStyle/>
          <a:p>
            <a:pPr indent="0" marL="0">
              <a:lnSpc>
                <a:spcPct val="125000"/>
              </a:lnSpc>
              <a:buNone/>
            </a:pPr>
            <a:r>
              <a:rPr lang="en-US" sz="1500" dirty="0">
                <a:solidFill>
                  <a:schemeClr val="bg2"/>
                </a:solidFill>
                <a:latin typeface="JetBrains Mono" pitchFamily="34" charset="0"/>
                <a:ea typeface="JetBrains Mono" pitchFamily="34" charset="-122"/>
                <a:cs typeface="JetBrains Mono" pitchFamily="34" charset="-120"/>
              </a:rPr>
              <a:t>SET status = 'CONFIRMED'</a:t>
            </a:r>
            <a:endParaRPr lang="en-US" sz="1500" dirty="0"/>
          </a:p>
          <a:p>
            <a:pPr indent="0" marL="0">
              <a:lnSpc>
                <a:spcPct val="125000"/>
              </a:lnSpc>
              <a:buNone/>
            </a:pPr>
            <a:r>
              <a:rPr lang="en-US" sz="1500" dirty="0">
                <a:solidFill>
                  <a:schemeClr val="bg2"/>
                </a:solidFill>
                <a:latin typeface="JetBrains Mono" pitchFamily="34" charset="0"/>
                <a:ea typeface="JetBrains Mono" pitchFamily="34" charset="-122"/>
                <a:cs typeface="JetBrains Mono" pitchFamily="34" charset="-120"/>
              </a:rPr>
              <a:t>WHERE clock_timestamp()</a:t>
            </a:r>
            <a:endParaRPr lang="en-US" sz="1500" dirty="0"/>
          </a:p>
          <a:p>
            <a:pPr indent="0" marL="0">
              <a:lnSpc>
                <a:spcPct val="125000"/>
              </a:lnSpc>
              <a:buNone/>
            </a:pPr>
            <a:r>
              <a:rPr lang="en-US" sz="1500" dirty="0">
                <a:solidFill>
                  <a:schemeClr val="accent1"/>
                </a:solidFill>
                <a:latin typeface="JetBrains Mono" pitchFamily="34" charset="0"/>
                <a:ea typeface="JetBrains Mono" pitchFamily="34" charset="-122"/>
                <a:cs typeface="JetBrains Mono" pitchFamily="34" charset="-120"/>
              </a:rPr>
              <a:t>    &lt; expires_at</a:t>
            </a:r>
            <a:endParaRPr lang="en-US" sz="1500" dirty="0"/>
          </a:p>
        </p:txBody>
      </p:sp>
      <p:sp>
        <p:nvSpPr>
          <p:cNvPr id="8" name="Code caption"/>
          <p:cNvSpPr txBox="1"/>
          <p:nvPr/>
        </p:nvSpPr>
        <p:spPr>
          <a:xfrm>
            <a:off x="6675120" y="4544568"/>
            <a:ext cx="4690872" cy="566928"/>
          </a:xfrm>
          <a:prstGeom prst="rect">
            <a:avLst/>
          </a:prstGeom>
          <a:noFill/>
          <a:ln/>
        </p:spPr>
        <p:txBody>
          <a:bodyPr wrap="square" lIns="0" tIns="0" rIns="0" bIns="0" rtlCol="0" anchor="t"/>
          <a:lstStyle/>
          <a:p>
            <a:pPr indent="0" marL="0">
              <a:lnSpc>
                <a:spcPct val="110000"/>
              </a:lnSpc>
              <a:buNone/>
            </a:pPr>
            <a:r>
              <a:rPr lang="en-US" sz="1400" i="1" dirty="0">
                <a:solidFill>
                  <a:schemeClr val="accent5"/>
                </a:solidFill>
              </a:rPr>
              <a:t>Checked after waiting in line, not before. One clock, no arguments.</a:t>
            </a:r>
            <a:endParaRPr lang="en-US" sz="1400" dirty="0"/>
          </a:p>
        </p:txBody>
      </p:sp>
      <p:sp>
        <p:nvSpPr>
          <p:cNvPr id="25" name="Slide Number Placeholder 0"/>
          <p:cNvSpPr>
            <a:spLocks noGrp="1"/>
          </p:cNvSpPr>
          <p:nvPr>
            <p:ph type="sldNum" sz="quarter" idx="4294967295"/>
          </p:nvPr>
        </p:nvSpPr>
        <p:spPr>
          <a:xfrm>
            <a:off x="10972800" y="6400800"/>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11091672" cy="320040"/>
          </a:xfrm>
          <a:prstGeom prst="rect">
            <a:avLst/>
          </a:prstGeom>
          <a:noFill/>
          <a:ln/>
        </p:spPr>
        <p:txBody>
          <a:bodyPr wrap="square" lIns="0" tIns="0" rIns="0" bIns="0" rtlCol="0"/>
          <a:lstStyle/>
          <a:p>
            <a:pPr algn="l" indent="0" marL="0">
              <a:buNone/>
            </a:pPr>
            <a:r>
              <a:rPr lang="en-US" sz="1200" b="1" spc="300" kern="0" dirty="0">
                <a:solidFill>
                  <a:schemeClr val="accent3"/>
                </a:solidFill>
              </a:rPr>
              <a:t>CHAPTER 5 · EVERY SERVER GOES DOWN</a:t>
            </a:r>
            <a:endParaRPr lang="en-US" sz="1200" dirty="0"/>
          </a:p>
        </p:txBody>
      </p:sp>
      <p:sp>
        <p:nvSpPr>
          <p:cNvPr id="3" name="Text 0"/>
          <p:cNvSpPr/>
          <p:nvPr>
            <p:ph idx="101" type="title" hasCustomPrompt="1"/>
          </p:nvPr>
        </p:nvSpPr>
        <p:spPr>
          <a:xfrm>
            <a:off x="548640" y="658368"/>
            <a:ext cx="11091672" cy="731520"/>
          </a:xfrm>
          <a:prstGeom prst="rect">
            <a:avLst/>
          </a:prstGeom>
          <a:noFill/>
          <a:ln/>
        </p:spPr>
        <p:txBody>
          <a:bodyPr wrap="square" lIns="0" tIns="0" rIns="0" bIns="0" rtlCol="0" anchor="t"/>
          <a:lstStyle/>
          <a:p>
            <a:pPr algn="l" indent="0" marL="0">
              <a:buNone/>
            </a:pPr>
            <a:r>
              <a:rPr lang="en-US" sz="3400" b="1" dirty="0">
                <a:solidFill>
                  <a:schemeClr val="bg2"/>
                </a:solidFill>
              </a:rPr>
              <a:t>The power cut</a:t>
            </a:r>
            <a:endParaRPr lang="en-US" sz="3400" dirty="0"/>
          </a:p>
        </p:txBody>
      </p:sp>
      <p:sp>
        <p:nvSpPr>
          <p:cNvPr id="4" name="Story"/>
          <p:cNvSpPr txBox="1"/>
          <p:nvPr/>
        </p:nvSpPr>
        <p:spPr>
          <a:xfrm>
            <a:off x="548640" y="1600200"/>
            <a:ext cx="5577840" cy="4023360"/>
          </a:xfrm>
          <a:prstGeom prst="rect">
            <a:avLst/>
          </a:prstGeom>
          <a:noFill/>
          <a:ln/>
        </p:spPr>
        <p:txBody>
          <a:bodyPr wrap="square" lIns="0" tIns="0" rIns="0" bIns="0" rtlCol="0" anchor="t"/>
          <a:lstStyle/>
          <a:p>
            <a:pPr indent="0" marL="0">
              <a:lnSpc>
                <a:spcPct val="120000"/>
              </a:lnSpc>
              <a:spcAft>
                <a:spcPts val="1200"/>
              </a:spcAft>
              <a:buNone/>
            </a:pPr>
            <a:r>
              <a:rPr lang="en-US" sz="1900" dirty="0">
                <a:solidFill>
                  <a:schemeClr val="accent5"/>
                </a:solidFill>
              </a:rPr>
              <a:t>We switched off both servers while 30 shoppers were holding pairs, and waited until every hold had run out.</a:t>
            </a:r>
            <a:endParaRPr lang="en-US" sz="1900" dirty="0"/>
          </a:p>
          <a:p>
            <a:pPr indent="0" marL="0">
              <a:lnSpc>
                <a:spcPct val="120000"/>
              </a:lnSpc>
              <a:spcAft>
                <a:spcPts val="1200"/>
              </a:spcAft>
              <a:buNone/>
            </a:pPr>
            <a:r>
              <a:rPr lang="en-US" sz="1900" dirty="0">
                <a:solidFill>
                  <a:schemeClr val="accent5"/>
                </a:solidFill>
              </a:rPr>
              <a:t>When the servers came back, all 30 pairs were on the shelf again within a tenth of a second, each exactly once.</a:t>
            </a:r>
            <a:endParaRPr lang="en-US" sz="1900" dirty="0"/>
          </a:p>
          <a:p>
            <a:pPr indent="0" marL="0">
              <a:lnSpc>
                <a:spcPct val="120000"/>
              </a:lnSpc>
              <a:spcAft>
                <a:spcPts val="1200"/>
              </a:spcAft>
              <a:buNone/>
            </a:pPr>
            <a:r>
              <a:rPr lang="en-US" sz="1900" dirty="0">
                <a:solidFill>
                  <a:schemeClr val="accent5"/>
                </a:solidFill>
              </a:rPr>
              <a:t>Every change happens completely or not at all, so a crash can never leave half a sale behind.</a:t>
            </a:r>
            <a:endParaRPr lang="en-US" sz="1900" dirty="0"/>
          </a:p>
        </p:txBody>
      </p:sp>
      <p:sp>
        <p:nvSpPr>
          <p:cNvPr id="5" name="Under the hood card"/>
          <p:cNvSpPr/>
          <p:nvPr/>
        </p:nvSpPr>
        <p:spPr>
          <a:xfrm>
            <a:off x="6400800" y="1600200"/>
            <a:ext cx="5239512" cy="3657600"/>
          </a:xfrm>
          <a:prstGeom prst="roundRect">
            <a:avLst>
              <a:gd name="adj" fmla="val 3000"/>
            </a:avLst>
          </a:prstGeom>
          <a:solidFill>
            <a:schemeClr val="tx2"/>
          </a:solidFill>
          <a:ln w="15875">
            <a:solidFill>
              <a:srgbClr val="2A3449"/>
            </a:solidFill>
            <a:prstDash val="solid"/>
          </a:ln>
        </p:spPr>
      </p:sp>
      <p:sp>
        <p:nvSpPr>
          <p:cNvPr id="6" name="Under the hood label"/>
          <p:cNvSpPr txBox="1"/>
          <p:nvPr/>
        </p:nvSpPr>
        <p:spPr>
          <a:xfrm>
            <a:off x="6675120" y="1801368"/>
            <a:ext cx="4690872" cy="274320"/>
          </a:xfrm>
          <a:prstGeom prst="rect">
            <a:avLst/>
          </a:prstGeom>
          <a:noFill/>
          <a:ln/>
        </p:spPr>
        <p:txBody>
          <a:bodyPr wrap="square" lIns="0" tIns="0" rIns="0" bIns="0" rtlCol="0" anchor="t"/>
          <a:lstStyle/>
          <a:p>
            <a:pPr indent="0" marL="0">
              <a:lnSpc>
                <a:spcPct val="100000"/>
              </a:lnSpc>
              <a:buNone/>
            </a:pPr>
            <a:r>
              <a:rPr lang="en-US" sz="1100" b="1" spc="300" kern="0" dirty="0">
                <a:solidFill>
                  <a:schemeClr val="accent3"/>
                </a:solidFill>
              </a:rPr>
              <a:t>UNDER THE HOOD</a:t>
            </a:r>
            <a:endParaRPr lang="en-US" sz="1100" dirty="0"/>
          </a:p>
        </p:txBody>
      </p:sp>
      <p:sp>
        <p:nvSpPr>
          <p:cNvPr id="7" name="Code"/>
          <p:cNvSpPr txBox="1"/>
          <p:nvPr/>
        </p:nvSpPr>
        <p:spPr>
          <a:xfrm>
            <a:off x="6675120" y="2167128"/>
            <a:ext cx="4690872" cy="2331720"/>
          </a:xfrm>
          <a:prstGeom prst="rect">
            <a:avLst/>
          </a:prstGeom>
          <a:noFill/>
          <a:ln/>
        </p:spPr>
        <p:txBody>
          <a:bodyPr wrap="square" lIns="0" tIns="0" rIns="0" bIns="0" rtlCol="0" anchor="t"/>
          <a:lstStyle/>
          <a:p>
            <a:pPr indent="0" marL="0">
              <a:lnSpc>
                <a:spcPct val="125000"/>
              </a:lnSpc>
              <a:buNone/>
            </a:pPr>
            <a:r>
              <a:rPr lang="en-US" sz="1500" dirty="0">
                <a:solidFill>
                  <a:schemeClr val="bg2"/>
                </a:solidFill>
                <a:latin typeface="JetBrains Mono" pitchFamily="34" charset="0"/>
                <a:ea typeface="JetBrains Mono" pitchFamily="34" charset="-122"/>
                <a:cs typeface="JetBrains Mono" pitchFamily="34" charset="-120"/>
              </a:rPr>
              <a:t>BEGIN;</a:t>
            </a:r>
            <a:endParaRPr lang="en-US" sz="1500" dirty="0"/>
          </a:p>
          <a:p>
            <a:pPr indent="0" marL="0">
              <a:lnSpc>
                <a:spcPct val="125000"/>
              </a:lnSpc>
              <a:buNone/>
            </a:pPr>
            <a:r>
              <a:rPr lang="en-US" sz="1500" dirty="0">
                <a:solidFill>
                  <a:schemeClr val="bg2"/>
                </a:solidFill>
                <a:latin typeface="JetBrains Mono" pitchFamily="34" charset="0"/>
                <a:ea typeface="JetBrains Mono" pitchFamily="34" charset="-122"/>
                <a:cs typeface="JetBrains Mono" pitchFamily="34" charset="-120"/>
              </a:rPr>
              <a:t>  -- take the pair</a:t>
            </a:r>
            <a:endParaRPr lang="en-US" sz="1500" dirty="0"/>
          </a:p>
          <a:p>
            <a:pPr indent="0" marL="0">
              <a:lnSpc>
                <a:spcPct val="125000"/>
              </a:lnSpc>
              <a:buNone/>
            </a:pPr>
            <a:r>
              <a:rPr lang="en-US" sz="1500" dirty="0">
                <a:solidFill>
                  <a:schemeClr val="bg2"/>
                </a:solidFill>
                <a:latin typeface="JetBrains Mono" pitchFamily="34" charset="0"/>
                <a:ea typeface="JetBrains Mono" pitchFamily="34" charset="-122"/>
                <a:cs typeface="JetBrains Mono" pitchFamily="34" charset="-120"/>
              </a:rPr>
              <a:t>  -- write the hold</a:t>
            </a:r>
            <a:endParaRPr lang="en-US" sz="1500" dirty="0"/>
          </a:p>
          <a:p>
            <a:pPr indent="0" marL="0">
              <a:lnSpc>
                <a:spcPct val="125000"/>
              </a:lnSpc>
              <a:buNone/>
            </a:pPr>
            <a:r>
              <a:rPr lang="en-US" sz="1500" dirty="0">
                <a:solidFill>
                  <a:schemeClr val="bg2"/>
                </a:solidFill>
                <a:latin typeface="JetBrains Mono" pitchFamily="34" charset="0"/>
                <a:ea typeface="JetBrains Mono" pitchFamily="34" charset="-122"/>
                <a:cs typeface="JetBrains Mono" pitchFamily="34" charset="-120"/>
              </a:rPr>
              <a:t>  -- note it in the history</a:t>
            </a:r>
            <a:endParaRPr lang="en-US" sz="1500" dirty="0"/>
          </a:p>
          <a:p>
            <a:pPr indent="0" marL="0">
              <a:lnSpc>
                <a:spcPct val="125000"/>
              </a:lnSpc>
              <a:buNone/>
            </a:pPr>
            <a:r>
              <a:rPr lang="en-US" sz="1500" dirty="0">
                <a:solidFill>
                  <a:schemeClr val="accent1"/>
                </a:solidFill>
                <a:latin typeface="JetBrains Mono" pitchFamily="34" charset="0"/>
                <a:ea typeface="JetBrains Mono" pitchFamily="34" charset="-122"/>
                <a:cs typeface="JetBrains Mono" pitchFamily="34" charset="-120"/>
              </a:rPr>
              <a:t>COMMIT;  -- all of it, or none</a:t>
            </a:r>
            <a:endParaRPr lang="en-US" sz="1500" dirty="0"/>
          </a:p>
        </p:txBody>
      </p:sp>
      <p:sp>
        <p:nvSpPr>
          <p:cNvPr id="8" name="Code caption"/>
          <p:cNvSpPr txBox="1"/>
          <p:nvPr/>
        </p:nvSpPr>
        <p:spPr>
          <a:xfrm>
            <a:off x="6675120" y="4544568"/>
            <a:ext cx="4690872" cy="566928"/>
          </a:xfrm>
          <a:prstGeom prst="rect">
            <a:avLst/>
          </a:prstGeom>
          <a:noFill/>
          <a:ln/>
        </p:spPr>
        <p:txBody>
          <a:bodyPr wrap="square" lIns="0" tIns="0" rIns="0" bIns="0" rtlCol="0" anchor="t"/>
          <a:lstStyle/>
          <a:p>
            <a:pPr indent="0" marL="0">
              <a:lnSpc>
                <a:spcPct val="110000"/>
              </a:lnSpc>
              <a:buNone/>
            </a:pPr>
            <a:r>
              <a:rPr lang="en-US" sz="1400" i="1" dirty="0">
                <a:solidFill>
                  <a:schemeClr val="accent5"/>
                </a:solidFill>
              </a:rPr>
              <a:t>A crash in the middle undoes the whole step, so nothing is lost or counted twice.</a:t>
            </a:r>
            <a:endParaRPr lang="en-US" sz="1400" dirty="0"/>
          </a:p>
        </p:txBody>
      </p:sp>
      <p:sp>
        <p:nvSpPr>
          <p:cNvPr id="25" name="Slide Number Placeholder 0"/>
          <p:cNvSpPr>
            <a:spLocks noGrp="1"/>
          </p:cNvSpPr>
          <p:nvPr>
            <p:ph type="sldNum" sz="quarter" idx="4294967295"/>
          </p:nvPr>
        </p:nvSpPr>
        <p:spPr>
          <a:xfrm>
            <a:off x="10972800" y="6400800"/>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1672" cy="731520"/>
          </a:xfrm>
          <a:prstGeom prst="rect">
            <a:avLst/>
          </a:prstGeom>
          <a:noFill/>
          <a:ln/>
        </p:spPr>
        <p:txBody>
          <a:bodyPr wrap="square" lIns="0" tIns="0" rIns="0" bIns="0" rtlCol="0" anchor="t"/>
          <a:lstStyle/>
          <a:p>
            <a:pPr algn="l" indent="0" marL="0">
              <a:buNone/>
            </a:pPr>
            <a:r>
              <a:rPr lang="en-US" sz="3400" b="1" dirty="0">
                <a:solidFill>
                  <a:schemeClr val="bg2"/>
                </a:solidFill>
              </a:rPr>
              <a:t>Drop day, for real</a:t>
            </a:r>
            <a:endParaRPr lang="en-US" sz="3400" dirty="0"/>
          </a:p>
        </p:txBody>
      </p:sp>
      <p:sp>
        <p:nvSpPr>
          <p:cNvPr id="3" name="Setup"/>
          <p:cNvSpPr txBox="1"/>
          <p:nvPr/>
        </p:nvSpPr>
        <p:spPr>
          <a:xfrm>
            <a:off x="548640" y="1371600"/>
            <a:ext cx="11091672" cy="457200"/>
          </a:xfrm>
          <a:prstGeom prst="rect">
            <a:avLst/>
          </a:prstGeom>
          <a:noFill/>
          <a:ln/>
        </p:spPr>
        <p:txBody>
          <a:bodyPr wrap="square" lIns="0" tIns="0" rIns="0" bIns="0" rtlCol="0" anchor="t"/>
          <a:lstStyle/>
          <a:p>
            <a:pPr indent="0" marL="0">
              <a:lnSpc>
                <a:spcPct val="120000"/>
              </a:lnSpc>
              <a:buNone/>
            </a:pPr>
            <a:r>
              <a:rPr lang="en-US" sz="1900" dirty="0">
                <a:solidFill>
                  <a:schemeClr val="accent5"/>
                </a:solidFill>
              </a:rPr>
              <a:t>We ran the drop with 1,000 simulated shoppers across two servers.</a:t>
            </a:r>
            <a:endParaRPr lang="en-US" sz="1900" dirty="0"/>
          </a:p>
        </p:txBody>
      </p:sp>
      <p:sp>
        <p:nvSpPr>
          <p:cNvPr id="4" name="Outcome sold"/>
          <p:cNvSpPr/>
          <p:nvPr/>
        </p:nvSpPr>
        <p:spPr>
          <a:xfrm>
            <a:off x="548640" y="2011680"/>
            <a:ext cx="3547872" cy="1600200"/>
          </a:xfrm>
          <a:prstGeom prst="roundRect">
            <a:avLst>
              <a:gd name="adj" fmla="val 6857"/>
            </a:avLst>
          </a:prstGeom>
          <a:solidFill>
            <a:schemeClr val="tx2"/>
          </a:solidFill>
          <a:ln w="15875">
            <a:solidFill>
              <a:srgbClr val="2A3449"/>
            </a:solidFill>
            <a:prstDash val="solid"/>
          </a:ln>
        </p:spPr>
      </p:sp>
      <p:sp>
        <p:nvSpPr>
          <p:cNvPr id="5" name="Outcome sold value"/>
          <p:cNvSpPr txBox="1"/>
          <p:nvPr/>
        </p:nvSpPr>
        <p:spPr>
          <a:xfrm>
            <a:off x="777240" y="2212848"/>
            <a:ext cx="3090672" cy="685800"/>
          </a:xfrm>
          <a:prstGeom prst="rect">
            <a:avLst/>
          </a:prstGeom>
          <a:noFill/>
          <a:ln/>
        </p:spPr>
        <p:txBody>
          <a:bodyPr wrap="square" lIns="0" tIns="0" rIns="0" bIns="0" rtlCol="0" anchor="t"/>
          <a:lstStyle/>
          <a:p>
            <a:pPr indent="0" marL="0">
              <a:lnSpc>
                <a:spcPct val="100000"/>
              </a:lnSpc>
              <a:buNone/>
            </a:pPr>
            <a:r>
              <a:rPr lang="en-US" sz="3600" b="1" dirty="0">
                <a:solidFill>
                  <a:schemeClr val="accent1"/>
                </a:solidFill>
              </a:rPr>
              <a:t>20</a:t>
            </a:r>
            <a:endParaRPr lang="en-US" sz="3600" dirty="0"/>
          </a:p>
        </p:txBody>
      </p:sp>
      <p:sp>
        <p:nvSpPr>
          <p:cNvPr id="6" name="Outcome sold label"/>
          <p:cNvSpPr txBox="1"/>
          <p:nvPr/>
        </p:nvSpPr>
        <p:spPr>
          <a:xfrm>
            <a:off x="777240" y="2926080"/>
            <a:ext cx="3090672" cy="548640"/>
          </a:xfrm>
          <a:prstGeom prst="rect">
            <a:avLst/>
          </a:prstGeom>
          <a:noFill/>
          <a:ln/>
        </p:spPr>
        <p:txBody>
          <a:bodyPr wrap="square" lIns="0" tIns="0" rIns="0" bIns="0" rtlCol="0" anchor="t"/>
          <a:lstStyle/>
          <a:p>
            <a:pPr indent="0" marL="0">
              <a:lnSpc>
                <a:spcPct val="110000"/>
              </a:lnSpc>
              <a:buNone/>
            </a:pPr>
            <a:r>
              <a:rPr lang="en-US" sz="1500" dirty="0">
                <a:solidFill>
                  <a:schemeClr val="accent5"/>
                </a:solidFill>
              </a:rPr>
              <a:t>pairs sold</a:t>
            </a:r>
            <a:endParaRPr lang="en-US" sz="1500" dirty="0"/>
          </a:p>
        </p:txBody>
      </p:sp>
      <p:sp>
        <p:nvSpPr>
          <p:cNvPr id="7" name="Outcome refused"/>
          <p:cNvSpPr/>
          <p:nvPr/>
        </p:nvSpPr>
        <p:spPr>
          <a:xfrm>
            <a:off x="4325112" y="2011680"/>
            <a:ext cx="3547872" cy="1600200"/>
          </a:xfrm>
          <a:prstGeom prst="roundRect">
            <a:avLst>
              <a:gd name="adj" fmla="val 6857"/>
            </a:avLst>
          </a:prstGeom>
          <a:solidFill>
            <a:schemeClr val="tx2"/>
          </a:solidFill>
          <a:ln w="15875">
            <a:solidFill>
              <a:srgbClr val="2A3449"/>
            </a:solidFill>
            <a:prstDash val="solid"/>
          </a:ln>
        </p:spPr>
      </p:sp>
      <p:sp>
        <p:nvSpPr>
          <p:cNvPr id="8" name="Outcome refused value"/>
          <p:cNvSpPr txBox="1"/>
          <p:nvPr/>
        </p:nvSpPr>
        <p:spPr>
          <a:xfrm>
            <a:off x="4553712" y="2212848"/>
            <a:ext cx="3090672" cy="685800"/>
          </a:xfrm>
          <a:prstGeom prst="rect">
            <a:avLst/>
          </a:prstGeom>
          <a:noFill/>
          <a:ln/>
        </p:spPr>
        <p:txBody>
          <a:bodyPr wrap="square" lIns="0" tIns="0" rIns="0" bIns="0" rtlCol="0" anchor="t"/>
          <a:lstStyle/>
          <a:p>
            <a:pPr indent="0" marL="0">
              <a:lnSpc>
                <a:spcPct val="100000"/>
              </a:lnSpc>
              <a:buNone/>
            </a:pPr>
            <a:r>
              <a:rPr lang="en-US" sz="3600" b="1" dirty="0">
                <a:solidFill>
                  <a:schemeClr val="accent2"/>
                </a:solidFill>
              </a:rPr>
              <a:t>980</a:t>
            </a:r>
            <a:endParaRPr lang="en-US" sz="3600" dirty="0"/>
          </a:p>
        </p:txBody>
      </p:sp>
      <p:sp>
        <p:nvSpPr>
          <p:cNvPr id="9" name="Outcome refused label"/>
          <p:cNvSpPr txBox="1"/>
          <p:nvPr/>
        </p:nvSpPr>
        <p:spPr>
          <a:xfrm>
            <a:off x="4553712" y="2926080"/>
            <a:ext cx="3090672" cy="548640"/>
          </a:xfrm>
          <a:prstGeom prst="rect">
            <a:avLst/>
          </a:prstGeom>
          <a:noFill/>
          <a:ln/>
        </p:spPr>
        <p:txBody>
          <a:bodyPr wrap="square" lIns="0" tIns="0" rIns="0" bIns="0" rtlCol="0" anchor="t"/>
          <a:lstStyle/>
          <a:p>
            <a:pPr indent="0" marL="0">
              <a:lnSpc>
                <a:spcPct val="110000"/>
              </a:lnSpc>
              <a:buNone/>
            </a:pPr>
            <a:r>
              <a:rPr lang="en-US" sz="1500" dirty="0">
                <a:solidFill>
                  <a:schemeClr val="accent5"/>
                </a:solidFill>
              </a:rPr>
              <a:t>shoppers told "sold out", politely</a:t>
            </a:r>
            <a:endParaRPr lang="en-US" sz="1500" dirty="0"/>
          </a:p>
        </p:txBody>
      </p:sp>
      <p:sp>
        <p:nvSpPr>
          <p:cNvPr id="10" name="Outcome oversold"/>
          <p:cNvSpPr/>
          <p:nvPr/>
        </p:nvSpPr>
        <p:spPr>
          <a:xfrm>
            <a:off x="8092440" y="2011680"/>
            <a:ext cx="3547872" cy="1600200"/>
          </a:xfrm>
          <a:prstGeom prst="roundRect">
            <a:avLst>
              <a:gd name="adj" fmla="val 6857"/>
            </a:avLst>
          </a:prstGeom>
          <a:solidFill>
            <a:schemeClr val="tx2"/>
          </a:solidFill>
          <a:ln w="15875">
            <a:solidFill>
              <a:srgbClr val="2A3449"/>
            </a:solidFill>
            <a:prstDash val="solid"/>
          </a:ln>
        </p:spPr>
      </p:sp>
      <p:sp>
        <p:nvSpPr>
          <p:cNvPr id="11" name="Outcome oversold value"/>
          <p:cNvSpPr txBox="1"/>
          <p:nvPr/>
        </p:nvSpPr>
        <p:spPr>
          <a:xfrm>
            <a:off x="8321040" y="2212848"/>
            <a:ext cx="3090672" cy="685800"/>
          </a:xfrm>
          <a:prstGeom prst="rect">
            <a:avLst/>
          </a:prstGeom>
          <a:noFill/>
          <a:ln/>
        </p:spPr>
        <p:txBody>
          <a:bodyPr wrap="square" lIns="0" tIns="0" rIns="0" bIns="0" rtlCol="0" anchor="t"/>
          <a:lstStyle/>
          <a:p>
            <a:pPr indent="0" marL="0">
              <a:lnSpc>
                <a:spcPct val="100000"/>
              </a:lnSpc>
              <a:buNone/>
            </a:pPr>
            <a:r>
              <a:rPr lang="en-US" sz="3600" b="1" dirty="0">
                <a:solidFill>
                  <a:schemeClr val="bg2"/>
                </a:solidFill>
              </a:rPr>
              <a:t>0</a:t>
            </a:r>
            <a:endParaRPr lang="en-US" sz="3600" dirty="0"/>
          </a:p>
        </p:txBody>
      </p:sp>
      <p:sp>
        <p:nvSpPr>
          <p:cNvPr id="12" name="Outcome oversold label"/>
          <p:cNvSpPr txBox="1"/>
          <p:nvPr/>
        </p:nvSpPr>
        <p:spPr>
          <a:xfrm>
            <a:off x="8321040" y="2926080"/>
            <a:ext cx="3090672" cy="548640"/>
          </a:xfrm>
          <a:prstGeom prst="rect">
            <a:avLst/>
          </a:prstGeom>
          <a:noFill/>
          <a:ln/>
        </p:spPr>
        <p:txBody>
          <a:bodyPr wrap="square" lIns="0" tIns="0" rIns="0" bIns="0" rtlCol="0" anchor="t"/>
          <a:lstStyle/>
          <a:p>
            <a:pPr indent="0" marL="0">
              <a:lnSpc>
                <a:spcPct val="110000"/>
              </a:lnSpc>
              <a:buNone/>
            </a:pPr>
            <a:r>
              <a:rPr lang="en-US" sz="1500" dirty="0">
                <a:solidFill>
                  <a:schemeClr val="accent5"/>
                </a:solidFill>
              </a:rPr>
              <a:t>pairs oversold</a:t>
            </a:r>
            <a:endParaRPr lang="en-US" sz="1500" dirty="0"/>
          </a:p>
        </p:txBody>
      </p:sp>
      <p:sp>
        <p:nvSpPr>
          <p:cNvPr id="13" name="Broken on purpose"/>
          <p:cNvSpPr/>
          <p:nvPr/>
        </p:nvSpPr>
        <p:spPr>
          <a:xfrm>
            <a:off x="548640" y="3931920"/>
            <a:ext cx="11091672" cy="1371600"/>
          </a:xfrm>
          <a:prstGeom prst="roundRect">
            <a:avLst>
              <a:gd name="adj" fmla="val 8000"/>
            </a:avLst>
          </a:prstGeom>
          <a:solidFill>
            <a:schemeClr val="tx2"/>
          </a:solidFill>
          <a:ln w="15875">
            <a:solidFill>
              <a:srgbClr val="2A3449"/>
            </a:solidFill>
            <a:prstDash val="solid"/>
          </a:ln>
        </p:spPr>
      </p:sp>
      <p:sp>
        <p:nvSpPr>
          <p:cNvPr id="14" name="Broken heading"/>
          <p:cNvSpPr txBox="1"/>
          <p:nvPr/>
        </p:nvSpPr>
        <p:spPr>
          <a:xfrm>
            <a:off x="822960" y="4114800"/>
            <a:ext cx="10515600" cy="411480"/>
          </a:xfrm>
          <a:prstGeom prst="rect">
            <a:avLst/>
          </a:prstGeom>
          <a:noFill/>
          <a:ln/>
        </p:spPr>
        <p:txBody>
          <a:bodyPr wrap="square" lIns="0" tIns="0" rIns="0" bIns="0" rtlCol="0" anchor="t"/>
          <a:lstStyle/>
          <a:p>
            <a:pPr indent="0" marL="0">
              <a:lnSpc>
                <a:spcPct val="100000"/>
              </a:lnSpc>
              <a:buNone/>
            </a:pPr>
            <a:r>
              <a:rPr lang="en-US" sz="2000" b="1" dirty="0">
                <a:solidFill>
                  <a:schemeClr val="bg2"/>
                </a:solidFill>
              </a:rPr>
              <a:t>We also broke our own code on purpose, 11 times.</a:t>
            </a:r>
            <a:endParaRPr lang="en-US" sz="2000" dirty="0"/>
          </a:p>
        </p:txBody>
      </p:sp>
      <p:sp>
        <p:nvSpPr>
          <p:cNvPr id="15" name="Broken detail"/>
          <p:cNvSpPr txBox="1"/>
          <p:nvPr/>
        </p:nvSpPr>
        <p:spPr>
          <a:xfrm>
            <a:off x="822960" y="4617720"/>
            <a:ext cx="10515600" cy="457200"/>
          </a:xfrm>
          <a:prstGeom prst="rect">
            <a:avLst/>
          </a:prstGeom>
          <a:noFill/>
          <a:ln/>
        </p:spPr>
        <p:txBody>
          <a:bodyPr wrap="square" lIns="0" tIns="0" rIns="0" bIns="0" rtlCol="0" anchor="t"/>
          <a:lstStyle/>
          <a:p>
            <a:pPr indent="0" marL="0">
              <a:lnSpc>
                <a:spcPct val="120000"/>
              </a:lnSpc>
              <a:buNone/>
            </a:pPr>
            <a:r>
              <a:rPr lang="en-US" sz="1700" dirty="0">
                <a:solidFill>
                  <a:schemeClr val="accent5"/>
                </a:solidFill>
              </a:rPr>
              <a:t>Each time, the automatic tests caught it before it could reach a real shop.</a:t>
            </a:r>
            <a:endParaRPr lang="en-US" sz="1700" dirty="0"/>
          </a:p>
        </p:txBody>
      </p:sp>
      <p:sp>
        <p:nvSpPr>
          <p:cNvPr id="25" name="Slide Number Placeholder 0"/>
          <p:cNvSpPr>
            <a:spLocks noGrp="1"/>
          </p:cNvSpPr>
          <p:nvPr>
            <p:ph type="sldNum" sz="quarter" idx="4294967295"/>
          </p:nvPr>
        </p:nvSpPr>
        <p:spPr>
          <a:xfrm>
            <a:off x="10972800" y="6400800"/>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1672" cy="731520"/>
          </a:xfrm>
          <a:prstGeom prst="rect">
            <a:avLst/>
          </a:prstGeom>
          <a:noFill/>
          <a:ln/>
        </p:spPr>
        <p:txBody>
          <a:bodyPr wrap="square" lIns="0" tIns="0" rIns="0" bIns="0" rtlCol="0" anchor="t"/>
          <a:lstStyle/>
          <a:p>
            <a:pPr algn="l" indent="0" marL="0">
              <a:buNone/>
            </a:pPr>
            <a:r>
              <a:rPr lang="en-US" sz="3400" b="1" dirty="0">
                <a:solidFill>
                  <a:schemeClr val="bg2"/>
                </a:solidFill>
              </a:rPr>
              <a:t>What we learned along the way</a:t>
            </a:r>
            <a:endParaRPr lang="en-US" sz="3400" dirty="0"/>
          </a:p>
        </p:txBody>
      </p:sp>
      <p:sp>
        <p:nvSpPr>
          <p:cNvPr id="3" name="Lesson 1"/>
          <p:cNvSpPr/>
          <p:nvPr/>
        </p:nvSpPr>
        <p:spPr>
          <a:xfrm>
            <a:off x="548640" y="1463040"/>
            <a:ext cx="3557016" cy="3566160"/>
          </a:xfrm>
          <a:prstGeom prst="roundRect">
            <a:avLst>
              <a:gd name="adj" fmla="val 3085"/>
            </a:avLst>
          </a:prstGeom>
          <a:solidFill>
            <a:schemeClr val="tx2"/>
          </a:solidFill>
          <a:ln w="15875">
            <a:solidFill>
              <a:srgbClr val="2A3449"/>
            </a:solidFill>
            <a:prstDash val="solid"/>
          </a:ln>
        </p:spPr>
      </p:sp>
      <p:sp>
        <p:nvSpPr>
          <p:cNvPr id="4" name="Lesson 1 title"/>
          <p:cNvSpPr txBox="1"/>
          <p:nvPr/>
        </p:nvSpPr>
        <p:spPr>
          <a:xfrm>
            <a:off x="822960" y="1691640"/>
            <a:ext cx="3017520" cy="457200"/>
          </a:xfrm>
          <a:prstGeom prst="rect">
            <a:avLst/>
          </a:prstGeom>
          <a:noFill/>
          <a:ln/>
        </p:spPr>
        <p:txBody>
          <a:bodyPr wrap="square" lIns="0" tIns="0" rIns="0" bIns="0" rtlCol="0" anchor="t"/>
          <a:lstStyle/>
          <a:p>
            <a:pPr indent="0" marL="0">
              <a:lnSpc>
                <a:spcPct val="100000"/>
              </a:lnSpc>
              <a:buNone/>
            </a:pPr>
            <a:r>
              <a:rPr lang="en-US" sz="2100" b="1" dirty="0">
                <a:solidFill>
                  <a:schemeClr val="accent1"/>
                </a:solidFill>
              </a:rPr>
              <a:t>Measure, don't guess</a:t>
            </a:r>
            <a:endParaRPr lang="en-US" sz="2100" dirty="0"/>
          </a:p>
        </p:txBody>
      </p:sp>
      <p:sp>
        <p:nvSpPr>
          <p:cNvPr id="5" name="Lesson 1 story"/>
          <p:cNvSpPr txBox="1"/>
          <p:nvPr/>
        </p:nvSpPr>
        <p:spPr>
          <a:xfrm>
            <a:off x="822960" y="2286000"/>
            <a:ext cx="3017520" cy="1828800"/>
          </a:xfrm>
          <a:prstGeom prst="rect">
            <a:avLst/>
          </a:prstGeom>
          <a:noFill/>
          <a:ln/>
        </p:spPr>
        <p:txBody>
          <a:bodyPr wrap="square" lIns="0" tIns="0" rIns="0" bIns="0" rtlCol="0" anchor="t"/>
          <a:lstStyle/>
          <a:p>
            <a:pPr indent="0" marL="0">
              <a:lnSpc>
                <a:spcPct val="120000"/>
              </a:lnSpc>
              <a:buNone/>
            </a:pPr>
            <a:r>
              <a:rPr lang="en-US" sz="1600" dirty="0">
                <a:solidFill>
                  <a:schemeClr val="accent5"/>
                </a:solidFill>
              </a:rPr>
              <a:t>A clever speed-up looked great on paper. Careful measurement showed no real gain, so we took it out.</a:t>
            </a:r>
            <a:endParaRPr lang="en-US" sz="1600" dirty="0"/>
          </a:p>
        </p:txBody>
      </p:sp>
      <p:sp>
        <p:nvSpPr>
          <p:cNvPr id="6" name="Lesson 2"/>
          <p:cNvSpPr/>
          <p:nvPr/>
        </p:nvSpPr>
        <p:spPr>
          <a:xfrm>
            <a:off x="4306824" y="1463040"/>
            <a:ext cx="3557016" cy="3566160"/>
          </a:xfrm>
          <a:prstGeom prst="roundRect">
            <a:avLst>
              <a:gd name="adj" fmla="val 3085"/>
            </a:avLst>
          </a:prstGeom>
          <a:solidFill>
            <a:schemeClr val="tx2"/>
          </a:solidFill>
          <a:ln w="15875">
            <a:solidFill>
              <a:srgbClr val="2A3449"/>
            </a:solidFill>
            <a:prstDash val="solid"/>
          </a:ln>
        </p:spPr>
      </p:sp>
      <p:sp>
        <p:nvSpPr>
          <p:cNvPr id="7" name="Lesson 2 title"/>
          <p:cNvSpPr txBox="1"/>
          <p:nvPr/>
        </p:nvSpPr>
        <p:spPr>
          <a:xfrm>
            <a:off x="4581144" y="1691640"/>
            <a:ext cx="3017520" cy="457200"/>
          </a:xfrm>
          <a:prstGeom prst="rect">
            <a:avLst/>
          </a:prstGeom>
          <a:noFill/>
          <a:ln/>
        </p:spPr>
        <p:txBody>
          <a:bodyPr wrap="square" lIns="0" tIns="0" rIns="0" bIns="0" rtlCol="0" anchor="t"/>
          <a:lstStyle/>
          <a:p>
            <a:pPr indent="0" marL="0">
              <a:lnSpc>
                <a:spcPct val="100000"/>
              </a:lnSpc>
              <a:buNone/>
            </a:pPr>
            <a:r>
              <a:rPr lang="en-US" sz="2100" b="1" dirty="0">
                <a:solidFill>
                  <a:schemeClr val="accent2"/>
                </a:solidFill>
              </a:rPr>
              <a:t>Fail fast</a:t>
            </a:r>
            <a:endParaRPr lang="en-US" sz="2100" dirty="0"/>
          </a:p>
        </p:txBody>
      </p:sp>
      <p:sp>
        <p:nvSpPr>
          <p:cNvPr id="8" name="Lesson 2 story"/>
          <p:cNvSpPr txBox="1"/>
          <p:nvPr/>
        </p:nvSpPr>
        <p:spPr>
          <a:xfrm>
            <a:off x="4581144" y="2286000"/>
            <a:ext cx="3017520" cy="1828800"/>
          </a:xfrm>
          <a:prstGeom prst="rect">
            <a:avLst/>
          </a:prstGeom>
          <a:noFill/>
          <a:ln/>
        </p:spPr>
        <p:txBody>
          <a:bodyPr wrap="square" lIns="0" tIns="0" rIns="0" bIns="0" rtlCol="0" anchor="t"/>
          <a:lstStyle/>
          <a:p>
            <a:pPr indent="0" marL="0">
              <a:lnSpc>
                <a:spcPct val="120000"/>
              </a:lnSpc>
              <a:buNone/>
            </a:pPr>
            <a:r>
              <a:rPr lang="en-US" sz="1600" dirty="0">
                <a:solidFill>
                  <a:schemeClr val="accent5"/>
                </a:solidFill>
              </a:rPr>
              <a:t>If something gets stuck, a request now gives up after 2 seconds with a clear "try again" instead of blocking everyone.</a:t>
            </a:r>
            <a:endParaRPr lang="en-US" sz="1600" dirty="0"/>
          </a:p>
        </p:txBody>
      </p:sp>
      <p:sp>
        <p:nvSpPr>
          <p:cNvPr id="9" name="Lesson 2 code"/>
          <p:cNvSpPr txBox="1"/>
          <p:nvPr/>
        </p:nvSpPr>
        <p:spPr>
          <a:xfrm>
            <a:off x="4581144" y="4343400"/>
            <a:ext cx="3017520" cy="365760"/>
          </a:xfrm>
          <a:prstGeom prst="rect">
            <a:avLst/>
          </a:prstGeom>
          <a:noFill/>
          <a:ln/>
        </p:spPr>
        <p:txBody>
          <a:bodyPr wrap="square" lIns="0" tIns="0" rIns="0" bIns="0" rtlCol="0" anchor="t"/>
          <a:lstStyle/>
          <a:p>
            <a:pPr indent="0" marL="0">
              <a:lnSpc>
                <a:spcPct val="100000"/>
              </a:lnSpc>
              <a:buNone/>
            </a:pPr>
            <a:r>
              <a:rPr lang="en-US" sz="1200" dirty="0">
                <a:solidFill>
                  <a:schemeClr val="accent2"/>
                </a:solidFill>
                <a:latin typeface="JetBrains Mono" pitchFamily="34" charset="0"/>
                <a:ea typeface="JetBrains Mono" pitchFamily="34" charset="-122"/>
                <a:cs typeface="JetBrains Mono" pitchFamily="34" charset="-120"/>
              </a:rPr>
              <a:t>503 SERVICE_BUSY · Retry-After: 1</a:t>
            </a:r>
            <a:endParaRPr lang="en-US" sz="1200" dirty="0"/>
          </a:p>
        </p:txBody>
      </p:sp>
      <p:sp>
        <p:nvSpPr>
          <p:cNvPr id="10" name="Lesson 3"/>
          <p:cNvSpPr/>
          <p:nvPr/>
        </p:nvSpPr>
        <p:spPr>
          <a:xfrm>
            <a:off x="8065008" y="1463040"/>
            <a:ext cx="3557016" cy="3566160"/>
          </a:xfrm>
          <a:prstGeom prst="roundRect">
            <a:avLst>
              <a:gd name="adj" fmla="val 3085"/>
            </a:avLst>
          </a:prstGeom>
          <a:solidFill>
            <a:schemeClr val="tx2"/>
          </a:solidFill>
          <a:ln w="15875">
            <a:solidFill>
              <a:srgbClr val="2A3449"/>
            </a:solidFill>
            <a:prstDash val="solid"/>
          </a:ln>
        </p:spPr>
      </p:sp>
      <p:sp>
        <p:nvSpPr>
          <p:cNvPr id="11" name="Lesson 3 title"/>
          <p:cNvSpPr txBox="1"/>
          <p:nvPr/>
        </p:nvSpPr>
        <p:spPr>
          <a:xfrm>
            <a:off x="8339328" y="1691640"/>
            <a:ext cx="3017520" cy="457200"/>
          </a:xfrm>
          <a:prstGeom prst="rect">
            <a:avLst/>
          </a:prstGeom>
          <a:noFill/>
          <a:ln/>
        </p:spPr>
        <p:txBody>
          <a:bodyPr wrap="square" lIns="0" tIns="0" rIns="0" bIns="0" rtlCol="0" anchor="t"/>
          <a:lstStyle/>
          <a:p>
            <a:pPr indent="0" marL="0">
              <a:lnSpc>
                <a:spcPct val="100000"/>
              </a:lnSpc>
              <a:buNone/>
            </a:pPr>
            <a:r>
              <a:rPr lang="en-US" sz="2100" b="1" dirty="0">
                <a:solidFill>
                  <a:schemeClr val="accent3"/>
                </a:solidFill>
              </a:rPr>
              <a:t>Find the real culprit</a:t>
            </a:r>
            <a:endParaRPr lang="en-US" sz="2100" dirty="0"/>
          </a:p>
        </p:txBody>
      </p:sp>
      <p:sp>
        <p:nvSpPr>
          <p:cNvPr id="12" name="Lesson 3 story"/>
          <p:cNvSpPr txBox="1"/>
          <p:nvPr/>
        </p:nvSpPr>
        <p:spPr>
          <a:xfrm>
            <a:off x="8339328" y="2286000"/>
            <a:ext cx="3017520" cy="1828800"/>
          </a:xfrm>
          <a:prstGeom prst="rect">
            <a:avLst/>
          </a:prstGeom>
          <a:noFill/>
          <a:ln/>
        </p:spPr>
        <p:txBody>
          <a:bodyPr wrap="square" lIns="0" tIns="0" rIns="0" bIns="0" rtlCol="0" anchor="t"/>
          <a:lstStyle/>
          <a:p>
            <a:pPr indent="0" marL="0">
              <a:lnSpc>
                <a:spcPct val="120000"/>
              </a:lnSpc>
              <a:buNone/>
            </a:pPr>
            <a:r>
              <a:rPr lang="en-US" sz="1600" dirty="0">
                <a:solidFill>
                  <a:schemeClr val="accent5"/>
                </a:solidFill>
              </a:rPr>
              <a:t>A few dropped requests turned out to be the laptop's Docker networking, not the shop itself.</a:t>
            </a:r>
            <a:endParaRPr lang="en-US" sz="1600" dirty="0"/>
          </a:p>
        </p:txBody>
      </p:sp>
      <p:sp>
        <p:nvSpPr>
          <p:cNvPr id="25" name="Slide Number Placeholder 0"/>
          <p:cNvSpPr>
            <a:spLocks noGrp="1"/>
          </p:cNvSpPr>
          <p:nvPr>
            <p:ph type="sldNum" sz="quarter" idx="4294967295"/>
          </p:nvPr>
        </p:nvSpPr>
        <p:spPr>
          <a:xfrm>
            <a:off x="10972800" y="6400800"/>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1672" cy="731520"/>
          </a:xfrm>
          <a:prstGeom prst="rect">
            <a:avLst/>
          </a:prstGeom>
          <a:noFill/>
          <a:ln/>
        </p:spPr>
        <p:txBody>
          <a:bodyPr wrap="square" lIns="0" tIns="0" rIns="0" bIns="0" rtlCol="0" anchor="t"/>
          <a:lstStyle/>
          <a:p>
            <a:pPr algn="l" indent="0" marL="0">
              <a:buNone/>
            </a:pPr>
            <a:r>
              <a:rPr lang="en-US" sz="3400" b="1" dirty="0">
                <a:solidFill>
                  <a:schemeClr val="bg2"/>
                </a:solidFill>
              </a:rPr>
              <a:t>What's next</a:t>
            </a:r>
            <a:endParaRPr lang="en-US" sz="3400" dirty="0"/>
          </a:p>
        </p:txBody>
      </p:sp>
      <p:sp>
        <p:nvSpPr>
          <p:cNvPr id="3" name="Next 1 dot"/>
          <p:cNvSpPr/>
          <p:nvPr/>
        </p:nvSpPr>
        <p:spPr>
          <a:xfrm>
            <a:off x="548640" y="1554480"/>
            <a:ext cx="502920" cy="502920"/>
          </a:xfrm>
          <a:prstGeom prst="ellipse">
            <a:avLst/>
          </a:prstGeom>
          <a:solidFill>
            <a:schemeClr val="tx2"/>
          </a:solidFill>
          <a:ln w="25400">
            <a:solidFill>
              <a:schemeClr val="accent3"/>
            </a:solidFill>
            <a:prstDash val="solid"/>
          </a:ln>
        </p:spPr>
      </p:sp>
      <p:sp>
        <p:nvSpPr>
          <p:cNvPr id="4" name="Next 1 number"/>
          <p:cNvSpPr txBox="1"/>
          <p:nvPr/>
        </p:nvSpPr>
        <p:spPr>
          <a:xfrm>
            <a:off x="548640" y="1627632"/>
            <a:ext cx="502920" cy="365760"/>
          </a:xfrm>
          <a:prstGeom prst="rect">
            <a:avLst/>
          </a:prstGeom>
          <a:noFill/>
          <a:ln/>
        </p:spPr>
        <p:txBody>
          <a:bodyPr wrap="square" lIns="0" tIns="0" rIns="0" bIns="0" rtlCol="0" anchor="t"/>
          <a:lstStyle/>
          <a:p>
            <a:pPr algn="ctr" indent="0" marL="0">
              <a:lnSpc>
                <a:spcPct val="100000"/>
              </a:lnSpc>
              <a:buNone/>
            </a:pPr>
            <a:r>
              <a:rPr lang="en-US" sz="1800" b="1" dirty="0">
                <a:solidFill>
                  <a:schemeClr val="bg2"/>
                </a:solidFill>
              </a:rPr>
              <a:t>1</a:t>
            </a:r>
            <a:endParaRPr lang="en-US" sz="1800" dirty="0"/>
          </a:p>
        </p:txBody>
      </p:sp>
      <p:sp>
        <p:nvSpPr>
          <p:cNvPr id="5" name="Next 1 title"/>
          <p:cNvSpPr txBox="1"/>
          <p:nvPr/>
        </p:nvSpPr>
        <p:spPr>
          <a:xfrm>
            <a:off x="1325880" y="1508760"/>
            <a:ext cx="9966960" cy="411480"/>
          </a:xfrm>
          <a:prstGeom prst="rect">
            <a:avLst/>
          </a:prstGeom>
          <a:noFill/>
          <a:ln/>
        </p:spPr>
        <p:txBody>
          <a:bodyPr wrap="square" lIns="0" tIns="0" rIns="0" bIns="0" rtlCol="0" anchor="t"/>
          <a:lstStyle/>
          <a:p>
            <a:pPr indent="0" marL="0">
              <a:lnSpc>
                <a:spcPct val="100000"/>
              </a:lnSpc>
              <a:buNone/>
            </a:pPr>
            <a:r>
              <a:rPr lang="en-US" sz="2100" b="1" dirty="0">
                <a:solidFill>
                  <a:schemeClr val="bg2"/>
                </a:solidFill>
              </a:rPr>
              <a:t>Even faster drops</a:t>
            </a:r>
            <a:endParaRPr lang="en-US" sz="2100" dirty="0"/>
          </a:p>
        </p:txBody>
      </p:sp>
      <p:sp>
        <p:nvSpPr>
          <p:cNvPr id="6" name="Next 1 story"/>
          <p:cNvSpPr txBox="1"/>
          <p:nvPr/>
        </p:nvSpPr>
        <p:spPr>
          <a:xfrm>
            <a:off x="1325880" y="1965960"/>
            <a:ext cx="9966960" cy="457200"/>
          </a:xfrm>
          <a:prstGeom prst="rect">
            <a:avLst/>
          </a:prstGeom>
          <a:noFill/>
          <a:ln/>
        </p:spPr>
        <p:txBody>
          <a:bodyPr wrap="square" lIns="0" tIns="0" rIns="0" bIns="0" rtlCol="0" anchor="t"/>
          <a:lstStyle/>
          <a:p>
            <a:pPr indent="0" marL="0">
              <a:lnSpc>
                <a:spcPct val="120000"/>
              </a:lnSpc>
              <a:buNone/>
            </a:pPr>
            <a:r>
              <a:rPr lang="en-US" sz="1700" dirty="0">
                <a:solidFill>
                  <a:schemeClr val="accent5"/>
                </a:solidFill>
              </a:rPr>
              <a:t>Make the busiest moment shorter by doing less while a pair is being taken.</a:t>
            </a:r>
            <a:endParaRPr lang="en-US" sz="1700" dirty="0"/>
          </a:p>
        </p:txBody>
      </p:sp>
      <p:sp>
        <p:nvSpPr>
          <p:cNvPr id="7" name="Next 2 dot"/>
          <p:cNvSpPr/>
          <p:nvPr/>
        </p:nvSpPr>
        <p:spPr>
          <a:xfrm>
            <a:off x="548640" y="2926080"/>
            <a:ext cx="502920" cy="502920"/>
          </a:xfrm>
          <a:prstGeom prst="ellipse">
            <a:avLst/>
          </a:prstGeom>
          <a:solidFill>
            <a:schemeClr val="tx2"/>
          </a:solidFill>
          <a:ln w="25400">
            <a:solidFill>
              <a:schemeClr val="accent3"/>
            </a:solidFill>
            <a:prstDash val="solid"/>
          </a:ln>
        </p:spPr>
      </p:sp>
      <p:sp>
        <p:nvSpPr>
          <p:cNvPr id="8" name="Next 2 number"/>
          <p:cNvSpPr txBox="1"/>
          <p:nvPr/>
        </p:nvSpPr>
        <p:spPr>
          <a:xfrm>
            <a:off x="548640" y="2999232"/>
            <a:ext cx="502920" cy="365760"/>
          </a:xfrm>
          <a:prstGeom prst="rect">
            <a:avLst/>
          </a:prstGeom>
          <a:noFill/>
          <a:ln/>
        </p:spPr>
        <p:txBody>
          <a:bodyPr wrap="square" lIns="0" tIns="0" rIns="0" bIns="0" rtlCol="0" anchor="t"/>
          <a:lstStyle/>
          <a:p>
            <a:pPr algn="ctr" indent="0" marL="0">
              <a:lnSpc>
                <a:spcPct val="100000"/>
              </a:lnSpc>
              <a:buNone/>
            </a:pPr>
            <a:r>
              <a:rPr lang="en-US" sz="1800" b="1" dirty="0">
                <a:solidFill>
                  <a:schemeClr val="bg2"/>
                </a:solidFill>
              </a:rPr>
              <a:t>2</a:t>
            </a:r>
            <a:endParaRPr lang="en-US" sz="1800" dirty="0"/>
          </a:p>
        </p:txBody>
      </p:sp>
      <p:sp>
        <p:nvSpPr>
          <p:cNvPr id="9" name="Next 2 title"/>
          <p:cNvSpPr txBox="1"/>
          <p:nvPr/>
        </p:nvSpPr>
        <p:spPr>
          <a:xfrm>
            <a:off x="1325880" y="2880360"/>
            <a:ext cx="9966960" cy="411480"/>
          </a:xfrm>
          <a:prstGeom prst="rect">
            <a:avLst/>
          </a:prstGeom>
          <a:noFill/>
          <a:ln/>
        </p:spPr>
        <p:txBody>
          <a:bodyPr wrap="square" lIns="0" tIns="0" rIns="0" bIns="0" rtlCol="0" anchor="t"/>
          <a:lstStyle/>
          <a:p>
            <a:pPr indent="0" marL="0">
              <a:lnSpc>
                <a:spcPct val="100000"/>
              </a:lnSpc>
              <a:buNone/>
            </a:pPr>
            <a:r>
              <a:rPr lang="en-US" sz="2100" b="1" dirty="0">
                <a:solidFill>
                  <a:schemeClr val="bg2"/>
                </a:solidFill>
              </a:rPr>
              <a:t>A page for shop owners</a:t>
            </a:r>
            <a:endParaRPr lang="en-US" sz="2100" dirty="0"/>
          </a:p>
        </p:txBody>
      </p:sp>
      <p:sp>
        <p:nvSpPr>
          <p:cNvPr id="10" name="Next 2 story"/>
          <p:cNvSpPr txBox="1"/>
          <p:nvPr/>
        </p:nvSpPr>
        <p:spPr>
          <a:xfrm>
            <a:off x="1325880" y="3337560"/>
            <a:ext cx="9966960" cy="457200"/>
          </a:xfrm>
          <a:prstGeom prst="rect">
            <a:avLst/>
          </a:prstGeom>
          <a:noFill/>
          <a:ln/>
        </p:spPr>
        <p:txBody>
          <a:bodyPr wrap="square" lIns="0" tIns="0" rIns="0" bIns="0" rtlCol="0" anchor="t"/>
          <a:lstStyle/>
          <a:p>
            <a:pPr indent="0" marL="0">
              <a:lnSpc>
                <a:spcPct val="120000"/>
              </a:lnSpc>
              <a:buNone/>
            </a:pPr>
            <a:r>
              <a:rPr lang="en-US" sz="1700" dirty="0">
                <a:solidFill>
                  <a:schemeClr val="accent5"/>
                </a:solidFill>
              </a:rPr>
              <a:t>Let Maya add products and keys herself instead of asking a developer.</a:t>
            </a:r>
            <a:endParaRPr lang="en-US" sz="1700" dirty="0"/>
          </a:p>
        </p:txBody>
      </p:sp>
      <p:sp>
        <p:nvSpPr>
          <p:cNvPr id="11" name="Next 3 dot"/>
          <p:cNvSpPr/>
          <p:nvPr/>
        </p:nvSpPr>
        <p:spPr>
          <a:xfrm>
            <a:off x="548640" y="4297680"/>
            <a:ext cx="502920" cy="502920"/>
          </a:xfrm>
          <a:prstGeom prst="ellipse">
            <a:avLst/>
          </a:prstGeom>
          <a:solidFill>
            <a:schemeClr val="tx2"/>
          </a:solidFill>
          <a:ln w="25400">
            <a:solidFill>
              <a:schemeClr val="accent3"/>
            </a:solidFill>
            <a:prstDash val="solid"/>
          </a:ln>
        </p:spPr>
      </p:sp>
      <p:sp>
        <p:nvSpPr>
          <p:cNvPr id="12" name="Next 3 number"/>
          <p:cNvSpPr txBox="1"/>
          <p:nvPr/>
        </p:nvSpPr>
        <p:spPr>
          <a:xfrm>
            <a:off x="548640" y="4370832"/>
            <a:ext cx="502920" cy="365760"/>
          </a:xfrm>
          <a:prstGeom prst="rect">
            <a:avLst/>
          </a:prstGeom>
          <a:noFill/>
          <a:ln/>
        </p:spPr>
        <p:txBody>
          <a:bodyPr wrap="square" lIns="0" tIns="0" rIns="0" bIns="0" rtlCol="0" anchor="t"/>
          <a:lstStyle/>
          <a:p>
            <a:pPr algn="ctr" indent="0" marL="0">
              <a:lnSpc>
                <a:spcPct val="100000"/>
              </a:lnSpc>
              <a:buNone/>
            </a:pPr>
            <a:r>
              <a:rPr lang="en-US" sz="1800" b="1" dirty="0">
                <a:solidFill>
                  <a:schemeClr val="bg2"/>
                </a:solidFill>
              </a:rPr>
              <a:t>3</a:t>
            </a:r>
            <a:endParaRPr lang="en-US" sz="1800" dirty="0"/>
          </a:p>
        </p:txBody>
      </p:sp>
      <p:sp>
        <p:nvSpPr>
          <p:cNvPr id="13" name="Next 3 title"/>
          <p:cNvSpPr txBox="1"/>
          <p:nvPr/>
        </p:nvSpPr>
        <p:spPr>
          <a:xfrm>
            <a:off x="1325880" y="4251960"/>
            <a:ext cx="9966960" cy="411480"/>
          </a:xfrm>
          <a:prstGeom prst="rect">
            <a:avLst/>
          </a:prstGeom>
          <a:noFill/>
          <a:ln/>
        </p:spPr>
        <p:txBody>
          <a:bodyPr wrap="square" lIns="0" tIns="0" rIns="0" bIns="0" rtlCol="0" anchor="t"/>
          <a:lstStyle/>
          <a:p>
            <a:pPr indent="0" marL="0">
              <a:lnSpc>
                <a:spcPct val="100000"/>
              </a:lnSpc>
              <a:buNone/>
            </a:pPr>
            <a:r>
              <a:rPr lang="en-US" sz="2100" b="1" dirty="0">
                <a:solidFill>
                  <a:schemeClr val="bg2"/>
                </a:solidFill>
              </a:rPr>
              <a:t>Many drops at once</a:t>
            </a:r>
            <a:endParaRPr lang="en-US" sz="2100" dirty="0"/>
          </a:p>
        </p:txBody>
      </p:sp>
      <p:sp>
        <p:nvSpPr>
          <p:cNvPr id="14" name="Next 3 story"/>
          <p:cNvSpPr txBox="1"/>
          <p:nvPr/>
        </p:nvSpPr>
        <p:spPr>
          <a:xfrm>
            <a:off x="1325880" y="4709160"/>
            <a:ext cx="9966960" cy="457200"/>
          </a:xfrm>
          <a:prstGeom prst="rect">
            <a:avLst/>
          </a:prstGeom>
          <a:noFill/>
          <a:ln/>
        </p:spPr>
        <p:txBody>
          <a:bodyPr wrap="square" lIns="0" tIns="0" rIns="0" bIns="0" rtlCol="0" anchor="t"/>
          <a:lstStyle/>
          <a:p>
            <a:pPr indent="0" marL="0">
              <a:lnSpc>
                <a:spcPct val="120000"/>
              </a:lnSpc>
              <a:buNone/>
            </a:pPr>
            <a:r>
              <a:rPr lang="en-US" sz="1700" dirty="0">
                <a:solidFill>
                  <a:schemeClr val="accent5"/>
                </a:solidFill>
              </a:rPr>
              <a:t>Measure a whole catalogue of products selling at the same time.</a:t>
            </a:r>
            <a:endParaRPr lang="en-US" sz="1700" dirty="0"/>
          </a:p>
        </p:txBody>
      </p:sp>
      <p:sp>
        <p:nvSpPr>
          <p:cNvPr id="25" name="Slide Number Placeholder 0"/>
          <p:cNvSpPr>
            <a:spLocks noGrp="1"/>
          </p:cNvSpPr>
          <p:nvPr>
            <p:ph type="sldNum" sz="quarter" idx="4294967295"/>
          </p:nvPr>
        </p:nvSpPr>
        <p:spPr>
          <a:xfrm>
            <a:off x="10972800" y="6400800"/>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Ending"/>
          <p:cNvSpPr txBox="1"/>
          <p:nvPr/>
        </p:nvSpPr>
        <p:spPr>
          <a:xfrm>
            <a:off x="548640" y="1737360"/>
            <a:ext cx="11091672" cy="1280160"/>
          </a:xfrm>
          <a:prstGeom prst="rect">
            <a:avLst/>
          </a:prstGeom>
          <a:noFill/>
          <a:ln/>
        </p:spPr>
        <p:txBody>
          <a:bodyPr wrap="square" lIns="0" tIns="0" rIns="0" bIns="0" rtlCol="0" anchor="b"/>
          <a:lstStyle/>
          <a:p>
            <a:pPr indent="0" marL="0">
              <a:lnSpc>
                <a:spcPct val="100000"/>
              </a:lnSpc>
              <a:buNone/>
            </a:pPr>
            <a:r>
              <a:rPr lang="en-US" sz="5000" b="1" dirty="0">
                <a:solidFill>
                  <a:schemeClr val="tx1"/>
                </a:solidFill>
              </a:rPr>
              <a:t>Maya sleeps well on drop day.</a:t>
            </a:r>
            <a:endParaRPr lang="en-US" sz="5000" dirty="0"/>
          </a:p>
        </p:txBody>
      </p:sp>
      <p:sp>
        <p:nvSpPr>
          <p:cNvPr id="3" name="Ending line"/>
          <p:cNvSpPr txBox="1"/>
          <p:nvPr/>
        </p:nvSpPr>
        <p:spPr>
          <a:xfrm>
            <a:off x="548640" y="3291840"/>
            <a:ext cx="10515600" cy="1280160"/>
          </a:xfrm>
          <a:prstGeom prst="rect">
            <a:avLst/>
          </a:prstGeom>
          <a:noFill/>
          <a:ln/>
        </p:spPr>
        <p:txBody>
          <a:bodyPr wrap="square" lIns="0" tIns="0" rIns="0" bIns="0" rtlCol="0" anchor="t"/>
          <a:lstStyle/>
          <a:p>
            <a:pPr indent="0" marL="0">
              <a:lnSpc>
                <a:spcPct val="120000"/>
              </a:lnSpc>
              <a:buNone/>
            </a:pPr>
            <a:r>
              <a:rPr lang="en-US" sz="2200" dirty="0">
                <a:solidFill>
                  <a:srgbClr val="3A4558"/>
                </a:solidFill>
              </a:rPr>
              <a:t>ReserveCore holds stock during checkout and never sells what it doesn't have: not in a rush, not on a double tap, not when carts are abandoned, and not when the power goes out.</a:t>
            </a:r>
            <a:endParaRPr lang="en-US" sz="2200" dirty="0"/>
          </a:p>
        </p:txBody>
      </p:sp>
      <p:sp>
        <p:nvSpPr>
          <p:cNvPr id="25" name="Slide Number Placeholder 0"/>
          <p:cNvSpPr>
            <a:spLocks noGrp="1"/>
          </p:cNvSpPr>
          <p:nvPr>
            <p:ph type="sldNum" sz="quarter" idx="4294967295"/>
          </p:nvPr>
        </p:nvSpPr>
        <p:spPr>
          <a:xfrm>
            <a:off x="10972800" y="6400800"/>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A6476"/>
                </a:solidFill>
              </a:defRPr>
            </a:lvl1pPr>
          </a:lstStyle>
          <a:p>
            <a:pPr algn="r"/>
            <a:fld id="{F7021451-1387-4CA6-816F-3879F97B5CBC}" type="slidenum">
              <a:rPr b="0" lang="en-US"/>
              <a:t>14</a:t>
            </a:fld>
            <a:endParaRPr lang="en-US"/>
          </a:p>
        </p:txBody>
      </p:sp>
    </p:spTree>
  </p:cSld>
  <p:clrMapOvr>
    <a:masterClrMapping/>
  </p:clrMapOvr>
</p:sld>
</file>

<file path=ppt/theme/theme1.xml><?xml version="1.0" encoding="utf-8"?>
<a:theme xmlns:a="http://schemas.openxmlformats.org/drawingml/2006/main" name="ReserveCore Story">
  <a:themeElements>
    <a:clrScheme name="ReserveCore Story">
      <a:dk1>
        <a:srgbClr val="0E1320"/>
      </a:dk1>
      <a:lt1>
        <a:srgbClr val="F2F4F8"/>
      </a:lt1>
      <a:dk2>
        <a:srgbClr val="161D2E"/>
      </a:dk2>
      <a:lt2>
        <a:srgbClr val="E8ECF2"/>
      </a:lt2>
      <a:accent1>
        <a:srgbClr val="3DDC97"/>
      </a:accent1>
      <a:accent2>
        <a:srgbClr val="FFB547"/>
      </a:accent2>
      <a:accent3>
        <a:srgbClr val="6CA8FF"/>
      </a:accent3>
      <a:accent4>
        <a:srgbClr val="FF6B6B"/>
      </a:accent4>
      <a:accent5>
        <a:srgbClr val="B5BDCC"/>
      </a:accent5>
      <a:accent6>
        <a:srgbClr val="8A93A6"/>
      </a:accent6>
      <a:hlink>
        <a:srgbClr val="6CA8FF"/>
      </a:hlink>
      <a:folHlink>
        <a:srgbClr val="B5BDCC"/>
      </a:folHlink>
    </a:clrScheme>
    <a:fontScheme name="ReserveCore Story">
      <a:majorFont>
        <a:latin typeface="IBM Plex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ReserveCore: a story about limited stock</dc:title>
  <dc:subject>PptxGenJS Presentation</dc:subject>
  <dc:creator>PptxGenJS</dc:creator>
  <cp:lastModifiedBy>PptxGenJS</cp:lastModifiedBy>
  <cp:revision>1</cp:revision>
  <dcterms:created xsi:type="dcterms:W3CDTF">2026-10-12T17:48:52Z</dcterms:created>
  <dcterms:modified xsi:type="dcterms:W3CDTF">2026-10-12T17:48:52Z</dcterms:modified>
</cp:coreProperties>
</file>